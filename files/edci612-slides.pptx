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62" r:id="rId4"/>
    <p:sldId id="258" r:id="rId5"/>
    <p:sldId id="259" r:id="rId6"/>
    <p:sldId id="260" r:id="rId7"/>
    <p:sldId id="261" r:id="rId8"/>
    <p:sldId id="273" r:id="rId9"/>
    <p:sldId id="274" r:id="rId10"/>
    <p:sldId id="275" r:id="rId11"/>
    <p:sldId id="276" r:id="rId12"/>
    <p:sldId id="277" r:id="rId13"/>
    <p:sldId id="278" r:id="rId14"/>
    <p:sldId id="279" r:id="rId15"/>
    <p:sldId id="280" r:id="rId16"/>
    <p:sldId id="281" r:id="rId17"/>
    <p:sldId id="266" r:id="rId18"/>
    <p:sldId id="267" r:id="rId19"/>
    <p:sldId id="282" r:id="rId20"/>
    <p:sldId id="283" r:id="rId21"/>
    <p:sldId id="284" r:id="rId22"/>
    <p:sldId id="285" r:id="rId23"/>
    <p:sldId id="286" r:id="rId24"/>
    <p:sldId id="287" r:id="rId25"/>
    <p:sldId id="288" r:id="rId26"/>
    <p:sldId id="269" r:id="rId27"/>
    <p:sldId id="272" r:id="rId28"/>
    <p:sldId id="270" r:id="rId29"/>
    <p:sldId id="271" r:id="rId30"/>
    <p:sldId id="268" r:id="rId31"/>
    <p:sldId id="263" r:id="rId32"/>
    <p:sldId id="26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C9956F-2BDE-47F5-8DAD-1248E4B4A5C6}" v="235" dt="2026-02-24T20:38:05.918"/>
    <p1510:client id="{947591CD-04B9-4DA9-8A87-D217E3730CA5}" v="141" dt="2026-02-25T17:51:19.580"/>
    <p1510:client id="{A6BF9F6F-A0D7-4DDB-B1CD-A703246ABFE3}" v="21" dt="2026-02-25T17:53:11.427"/>
    <p1510:client id="{C144C5C4-F97D-4B90-9CFD-95DA49667C8C}" v="18" dt="2026-02-25T17:51:56.7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72078" autoAdjust="0"/>
  </p:normalViewPr>
  <p:slideViewPr>
    <p:cSldViewPr snapToGrid="0">
      <p:cViewPr varScale="1">
        <p:scale>
          <a:sx n="40" d="100"/>
          <a:sy n="40" d="100"/>
        </p:scale>
        <p:origin x="65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le Li" userId="FZPYutxvfauDbVX0nyYsuU0pd39MexSvE3fRM8e95R0=" providerId="None" clId="Web-{A6BF9F6F-A0D7-4DDB-B1CD-A703246ABFE3}"/>
    <pc:docChg chg="addSld modSld">
      <pc:chgData name="Belle Li" userId="FZPYutxvfauDbVX0nyYsuU0pd39MexSvE3fRM8e95R0=" providerId="None" clId="Web-{A6BF9F6F-A0D7-4DDB-B1CD-A703246ABFE3}" dt="2026-02-25T17:53:11.427" v="20"/>
      <pc:docMkLst>
        <pc:docMk/>
      </pc:docMkLst>
      <pc:sldChg chg="modSp">
        <pc:chgData name="Belle Li" userId="FZPYutxvfauDbVX0nyYsuU0pd39MexSvE3fRM8e95R0=" providerId="None" clId="Web-{A6BF9F6F-A0D7-4DDB-B1CD-A703246ABFE3}" dt="2026-02-25T17:53:11.427" v="20"/>
        <pc:sldMkLst>
          <pc:docMk/>
          <pc:sldMk cId="109857222" sldId="256"/>
        </pc:sldMkLst>
        <pc:spChg chg="mod">
          <ac:chgData name="Belle Li" userId="FZPYutxvfauDbVX0nyYsuU0pd39MexSvE3fRM8e95R0=" providerId="None" clId="Web-{A6BF9F6F-A0D7-4DDB-B1CD-A703246ABFE3}" dt="2026-02-25T17:53:11.427" v="20"/>
          <ac:spMkLst>
            <pc:docMk/>
            <pc:sldMk cId="109857222" sldId="256"/>
            <ac:spMk id="21" creationId="{5EB7D2A2-F448-44D4-938C-DC84CBCB3B1E}"/>
          </ac:spMkLst>
        </pc:spChg>
      </pc:sldChg>
      <pc:sldChg chg="add">
        <pc:chgData name="Belle Li" userId="FZPYutxvfauDbVX0nyYsuU0pd39MexSvE3fRM8e95R0=" providerId="None" clId="Web-{A6BF9F6F-A0D7-4DDB-B1CD-A703246ABFE3}" dt="2026-02-25T17:50:49.051" v="9"/>
        <pc:sldMkLst>
          <pc:docMk/>
          <pc:sldMk cId="0" sldId="266"/>
        </pc:sldMkLst>
      </pc:sldChg>
      <pc:sldChg chg="add">
        <pc:chgData name="Belle Li" userId="FZPYutxvfauDbVX0nyYsuU0pd39MexSvE3fRM8e95R0=" providerId="None" clId="Web-{A6BF9F6F-A0D7-4DDB-B1CD-A703246ABFE3}" dt="2026-02-25T17:50:49.269" v="10"/>
        <pc:sldMkLst>
          <pc:docMk/>
          <pc:sldMk cId="0" sldId="267"/>
        </pc:sldMkLst>
      </pc:sldChg>
      <pc:sldChg chg="add">
        <pc:chgData name="Belle Li" userId="FZPYutxvfauDbVX0nyYsuU0pd39MexSvE3fRM8e95R0=" providerId="None" clId="Web-{A6BF9F6F-A0D7-4DDB-B1CD-A703246ABFE3}" dt="2026-02-25T17:50:46.957" v="0"/>
        <pc:sldMkLst>
          <pc:docMk/>
          <pc:sldMk cId="3672796757" sldId="273"/>
        </pc:sldMkLst>
      </pc:sldChg>
      <pc:sldChg chg="add">
        <pc:chgData name="Belle Li" userId="FZPYutxvfauDbVX0nyYsuU0pd39MexSvE3fRM8e95R0=" providerId="None" clId="Web-{A6BF9F6F-A0D7-4DDB-B1CD-A703246ABFE3}" dt="2026-02-25T17:50:47.269" v="1"/>
        <pc:sldMkLst>
          <pc:docMk/>
          <pc:sldMk cId="2723989724" sldId="274"/>
        </pc:sldMkLst>
      </pc:sldChg>
      <pc:sldChg chg="add">
        <pc:chgData name="Belle Li" userId="FZPYutxvfauDbVX0nyYsuU0pd39MexSvE3fRM8e95R0=" providerId="None" clId="Web-{A6BF9F6F-A0D7-4DDB-B1CD-A703246ABFE3}" dt="2026-02-25T17:50:47.426" v="2"/>
        <pc:sldMkLst>
          <pc:docMk/>
          <pc:sldMk cId="1473533397" sldId="275"/>
        </pc:sldMkLst>
      </pc:sldChg>
      <pc:sldChg chg="add">
        <pc:chgData name="Belle Li" userId="FZPYutxvfauDbVX0nyYsuU0pd39MexSvE3fRM8e95R0=" providerId="None" clId="Web-{A6BF9F6F-A0D7-4DDB-B1CD-A703246ABFE3}" dt="2026-02-25T17:50:47.722" v="3"/>
        <pc:sldMkLst>
          <pc:docMk/>
          <pc:sldMk cId="1118091604" sldId="276"/>
        </pc:sldMkLst>
      </pc:sldChg>
      <pc:sldChg chg="add">
        <pc:chgData name="Belle Li" userId="FZPYutxvfauDbVX0nyYsuU0pd39MexSvE3fRM8e95R0=" providerId="None" clId="Web-{A6BF9F6F-A0D7-4DDB-B1CD-A703246ABFE3}" dt="2026-02-25T17:50:47.988" v="4"/>
        <pc:sldMkLst>
          <pc:docMk/>
          <pc:sldMk cId="1345684043" sldId="277"/>
        </pc:sldMkLst>
      </pc:sldChg>
      <pc:sldChg chg="add">
        <pc:chgData name="Belle Li" userId="FZPYutxvfauDbVX0nyYsuU0pd39MexSvE3fRM8e95R0=" providerId="None" clId="Web-{A6BF9F6F-A0D7-4DDB-B1CD-A703246ABFE3}" dt="2026-02-25T17:50:48.207" v="5"/>
        <pc:sldMkLst>
          <pc:docMk/>
          <pc:sldMk cId="2988287141" sldId="278"/>
        </pc:sldMkLst>
      </pc:sldChg>
      <pc:sldChg chg="add">
        <pc:chgData name="Belle Li" userId="FZPYutxvfauDbVX0nyYsuU0pd39MexSvE3fRM8e95R0=" providerId="None" clId="Web-{A6BF9F6F-A0D7-4DDB-B1CD-A703246ABFE3}" dt="2026-02-25T17:50:48.426" v="6"/>
        <pc:sldMkLst>
          <pc:docMk/>
          <pc:sldMk cId="2022681947" sldId="279"/>
        </pc:sldMkLst>
      </pc:sldChg>
      <pc:sldChg chg="add">
        <pc:chgData name="Belle Li" userId="FZPYutxvfauDbVX0nyYsuU0pd39MexSvE3fRM8e95R0=" providerId="None" clId="Web-{A6BF9F6F-A0D7-4DDB-B1CD-A703246ABFE3}" dt="2026-02-25T17:50:48.566" v="7"/>
        <pc:sldMkLst>
          <pc:docMk/>
          <pc:sldMk cId="924928738" sldId="280"/>
        </pc:sldMkLst>
      </pc:sldChg>
      <pc:sldChg chg="add">
        <pc:chgData name="Belle Li" userId="FZPYutxvfauDbVX0nyYsuU0pd39MexSvE3fRM8e95R0=" providerId="None" clId="Web-{A6BF9F6F-A0D7-4DDB-B1CD-A703246ABFE3}" dt="2026-02-25T17:50:48.801" v="8"/>
        <pc:sldMkLst>
          <pc:docMk/>
          <pc:sldMk cId="976930805" sldId="281"/>
        </pc:sldMkLst>
      </pc:sldChg>
      <pc:sldChg chg="add">
        <pc:chgData name="Belle Li" userId="FZPYutxvfauDbVX0nyYsuU0pd39MexSvE3fRM8e95R0=" providerId="None" clId="Web-{A6BF9F6F-A0D7-4DDB-B1CD-A703246ABFE3}" dt="2026-02-25T17:50:49.488" v="11"/>
        <pc:sldMkLst>
          <pc:docMk/>
          <pc:sldMk cId="385379602" sldId="282"/>
        </pc:sldMkLst>
      </pc:sldChg>
      <pc:sldChg chg="add">
        <pc:chgData name="Belle Li" userId="FZPYutxvfauDbVX0nyYsuU0pd39MexSvE3fRM8e95R0=" providerId="None" clId="Web-{A6BF9F6F-A0D7-4DDB-B1CD-A703246ABFE3}" dt="2026-02-25T17:50:49.676" v="12"/>
        <pc:sldMkLst>
          <pc:docMk/>
          <pc:sldMk cId="882589192" sldId="283"/>
        </pc:sldMkLst>
      </pc:sldChg>
      <pc:sldChg chg="add">
        <pc:chgData name="Belle Li" userId="FZPYutxvfauDbVX0nyYsuU0pd39MexSvE3fRM8e95R0=" providerId="None" clId="Web-{A6BF9F6F-A0D7-4DDB-B1CD-A703246ABFE3}" dt="2026-02-25T17:50:49.972" v="13"/>
        <pc:sldMkLst>
          <pc:docMk/>
          <pc:sldMk cId="2625335426" sldId="284"/>
        </pc:sldMkLst>
      </pc:sldChg>
      <pc:sldChg chg="add">
        <pc:chgData name="Belle Li" userId="FZPYutxvfauDbVX0nyYsuU0pd39MexSvE3fRM8e95R0=" providerId="None" clId="Web-{A6BF9F6F-A0D7-4DDB-B1CD-A703246ABFE3}" dt="2026-02-25T17:50:50.254" v="14"/>
        <pc:sldMkLst>
          <pc:docMk/>
          <pc:sldMk cId="2708627115" sldId="285"/>
        </pc:sldMkLst>
      </pc:sldChg>
      <pc:sldChg chg="add">
        <pc:chgData name="Belle Li" userId="FZPYutxvfauDbVX0nyYsuU0pd39MexSvE3fRM8e95R0=" providerId="None" clId="Web-{A6BF9F6F-A0D7-4DDB-B1CD-A703246ABFE3}" dt="2026-02-25T17:50:50.488" v="15"/>
        <pc:sldMkLst>
          <pc:docMk/>
          <pc:sldMk cId="1407687690" sldId="286"/>
        </pc:sldMkLst>
      </pc:sldChg>
      <pc:sldChg chg="add">
        <pc:chgData name="Belle Li" userId="FZPYutxvfauDbVX0nyYsuU0pd39MexSvE3fRM8e95R0=" providerId="None" clId="Web-{A6BF9F6F-A0D7-4DDB-B1CD-A703246ABFE3}" dt="2026-02-25T17:50:50.801" v="16"/>
        <pc:sldMkLst>
          <pc:docMk/>
          <pc:sldMk cId="2528550583" sldId="287"/>
        </pc:sldMkLst>
      </pc:sldChg>
      <pc:sldChg chg="add mod modShow">
        <pc:chgData name="Belle Li" userId="FZPYutxvfauDbVX0nyYsuU0pd39MexSvE3fRM8e95R0=" providerId="None" clId="Web-{A6BF9F6F-A0D7-4DDB-B1CD-A703246ABFE3}" dt="2026-02-25T17:51:47.707" v="18"/>
        <pc:sldMkLst>
          <pc:docMk/>
          <pc:sldMk cId="3639301830" sldId="288"/>
        </pc:sldMkLst>
      </pc:sldChg>
    </pc:docChg>
  </pc:docChgLst>
  <pc:docChgLst>
    <pc:chgData name="Victoria L Lowell" userId="ZNk5ZVEvsl6NEqgv/xFkhborfbNYctdmXwLmGXbAdrM=" providerId="None" clId="Web-{947591CD-04B9-4DA9-8A87-D217E3730CA5}"/>
    <pc:docChg chg="modSld">
      <pc:chgData name="Victoria L Lowell" userId="ZNk5ZVEvsl6NEqgv/xFkhborfbNYctdmXwLmGXbAdrM=" providerId="None" clId="Web-{947591CD-04B9-4DA9-8A87-D217E3730CA5}" dt="2026-02-25T17:51:19.580" v="137" actId="20577"/>
      <pc:docMkLst>
        <pc:docMk/>
      </pc:docMkLst>
      <pc:sldChg chg="modSp">
        <pc:chgData name="Victoria L Lowell" userId="ZNk5ZVEvsl6NEqgv/xFkhborfbNYctdmXwLmGXbAdrM=" providerId="None" clId="Web-{947591CD-04B9-4DA9-8A87-D217E3730CA5}" dt="2026-02-25T17:50:54.033" v="134" actId="20577"/>
        <pc:sldMkLst>
          <pc:docMk/>
          <pc:sldMk cId="3316091358" sldId="262"/>
        </pc:sldMkLst>
        <pc:spChg chg="mod">
          <ac:chgData name="Victoria L Lowell" userId="ZNk5ZVEvsl6NEqgv/xFkhborfbNYctdmXwLmGXbAdrM=" providerId="None" clId="Web-{947591CD-04B9-4DA9-8A87-D217E3730CA5}" dt="2026-02-25T17:50:54.033" v="134" actId="20577"/>
          <ac:spMkLst>
            <pc:docMk/>
            <pc:sldMk cId="3316091358" sldId="262"/>
            <ac:spMk id="3" creationId="{813E4FD3-DBCD-46CD-5331-3CC2038AB1C7}"/>
          </ac:spMkLst>
        </pc:spChg>
      </pc:sldChg>
      <pc:sldChg chg="modSp">
        <pc:chgData name="Victoria L Lowell" userId="ZNk5ZVEvsl6NEqgv/xFkhborfbNYctdmXwLmGXbAdrM=" providerId="None" clId="Web-{947591CD-04B9-4DA9-8A87-D217E3730CA5}" dt="2026-02-25T17:46:09.204" v="6" actId="20577"/>
        <pc:sldMkLst>
          <pc:docMk/>
          <pc:sldMk cId="3281002593" sldId="265"/>
        </pc:sldMkLst>
        <pc:spChg chg="mod">
          <ac:chgData name="Victoria L Lowell" userId="ZNk5ZVEvsl6NEqgv/xFkhborfbNYctdmXwLmGXbAdrM=" providerId="None" clId="Web-{947591CD-04B9-4DA9-8A87-D217E3730CA5}" dt="2026-02-25T17:46:09.204" v="6" actId="20577"/>
          <ac:spMkLst>
            <pc:docMk/>
            <pc:sldMk cId="3281002593" sldId="265"/>
            <ac:spMk id="2" creationId="{90741E5C-8399-CDC4-E033-59D4C8100678}"/>
          </ac:spMkLst>
        </pc:spChg>
      </pc:sldChg>
      <pc:sldChg chg="modSp">
        <pc:chgData name="Victoria L Lowell" userId="ZNk5ZVEvsl6NEqgv/xFkhborfbNYctdmXwLmGXbAdrM=" providerId="None" clId="Web-{947591CD-04B9-4DA9-8A87-D217E3730CA5}" dt="2026-02-25T17:46:47.329" v="23" actId="20577"/>
        <pc:sldMkLst>
          <pc:docMk/>
          <pc:sldMk cId="3540267615" sldId="266"/>
        </pc:sldMkLst>
        <pc:spChg chg="mod">
          <ac:chgData name="Victoria L Lowell" userId="ZNk5ZVEvsl6NEqgv/xFkhborfbNYctdmXwLmGXbAdrM=" providerId="None" clId="Web-{947591CD-04B9-4DA9-8A87-D217E3730CA5}" dt="2026-02-25T17:46:47.329" v="23" actId="20577"/>
          <ac:spMkLst>
            <pc:docMk/>
            <pc:sldMk cId="3540267615" sldId="266"/>
            <ac:spMk id="2" creationId="{125CD63B-D611-3A87-9E6C-10C102874D17}"/>
          </ac:spMkLst>
        </pc:spChg>
      </pc:sldChg>
      <pc:sldChg chg="modSp">
        <pc:chgData name="Victoria L Lowell" userId="ZNk5ZVEvsl6NEqgv/xFkhborfbNYctdmXwLmGXbAdrM=" providerId="None" clId="Web-{947591CD-04B9-4DA9-8A87-D217E3730CA5}" dt="2026-02-25T17:47:24.720" v="33" actId="20577"/>
        <pc:sldMkLst>
          <pc:docMk/>
          <pc:sldMk cId="4033075558" sldId="267"/>
        </pc:sldMkLst>
        <pc:spChg chg="mod">
          <ac:chgData name="Victoria L Lowell" userId="ZNk5ZVEvsl6NEqgv/xFkhborfbNYctdmXwLmGXbAdrM=" providerId="None" clId="Web-{947591CD-04B9-4DA9-8A87-D217E3730CA5}" dt="2026-02-25T17:47:24.720" v="33" actId="20577"/>
          <ac:spMkLst>
            <pc:docMk/>
            <pc:sldMk cId="4033075558" sldId="267"/>
            <ac:spMk id="2" creationId="{8EB134DF-371A-67CF-AB68-D4EF0723270A}"/>
          </ac:spMkLst>
        </pc:spChg>
      </pc:sldChg>
      <pc:sldChg chg="modSp">
        <pc:chgData name="Victoria L Lowell" userId="ZNk5ZVEvsl6NEqgv/xFkhborfbNYctdmXwLmGXbAdrM=" providerId="None" clId="Web-{947591CD-04B9-4DA9-8A87-D217E3730CA5}" dt="2026-02-25T17:51:19.580" v="137" actId="20577"/>
        <pc:sldMkLst>
          <pc:docMk/>
          <pc:sldMk cId="3456119686" sldId="268"/>
        </pc:sldMkLst>
        <pc:spChg chg="mod">
          <ac:chgData name="Victoria L Lowell" userId="ZNk5ZVEvsl6NEqgv/xFkhborfbNYctdmXwLmGXbAdrM=" providerId="None" clId="Web-{947591CD-04B9-4DA9-8A87-D217E3730CA5}" dt="2026-02-25T17:51:19.580" v="137" actId="20577"/>
          <ac:spMkLst>
            <pc:docMk/>
            <pc:sldMk cId="3456119686" sldId="268"/>
            <ac:spMk id="2" creationId="{BEFF9DD9-06FC-5131-B154-CD280A261553}"/>
          </ac:spMkLst>
        </pc:spChg>
      </pc:sldChg>
    </pc:docChg>
  </pc:docChgLst>
  <pc:docChgLst>
    <pc:chgData name="Lily Tan" userId="SAug1YMJadXIQBlM6OGY+oog8UxF930D4IIm6adivCM=" providerId="None" clId="Web-{C144C5C4-F97D-4B90-9CFD-95DA49667C8C}"/>
    <pc:docChg chg="addSld delSld modSld">
      <pc:chgData name="Lily Tan" userId="SAug1YMJadXIQBlM6OGY+oog8UxF930D4IIm6adivCM=" providerId="None" clId="Web-{C144C5C4-F97D-4B90-9CFD-95DA49667C8C}" dt="2026-02-25T17:51:56.757" v="15"/>
      <pc:docMkLst>
        <pc:docMk/>
      </pc:docMkLst>
      <pc:sldChg chg="del">
        <pc:chgData name="Lily Tan" userId="SAug1YMJadXIQBlM6OGY+oog8UxF930D4IIm6adivCM=" providerId="None" clId="Web-{C144C5C4-F97D-4B90-9CFD-95DA49667C8C}" dt="2026-02-25T17:51:56.757" v="15"/>
        <pc:sldMkLst>
          <pc:docMk/>
          <pc:sldMk cId="3281002593" sldId="265"/>
        </pc:sldMkLst>
      </pc:sldChg>
      <pc:sldChg chg="del">
        <pc:chgData name="Lily Tan" userId="SAug1YMJadXIQBlM6OGY+oog8UxF930D4IIm6adivCM=" providerId="None" clId="Web-{C144C5C4-F97D-4B90-9CFD-95DA49667C8C}" dt="2026-02-25T17:49:26.554" v="10"/>
        <pc:sldMkLst>
          <pc:docMk/>
          <pc:sldMk cId="3540267615" sldId="266"/>
        </pc:sldMkLst>
      </pc:sldChg>
      <pc:sldChg chg="add del">
        <pc:chgData name="Lily Tan" userId="SAug1YMJadXIQBlM6OGY+oog8UxF930D4IIm6adivCM=" providerId="None" clId="Web-{C144C5C4-F97D-4B90-9CFD-95DA49667C8C}" dt="2026-02-25T17:49:25.335" v="9"/>
        <pc:sldMkLst>
          <pc:docMk/>
          <pc:sldMk cId="4033075558" sldId="267"/>
        </pc:sldMkLst>
      </pc:sldChg>
      <pc:sldChg chg="add">
        <pc:chgData name="Lily Tan" userId="SAug1YMJadXIQBlM6OGY+oog8UxF930D4IIm6adivCM=" providerId="None" clId="Web-{C144C5C4-F97D-4B90-9CFD-95DA49667C8C}" dt="2026-02-25T17:48:35.991" v="2"/>
        <pc:sldMkLst>
          <pc:docMk/>
          <pc:sldMk cId="492631524" sldId="269"/>
        </pc:sldMkLst>
      </pc:sldChg>
      <pc:sldChg chg="new del">
        <pc:chgData name="Lily Tan" userId="SAug1YMJadXIQBlM6OGY+oog8UxF930D4IIm6adivCM=" providerId="None" clId="Web-{C144C5C4-F97D-4B90-9CFD-95DA49667C8C}" dt="2026-02-25T17:47:22.601" v="1"/>
        <pc:sldMkLst>
          <pc:docMk/>
          <pc:sldMk cId="1660238232" sldId="269"/>
        </pc:sldMkLst>
      </pc:sldChg>
      <pc:sldChg chg="add">
        <pc:chgData name="Lily Tan" userId="SAug1YMJadXIQBlM6OGY+oog8UxF930D4IIm6adivCM=" providerId="None" clId="Web-{C144C5C4-F97D-4B90-9CFD-95DA49667C8C}" dt="2026-02-25T17:49:08.054" v="5"/>
        <pc:sldMkLst>
          <pc:docMk/>
          <pc:sldMk cId="1612209356" sldId="270"/>
        </pc:sldMkLst>
      </pc:sldChg>
      <pc:sldChg chg="add del">
        <pc:chgData name="Lily Tan" userId="SAug1YMJadXIQBlM6OGY+oog8UxF930D4IIm6adivCM=" providerId="None" clId="Web-{C144C5C4-F97D-4B90-9CFD-95DA49667C8C}" dt="2026-02-25T17:48:49.882" v="4"/>
        <pc:sldMkLst>
          <pc:docMk/>
          <pc:sldMk cId="4090597990" sldId="270"/>
        </pc:sldMkLst>
      </pc:sldChg>
      <pc:sldChg chg="modSp add">
        <pc:chgData name="Lily Tan" userId="SAug1YMJadXIQBlM6OGY+oog8UxF930D4IIm6adivCM=" providerId="None" clId="Web-{C144C5C4-F97D-4B90-9CFD-95DA49667C8C}" dt="2026-02-25T17:51:04.210" v="14" actId="20577"/>
        <pc:sldMkLst>
          <pc:docMk/>
          <pc:sldMk cId="2891671270" sldId="271"/>
        </pc:sldMkLst>
        <pc:spChg chg="mod">
          <ac:chgData name="Lily Tan" userId="SAug1YMJadXIQBlM6OGY+oog8UxF930D4IIm6adivCM=" providerId="None" clId="Web-{C144C5C4-F97D-4B90-9CFD-95DA49667C8C}" dt="2026-02-25T17:51:04.210" v="14" actId="20577"/>
          <ac:spMkLst>
            <pc:docMk/>
            <pc:sldMk cId="2891671270" sldId="271"/>
            <ac:spMk id="112" creationId="{00000000-0000-0000-0000-000000000000}"/>
          </ac:spMkLst>
        </pc:spChg>
      </pc:sldChg>
      <pc:sldChg chg="add">
        <pc:chgData name="Lily Tan" userId="SAug1YMJadXIQBlM6OGY+oog8UxF930D4IIm6adivCM=" providerId="None" clId="Web-{C144C5C4-F97D-4B90-9CFD-95DA49667C8C}" dt="2026-02-25T17:49:44.976" v="11"/>
        <pc:sldMkLst>
          <pc:docMk/>
          <pc:sldMk cId="1313232876" sldId="272"/>
        </pc:sldMkLst>
      </pc:sldChg>
      <pc:sldMasterChg chg="addSldLayout">
        <pc:chgData name="Lily Tan" userId="SAug1YMJadXIQBlM6OGY+oog8UxF930D4IIm6adivCM=" providerId="None" clId="Web-{C144C5C4-F97D-4B90-9CFD-95DA49667C8C}" dt="2026-02-25T17:49:08.054" v="5"/>
        <pc:sldMasterMkLst>
          <pc:docMk/>
          <pc:sldMasterMk cId="2460954070" sldId="2147483660"/>
        </pc:sldMasterMkLst>
        <pc:sldLayoutChg chg="add">
          <pc:chgData name="Lily Tan" userId="SAug1YMJadXIQBlM6OGY+oog8UxF930D4IIm6adivCM=" providerId="None" clId="Web-{C144C5C4-F97D-4B90-9CFD-95DA49667C8C}" dt="2026-02-25T17:48:35.991" v="2"/>
          <pc:sldLayoutMkLst>
            <pc:docMk/>
            <pc:sldMasterMk cId="2460954070" sldId="2147483660"/>
            <pc:sldLayoutMk cId="1340819927" sldId="2147483672"/>
          </pc:sldLayoutMkLst>
        </pc:sldLayoutChg>
        <pc:sldLayoutChg chg="add">
          <pc:chgData name="Lily Tan" userId="SAug1YMJadXIQBlM6OGY+oog8UxF930D4IIm6adivCM=" providerId="None" clId="Web-{C144C5C4-F97D-4B90-9CFD-95DA49667C8C}" dt="2026-02-25T17:49:08.054" v="5"/>
          <pc:sldLayoutMkLst>
            <pc:docMk/>
            <pc:sldMasterMk cId="2460954070" sldId="2147483660"/>
            <pc:sldLayoutMk cId="2241114276" sldId="2147483673"/>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1A2744"/>
                </a:solidFill>
                <a:latin typeface="Arial"/>
              </a:defRPr>
            </a:pPr>
            <a:r>
              <a:rPr lang="en-US" sz="1100" b="0" i="0" u="none" strike="noStrike">
                <a:solidFill>
                  <a:srgbClr val="1A2744"/>
                </a:solidFill>
                <a:latin typeface="Arial"/>
              </a:rPr>
              <a:t>Writing Quality Scores (Post-intervention, %)</a:t>
            </a:r>
          </a:p>
        </c:rich>
      </c:tx>
      <c:overlay val="0"/>
    </c:title>
    <c:autoTitleDeleted val="0"/>
    <c:plotArea>
      <c:layout/>
      <c:barChart>
        <c:barDir val="col"/>
        <c:grouping val="clustered"/>
        <c:varyColors val="0"/>
        <c:ser>
          <c:idx val="0"/>
          <c:order val="0"/>
          <c:tx>
            <c:strRef>
              <c:f>Sheet1!$B$1</c:f>
              <c:strCache>
                <c:ptCount val="1"/>
                <c:pt idx="0">
                  <c:v>ChatGPT Group</c:v>
                </c:pt>
              </c:strCache>
            </c:strRef>
          </c:tx>
          <c:spPr>
            <a:solidFill>
              <a:srgbClr val="1A2744"/>
            </a:solidFill>
            <a:effectLst/>
          </c:spPr>
          <c:invertIfNegative val="0"/>
          <c:dLbls>
            <c:numFmt formatCode="#,##0" sourceLinked="0"/>
            <c:spPr>
              <a:noFill/>
              <a:ln>
                <a:noFill/>
              </a:ln>
              <a:effectLst/>
            </c:spPr>
            <c:txPr>
              <a:bodyPr/>
              <a:lstStyle/>
              <a:p>
                <a:pPr>
                  <a:defRPr sz="9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Coherence</c:v>
                </c:pt>
                <c:pt idx="1">
                  <c:v>Vocabulary</c:v>
                </c:pt>
                <c:pt idx="2">
                  <c:v>Grammar</c:v>
                </c:pt>
                <c:pt idx="3">
                  <c:v>Structure</c:v>
                </c:pt>
                <c:pt idx="4">
                  <c:v>Overall</c:v>
                </c:pt>
              </c:strCache>
            </c:strRef>
          </c:cat>
          <c:val>
            <c:numRef>
              <c:f>Sheet1!$B$2:$B$6</c:f>
              <c:numCache>
                <c:formatCode>General</c:formatCode>
                <c:ptCount val="5"/>
                <c:pt idx="0">
                  <c:v>78</c:v>
                </c:pt>
                <c:pt idx="1">
                  <c:v>74</c:v>
                </c:pt>
                <c:pt idx="2">
                  <c:v>71</c:v>
                </c:pt>
                <c:pt idx="3">
                  <c:v>76</c:v>
                </c:pt>
                <c:pt idx="4">
                  <c:v>75</c:v>
                </c:pt>
              </c:numCache>
            </c:numRef>
          </c:val>
          <c:extLst>
            <c:ext xmlns:c16="http://schemas.microsoft.com/office/drawing/2014/chart" uri="{C3380CC4-5D6E-409C-BE32-E72D297353CC}">
              <c16:uniqueId val="{00000000-0755-F44F-9C10-3A195BC9153F}"/>
            </c:ext>
          </c:extLst>
        </c:ser>
        <c:ser>
          <c:idx val="1"/>
          <c:order val="1"/>
          <c:tx>
            <c:strRef>
              <c:f>Sheet1!$C$1</c:f>
              <c:strCache>
                <c:ptCount val="1"/>
                <c:pt idx="0">
                  <c:v>Control Group</c:v>
                </c:pt>
              </c:strCache>
            </c:strRef>
          </c:tx>
          <c:spPr>
            <a:solidFill>
              <a:srgbClr val="48CFC1"/>
            </a:solidFill>
            <a:effectLst/>
          </c:spPr>
          <c:invertIfNegative val="0"/>
          <c:dLbls>
            <c:numFmt formatCode="#,##0" sourceLinked="0"/>
            <c:spPr>
              <a:noFill/>
              <a:ln>
                <a:noFill/>
              </a:ln>
              <a:effectLst/>
            </c:spPr>
            <c:txPr>
              <a:bodyPr/>
              <a:lstStyle/>
              <a:p>
                <a:pPr>
                  <a:defRPr sz="9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Coherence</c:v>
                </c:pt>
                <c:pt idx="1">
                  <c:v>Vocabulary</c:v>
                </c:pt>
                <c:pt idx="2">
                  <c:v>Grammar</c:v>
                </c:pt>
                <c:pt idx="3">
                  <c:v>Structure</c:v>
                </c:pt>
                <c:pt idx="4">
                  <c:v>Overall</c:v>
                </c:pt>
              </c:strCache>
            </c:strRef>
          </c:cat>
          <c:val>
            <c:numRef>
              <c:f>Sheet1!$C$2:$C$6</c:f>
              <c:numCache>
                <c:formatCode>General</c:formatCode>
                <c:ptCount val="5"/>
                <c:pt idx="0">
                  <c:v>62</c:v>
                </c:pt>
                <c:pt idx="1">
                  <c:v>58</c:v>
                </c:pt>
                <c:pt idx="2">
                  <c:v>60</c:v>
                </c:pt>
                <c:pt idx="3">
                  <c:v>61</c:v>
                </c:pt>
                <c:pt idx="4">
                  <c:v>61</c:v>
                </c:pt>
              </c:numCache>
            </c:numRef>
          </c:val>
          <c:extLst>
            <c:ext xmlns:c16="http://schemas.microsoft.com/office/drawing/2014/chart" uri="{C3380CC4-5D6E-409C-BE32-E72D297353CC}">
              <c16:uniqueId val="{00000001-0755-F44F-9C10-3A195BC915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A2744"/>
                </a:solidFill>
                <a:latin typeface="Arial"/>
              </a:defRPr>
            </a:pPr>
            <a:r>
              <a:rPr lang="en-US" sz="1100" b="0" i="0" u="none" strike="noStrike">
                <a:solidFill>
                  <a:srgbClr val="1A2744"/>
                </a:solidFill>
                <a:latin typeface="Arial"/>
              </a:rPr>
              <a:t>Learner Engagement Score Over 12 Weeks</a:t>
            </a:r>
          </a:p>
        </c:rich>
      </c:tx>
      <c:overlay val="0"/>
    </c:title>
    <c:autoTitleDeleted val="0"/>
    <c:plotArea>
      <c:layout/>
      <c:lineChart>
        <c:grouping val="standard"/>
        <c:varyColors val="0"/>
        <c:ser>
          <c:idx val="0"/>
          <c:order val="0"/>
          <c:tx>
            <c:strRef>
              <c:f>Sheet1!$B$1</c:f>
              <c:strCache>
                <c:ptCount val="1"/>
                <c:pt idx="0">
                  <c:v>AI-Assisted Group</c:v>
                </c:pt>
              </c:strCache>
            </c:strRef>
          </c:tx>
          <c:spPr>
            <a:ln w="31750" cap="flat">
              <a:solidFill>
                <a:srgbClr val="2A9D8F"/>
              </a:solidFill>
              <a:prstDash val="solid"/>
              <a:round/>
            </a:ln>
            <a:effectLst/>
          </c:spPr>
          <c:marker>
            <c:symbol val="circle"/>
            <c:size val="6"/>
            <c:spPr>
              <a:solidFill>
                <a:srgbClr val="2A9D8F"/>
              </a:solidFill>
              <a:ln w="9525" cap="flat">
                <a:solidFill>
                  <a:srgbClr val="2A9D8F"/>
                </a:solidFill>
                <a:prstDash val="solid"/>
                <a:round/>
              </a:ln>
              <a:effectLst/>
            </c:spPr>
          </c:marker>
          <c:cat>
            <c:strRef>
              <c:f>Sheet1!$A$2:$A$7</c:f>
              <c:strCache>
                <c:ptCount val="6"/>
                <c:pt idx="0">
                  <c:v>Week 1</c:v>
                </c:pt>
                <c:pt idx="1">
                  <c:v>Week 2</c:v>
                </c:pt>
                <c:pt idx="2">
                  <c:v>Week 4</c:v>
                </c:pt>
                <c:pt idx="3">
                  <c:v>Week 6</c:v>
                </c:pt>
                <c:pt idx="4">
                  <c:v>Week 8</c:v>
                </c:pt>
                <c:pt idx="5">
                  <c:v>Week 12</c:v>
                </c:pt>
              </c:strCache>
            </c:strRef>
          </c:cat>
          <c:val>
            <c:numRef>
              <c:f>Sheet1!$B$2:$B$7</c:f>
              <c:numCache>
                <c:formatCode>General</c:formatCode>
                <c:ptCount val="6"/>
                <c:pt idx="0">
                  <c:v>65</c:v>
                </c:pt>
                <c:pt idx="1">
                  <c:v>75</c:v>
                </c:pt>
                <c:pt idx="2">
                  <c:v>82</c:v>
                </c:pt>
                <c:pt idx="3">
                  <c:v>80</c:v>
                </c:pt>
                <c:pt idx="4">
                  <c:v>76</c:v>
                </c:pt>
                <c:pt idx="5">
                  <c:v>68</c:v>
                </c:pt>
              </c:numCache>
            </c:numRef>
          </c:val>
          <c:smooth val="1"/>
          <c:extLst>
            <c:ext xmlns:c16="http://schemas.microsoft.com/office/drawing/2014/chart" uri="{C3380CC4-5D6E-409C-BE32-E72D297353CC}">
              <c16:uniqueId val="{00000000-FBE7-144A-B05F-195B0346D274}"/>
            </c:ext>
          </c:extLst>
        </c:ser>
        <c:ser>
          <c:idx val="1"/>
          <c:order val="1"/>
          <c:tx>
            <c:strRef>
              <c:f>Sheet1!$C$1</c:f>
              <c:strCache>
                <c:ptCount val="1"/>
                <c:pt idx="0">
                  <c:v>Control Group</c:v>
                </c:pt>
              </c:strCache>
            </c:strRef>
          </c:tx>
          <c:spPr>
            <a:ln w="31750" cap="flat">
              <a:solidFill>
                <a:srgbClr val="1A2744"/>
              </a:solidFill>
              <a:prstDash val="solid"/>
              <a:round/>
            </a:ln>
            <a:effectLst/>
          </c:spPr>
          <c:marker>
            <c:symbol val="circle"/>
            <c:size val="6"/>
            <c:spPr>
              <a:solidFill>
                <a:srgbClr val="1A2744"/>
              </a:solidFill>
              <a:ln w="9525" cap="flat">
                <a:solidFill>
                  <a:srgbClr val="1A2744"/>
                </a:solidFill>
                <a:prstDash val="solid"/>
                <a:round/>
              </a:ln>
              <a:effectLst/>
            </c:spPr>
          </c:marker>
          <c:cat>
            <c:strRef>
              <c:f>Sheet1!$A$2:$A$7</c:f>
              <c:strCache>
                <c:ptCount val="6"/>
                <c:pt idx="0">
                  <c:v>Week 1</c:v>
                </c:pt>
                <c:pt idx="1">
                  <c:v>Week 2</c:v>
                </c:pt>
                <c:pt idx="2">
                  <c:v>Week 4</c:v>
                </c:pt>
                <c:pt idx="3">
                  <c:v>Week 6</c:v>
                </c:pt>
                <c:pt idx="4">
                  <c:v>Week 8</c:v>
                </c:pt>
                <c:pt idx="5">
                  <c:v>Week 12</c:v>
                </c:pt>
              </c:strCache>
            </c:strRef>
          </c:cat>
          <c:val>
            <c:numRef>
              <c:f>Sheet1!$C$2:$C$7</c:f>
              <c:numCache>
                <c:formatCode>General</c:formatCode>
                <c:ptCount val="6"/>
                <c:pt idx="0">
                  <c:v>60</c:v>
                </c:pt>
                <c:pt idx="1">
                  <c:v>63</c:v>
                </c:pt>
                <c:pt idx="2">
                  <c:v>67</c:v>
                </c:pt>
                <c:pt idx="3">
                  <c:v>70</c:v>
                </c:pt>
                <c:pt idx="4">
                  <c:v>72</c:v>
                </c:pt>
                <c:pt idx="5">
                  <c:v>74</c:v>
                </c:pt>
              </c:numCache>
            </c:numRef>
          </c:val>
          <c:smooth val="1"/>
          <c:extLst>
            <c:ext xmlns:c16="http://schemas.microsoft.com/office/drawing/2014/chart" uri="{C3380CC4-5D6E-409C-BE32-E72D297353CC}">
              <c16:uniqueId val="{00000001-FBE7-144A-B05F-195B0346D27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min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A2744"/>
                </a:solidFill>
                <a:latin typeface="Arial"/>
              </a:defRPr>
            </a:pPr>
            <a:r>
              <a:rPr lang="en-US" sz="1000" b="0" i="0" u="none" strike="noStrike">
                <a:solidFill>
                  <a:srgbClr val="1A2744"/>
                </a:solidFill>
                <a:latin typeface="Arial"/>
              </a:rPr>
              <a:t>Writing Quality Gain by Learner Background (%)</a:t>
            </a:r>
          </a:p>
        </c:rich>
      </c:tx>
      <c:overlay val="0"/>
    </c:title>
    <c:autoTitleDeleted val="0"/>
    <c:plotArea>
      <c:layout/>
      <c:barChart>
        <c:barDir val="col"/>
        <c:grouping val="clustered"/>
        <c:varyColors val="0"/>
        <c:ser>
          <c:idx val="0"/>
          <c:order val="0"/>
          <c:tx>
            <c:strRef>
              <c:f>Sheet1!$B$1</c:f>
              <c:strCache>
                <c:ptCount val="1"/>
                <c:pt idx="0">
                  <c:v>Writing Gain (AI Group)</c:v>
                </c:pt>
              </c:strCache>
            </c:strRef>
          </c:tx>
          <c:spPr>
            <a:solidFill>
              <a:srgbClr val="1A2744"/>
            </a:solidFill>
            <a:effectLst/>
          </c:spPr>
          <c:invertIfNegative val="0"/>
          <c:dPt>
            <c:idx val="0"/>
            <c:invertIfNegative val="0"/>
            <c:bubble3D val="0"/>
            <c:extLst>
              <c:ext xmlns:c16="http://schemas.microsoft.com/office/drawing/2014/chart" uri="{C3380CC4-5D6E-409C-BE32-E72D297353CC}">
                <c16:uniqueId val="{00000001-A5F4-8341-BFE3-30C83DBED62A}"/>
              </c:ext>
            </c:extLst>
          </c:dPt>
          <c:dPt>
            <c:idx val="1"/>
            <c:invertIfNegative val="0"/>
            <c:bubble3D val="0"/>
            <c:extLst>
              <c:ext xmlns:c16="http://schemas.microsoft.com/office/drawing/2014/chart" uri="{C3380CC4-5D6E-409C-BE32-E72D297353CC}">
                <c16:uniqueId val="{00000003-A5F4-8341-BFE3-30C83DBED62A}"/>
              </c:ext>
            </c:extLst>
          </c:dPt>
          <c:dPt>
            <c:idx val="2"/>
            <c:invertIfNegative val="0"/>
            <c:bubble3D val="0"/>
            <c:spPr>
              <a:solidFill>
                <a:srgbClr val="E76F51"/>
              </a:solidFill>
              <a:effectLst/>
            </c:spPr>
            <c:extLst>
              <c:ext xmlns:c16="http://schemas.microsoft.com/office/drawing/2014/chart" uri="{C3380CC4-5D6E-409C-BE32-E72D297353CC}">
                <c16:uniqueId val="{00000005-A5F4-8341-BFE3-30C83DBED62A}"/>
              </c:ext>
            </c:extLst>
          </c:dPt>
          <c:dPt>
            <c:idx val="3"/>
            <c:invertIfNegative val="0"/>
            <c:bubble3D val="0"/>
            <c:spPr>
              <a:solidFill>
                <a:srgbClr val="E9C46A"/>
              </a:solidFill>
              <a:effectLst/>
            </c:spPr>
            <c:extLst>
              <c:ext xmlns:c16="http://schemas.microsoft.com/office/drawing/2014/chart" uri="{C3380CC4-5D6E-409C-BE32-E72D297353CC}">
                <c16:uniqueId val="{00000007-A5F4-8341-BFE3-30C83DBED62A}"/>
              </c:ext>
            </c:extLst>
          </c:dPt>
          <c:dPt>
            <c:idx val="4"/>
            <c:invertIfNegative val="0"/>
            <c:bubble3D val="0"/>
            <c:spPr>
              <a:solidFill>
                <a:srgbClr val="E9C46A"/>
              </a:solidFill>
              <a:effectLst/>
            </c:spPr>
            <c:extLst>
              <c:ext xmlns:c16="http://schemas.microsoft.com/office/drawing/2014/chart" uri="{C3380CC4-5D6E-409C-BE32-E72D297353CC}">
                <c16:uniqueId val="{00000009-A5F4-8341-BFE3-30C83DBED62A}"/>
              </c:ext>
            </c:extLst>
          </c:dPt>
          <c:dLbls>
            <c:numFmt formatCode="#,##0" sourceLinked="0"/>
            <c:spPr>
              <a:noFill/>
              <a:ln>
                <a:noFill/>
              </a:ln>
              <a:effectLst/>
            </c:spPr>
            <c:txPr>
              <a:bodyPr/>
              <a:lstStyle/>
              <a:p>
                <a:pPr>
                  <a:defRPr sz="900" b="0" i="0" u="none" strike="noStrike">
                    <a:solidFill>
                      <a:srgbClr val="1A274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Standard
American Eng.</c:v>
                </c:pt>
                <c:pt idx="1">
                  <c:v>International
Students</c:v>
                </c:pt>
                <c:pt idx="2">
                  <c:v>AAVE
Speakers</c:v>
                </c:pt>
                <c:pt idx="3">
                  <c:v>Heritage
Language Users</c:v>
                </c:pt>
                <c:pt idx="4">
                  <c:v>Dialect
Speakers</c:v>
                </c:pt>
              </c:strCache>
            </c:strRef>
          </c:cat>
          <c:val>
            <c:numRef>
              <c:f>Sheet1!$B$2:$B$6</c:f>
              <c:numCache>
                <c:formatCode>General</c:formatCode>
                <c:ptCount val="5"/>
                <c:pt idx="0">
                  <c:v>82</c:v>
                </c:pt>
                <c:pt idx="1">
                  <c:v>75</c:v>
                </c:pt>
                <c:pt idx="2">
                  <c:v>54</c:v>
                </c:pt>
                <c:pt idx="3">
                  <c:v>61</c:v>
                </c:pt>
                <c:pt idx="4">
                  <c:v>58</c:v>
                </c:pt>
              </c:numCache>
            </c:numRef>
          </c:val>
          <c:extLst>
            <c:ext xmlns:c16="http://schemas.microsoft.com/office/drawing/2014/chart" uri="{C3380CC4-5D6E-409C-BE32-E72D297353CC}">
              <c16:uniqueId val="{0000000A-A5F4-8341-BFE3-30C83DBED6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FBF550-4335-439C-9C6F-0470D66E04E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819D9E4-3E38-4C95-885E-2918C0FA2CFD}">
      <dgm:prSet custT="1"/>
      <dgm:spPr/>
      <dgm:t>
        <a:bodyPr/>
        <a:lstStyle/>
        <a:p>
          <a:pPr>
            <a:lnSpc>
              <a:spcPct val="100000"/>
            </a:lnSpc>
          </a:pPr>
          <a:r>
            <a:rPr lang="en-US" sz="1800" dirty="0"/>
            <a:t>Belle Li is a Dean’s Doctoral Fellow and Ph.D. candidate in Learning Design and Technology at Purdue University. Her work examines how artificial intelligence can preserve and amplify human agency in learning.</a:t>
          </a:r>
        </a:p>
      </dgm:t>
    </dgm:pt>
    <dgm:pt modelId="{1CC88A19-2B96-4E9F-BA39-0E433FE35D17}" type="parTrans" cxnId="{C43305E8-F43B-43E1-B7FC-9A7C2A0F6549}">
      <dgm:prSet/>
      <dgm:spPr/>
      <dgm:t>
        <a:bodyPr/>
        <a:lstStyle/>
        <a:p>
          <a:endParaRPr lang="en-US"/>
        </a:p>
      </dgm:t>
    </dgm:pt>
    <dgm:pt modelId="{3A68C803-67B7-4390-92F4-5BC8DE5780FE}" type="sibTrans" cxnId="{C43305E8-F43B-43E1-B7FC-9A7C2A0F6549}">
      <dgm:prSet/>
      <dgm:spPr/>
      <dgm:t>
        <a:bodyPr/>
        <a:lstStyle/>
        <a:p>
          <a:endParaRPr lang="en-US"/>
        </a:p>
      </dgm:t>
    </dgm:pt>
    <dgm:pt modelId="{9BA973B1-0E92-4087-AFAA-506E5C308328}">
      <dgm:prSet custT="1"/>
      <dgm:spPr/>
      <dgm:t>
        <a:bodyPr/>
        <a:lstStyle/>
        <a:p>
          <a:pPr>
            <a:lnSpc>
              <a:spcPct val="100000"/>
            </a:lnSpc>
          </a:pPr>
          <a:r>
            <a:rPr lang="en-US" sz="1800" dirty="0"/>
            <a:t>Lily Tan is a first-year doctoral student in Learning Design and Technology and research assistant for School of Information Studies. Her research interests focus on human-AI interaction and informal digital learning of English.</a:t>
          </a:r>
        </a:p>
        <a:p>
          <a:pPr>
            <a:lnSpc>
              <a:spcPct val="100000"/>
            </a:lnSpc>
          </a:pPr>
          <a:endParaRPr lang="en-US" sz="1800" dirty="0"/>
        </a:p>
      </dgm:t>
    </dgm:pt>
    <dgm:pt modelId="{91320880-DC72-446E-9975-8458A46CAE1A}" type="parTrans" cxnId="{F95BB2EB-03EC-4DE7-8A71-E493CA5F4D42}">
      <dgm:prSet/>
      <dgm:spPr/>
      <dgm:t>
        <a:bodyPr/>
        <a:lstStyle/>
        <a:p>
          <a:endParaRPr lang="en-US"/>
        </a:p>
      </dgm:t>
    </dgm:pt>
    <dgm:pt modelId="{B3A270CB-0063-4628-9D22-25C54F711E27}" type="sibTrans" cxnId="{F95BB2EB-03EC-4DE7-8A71-E493CA5F4D42}">
      <dgm:prSet/>
      <dgm:spPr/>
      <dgm:t>
        <a:bodyPr/>
        <a:lstStyle/>
        <a:p>
          <a:endParaRPr lang="en-US"/>
        </a:p>
      </dgm:t>
    </dgm:pt>
    <dgm:pt modelId="{0AB67836-EA43-4773-A2C5-145EC49CA8A9}">
      <dgm:prSet custT="1"/>
      <dgm:spPr/>
      <dgm:t>
        <a:bodyPr/>
        <a:lstStyle/>
        <a:p>
          <a:pPr>
            <a:lnSpc>
              <a:spcPct val="100000"/>
            </a:lnSpc>
          </a:pPr>
          <a:r>
            <a:rPr lang="en-US" sz="1800" dirty="0"/>
            <a:t>Victoria Lowell, PhD, is a Clinical Professor in the Learning Design and Technology program. Her research focuses on the integration and evaluation of emerging technologies including VR, AR and AI in education and training.</a:t>
          </a:r>
        </a:p>
      </dgm:t>
    </dgm:pt>
    <dgm:pt modelId="{0A0A601A-05AD-4F1B-ABA1-4A8B0656780E}" type="parTrans" cxnId="{95FA26BF-C7C6-4A45-B6C1-5138AFBE28EF}">
      <dgm:prSet/>
      <dgm:spPr/>
      <dgm:t>
        <a:bodyPr/>
        <a:lstStyle/>
        <a:p>
          <a:endParaRPr lang="en-US"/>
        </a:p>
      </dgm:t>
    </dgm:pt>
    <dgm:pt modelId="{CF8A983D-CC71-4029-AB1F-C8C7E064CB82}" type="sibTrans" cxnId="{95FA26BF-C7C6-4A45-B6C1-5138AFBE28EF}">
      <dgm:prSet/>
      <dgm:spPr/>
      <dgm:t>
        <a:bodyPr/>
        <a:lstStyle/>
        <a:p>
          <a:endParaRPr lang="en-US"/>
        </a:p>
      </dgm:t>
    </dgm:pt>
    <dgm:pt modelId="{A831C9F6-2928-4B06-80BC-FD9F6A6040D4}" type="pres">
      <dgm:prSet presAssocID="{80FBF550-4335-439C-9C6F-0470D66E04EA}" presName="vert0" presStyleCnt="0">
        <dgm:presLayoutVars>
          <dgm:dir/>
          <dgm:animOne val="branch"/>
          <dgm:animLvl val="lvl"/>
        </dgm:presLayoutVars>
      </dgm:prSet>
      <dgm:spPr/>
    </dgm:pt>
    <dgm:pt modelId="{8EE687E0-C467-4A3E-B4B8-CA7832169B5D}" type="pres">
      <dgm:prSet presAssocID="{4819D9E4-3E38-4C95-885E-2918C0FA2CFD}" presName="thickLine" presStyleLbl="alignNode1" presStyleIdx="0" presStyleCnt="3"/>
      <dgm:spPr/>
    </dgm:pt>
    <dgm:pt modelId="{2070782E-4185-49D2-AF48-DB618099E9CC}" type="pres">
      <dgm:prSet presAssocID="{4819D9E4-3E38-4C95-885E-2918C0FA2CFD}" presName="horz1" presStyleCnt="0"/>
      <dgm:spPr/>
    </dgm:pt>
    <dgm:pt modelId="{F7163341-AE46-435F-AAC0-4F6EEF6A074E}" type="pres">
      <dgm:prSet presAssocID="{4819D9E4-3E38-4C95-885E-2918C0FA2CFD}" presName="tx1" presStyleLbl="revTx" presStyleIdx="0" presStyleCnt="3"/>
      <dgm:spPr/>
    </dgm:pt>
    <dgm:pt modelId="{B582CF1E-2E73-4067-8A35-37491D4A2E35}" type="pres">
      <dgm:prSet presAssocID="{4819D9E4-3E38-4C95-885E-2918C0FA2CFD}" presName="vert1" presStyleCnt="0"/>
      <dgm:spPr/>
    </dgm:pt>
    <dgm:pt modelId="{42314A80-B052-4B2D-A505-5EB3B2BD0940}" type="pres">
      <dgm:prSet presAssocID="{9BA973B1-0E92-4087-AFAA-506E5C308328}" presName="thickLine" presStyleLbl="alignNode1" presStyleIdx="1" presStyleCnt="3"/>
      <dgm:spPr/>
    </dgm:pt>
    <dgm:pt modelId="{67AAEB6B-BFE1-4066-A388-F08ACABE6CC5}" type="pres">
      <dgm:prSet presAssocID="{9BA973B1-0E92-4087-AFAA-506E5C308328}" presName="horz1" presStyleCnt="0"/>
      <dgm:spPr/>
    </dgm:pt>
    <dgm:pt modelId="{AEE512F8-5A9F-4E36-85E9-6A01CF68DFB0}" type="pres">
      <dgm:prSet presAssocID="{9BA973B1-0E92-4087-AFAA-506E5C308328}" presName="tx1" presStyleLbl="revTx" presStyleIdx="1" presStyleCnt="3"/>
      <dgm:spPr/>
    </dgm:pt>
    <dgm:pt modelId="{61F07B7F-048C-4FF1-83F3-0A6AB4500CE0}" type="pres">
      <dgm:prSet presAssocID="{9BA973B1-0E92-4087-AFAA-506E5C308328}" presName="vert1" presStyleCnt="0"/>
      <dgm:spPr/>
    </dgm:pt>
    <dgm:pt modelId="{BD5264CE-8240-450A-B2AC-4B51A2718128}" type="pres">
      <dgm:prSet presAssocID="{0AB67836-EA43-4773-A2C5-145EC49CA8A9}" presName="thickLine" presStyleLbl="alignNode1" presStyleIdx="2" presStyleCnt="3"/>
      <dgm:spPr/>
    </dgm:pt>
    <dgm:pt modelId="{44F13CE3-5173-4DA6-A644-DADF3D52F06F}" type="pres">
      <dgm:prSet presAssocID="{0AB67836-EA43-4773-A2C5-145EC49CA8A9}" presName="horz1" presStyleCnt="0"/>
      <dgm:spPr/>
    </dgm:pt>
    <dgm:pt modelId="{A60DF01F-0024-45D2-B70F-5A7A3C605171}" type="pres">
      <dgm:prSet presAssocID="{0AB67836-EA43-4773-A2C5-145EC49CA8A9}" presName="tx1" presStyleLbl="revTx" presStyleIdx="2" presStyleCnt="3" custLinFactNeighborY="1088"/>
      <dgm:spPr/>
    </dgm:pt>
    <dgm:pt modelId="{F464D7D1-2C9D-4F16-BB50-834DA01B913F}" type="pres">
      <dgm:prSet presAssocID="{0AB67836-EA43-4773-A2C5-145EC49CA8A9}" presName="vert1" presStyleCnt="0"/>
      <dgm:spPr/>
    </dgm:pt>
  </dgm:ptLst>
  <dgm:cxnLst>
    <dgm:cxn modelId="{49B6D40A-96A6-46C3-A90C-45FC2865152D}" type="presOf" srcId="{4819D9E4-3E38-4C95-885E-2918C0FA2CFD}" destId="{F7163341-AE46-435F-AAC0-4F6EEF6A074E}" srcOrd="0" destOrd="0" presId="urn:microsoft.com/office/officeart/2008/layout/LinedList"/>
    <dgm:cxn modelId="{95FA26BF-C7C6-4A45-B6C1-5138AFBE28EF}" srcId="{80FBF550-4335-439C-9C6F-0470D66E04EA}" destId="{0AB67836-EA43-4773-A2C5-145EC49CA8A9}" srcOrd="2" destOrd="0" parTransId="{0A0A601A-05AD-4F1B-ABA1-4A8B0656780E}" sibTransId="{CF8A983D-CC71-4029-AB1F-C8C7E064CB82}"/>
    <dgm:cxn modelId="{1D1077DE-6AB2-446E-A481-E3CF11CBC6C4}" type="presOf" srcId="{9BA973B1-0E92-4087-AFAA-506E5C308328}" destId="{AEE512F8-5A9F-4E36-85E9-6A01CF68DFB0}" srcOrd="0" destOrd="0" presId="urn:microsoft.com/office/officeart/2008/layout/LinedList"/>
    <dgm:cxn modelId="{EA7F29E2-3FB2-4E3D-B2DA-6F37D19B50AE}" type="presOf" srcId="{0AB67836-EA43-4773-A2C5-145EC49CA8A9}" destId="{A60DF01F-0024-45D2-B70F-5A7A3C605171}" srcOrd="0" destOrd="0" presId="urn:microsoft.com/office/officeart/2008/layout/LinedList"/>
    <dgm:cxn modelId="{542639E7-20B9-4312-A4F8-02BF7F452C2B}" type="presOf" srcId="{80FBF550-4335-439C-9C6F-0470D66E04EA}" destId="{A831C9F6-2928-4B06-80BC-FD9F6A6040D4}" srcOrd="0" destOrd="0" presId="urn:microsoft.com/office/officeart/2008/layout/LinedList"/>
    <dgm:cxn modelId="{C43305E8-F43B-43E1-B7FC-9A7C2A0F6549}" srcId="{80FBF550-4335-439C-9C6F-0470D66E04EA}" destId="{4819D9E4-3E38-4C95-885E-2918C0FA2CFD}" srcOrd="0" destOrd="0" parTransId="{1CC88A19-2B96-4E9F-BA39-0E433FE35D17}" sibTransId="{3A68C803-67B7-4390-92F4-5BC8DE5780FE}"/>
    <dgm:cxn modelId="{F95BB2EB-03EC-4DE7-8A71-E493CA5F4D42}" srcId="{80FBF550-4335-439C-9C6F-0470D66E04EA}" destId="{9BA973B1-0E92-4087-AFAA-506E5C308328}" srcOrd="1" destOrd="0" parTransId="{91320880-DC72-446E-9975-8458A46CAE1A}" sibTransId="{B3A270CB-0063-4628-9D22-25C54F711E27}"/>
    <dgm:cxn modelId="{EF513EFC-59A4-4980-8B3C-2A049ADB0BA6}" type="presParOf" srcId="{A831C9F6-2928-4B06-80BC-FD9F6A6040D4}" destId="{8EE687E0-C467-4A3E-B4B8-CA7832169B5D}" srcOrd="0" destOrd="0" presId="urn:microsoft.com/office/officeart/2008/layout/LinedList"/>
    <dgm:cxn modelId="{6F7A01F7-5D49-43CB-87FF-EEC2C6A6A398}" type="presParOf" srcId="{A831C9F6-2928-4B06-80BC-FD9F6A6040D4}" destId="{2070782E-4185-49D2-AF48-DB618099E9CC}" srcOrd="1" destOrd="0" presId="urn:microsoft.com/office/officeart/2008/layout/LinedList"/>
    <dgm:cxn modelId="{53339D6F-2E19-417A-B014-56C31E102286}" type="presParOf" srcId="{2070782E-4185-49D2-AF48-DB618099E9CC}" destId="{F7163341-AE46-435F-AAC0-4F6EEF6A074E}" srcOrd="0" destOrd="0" presId="urn:microsoft.com/office/officeart/2008/layout/LinedList"/>
    <dgm:cxn modelId="{8BD85A3F-78E3-4A46-8CCD-7D448ED940B5}" type="presParOf" srcId="{2070782E-4185-49D2-AF48-DB618099E9CC}" destId="{B582CF1E-2E73-4067-8A35-37491D4A2E35}" srcOrd="1" destOrd="0" presId="urn:microsoft.com/office/officeart/2008/layout/LinedList"/>
    <dgm:cxn modelId="{C817F4E1-0B9F-459C-82DE-518D222EF3DC}" type="presParOf" srcId="{A831C9F6-2928-4B06-80BC-FD9F6A6040D4}" destId="{42314A80-B052-4B2D-A505-5EB3B2BD0940}" srcOrd="2" destOrd="0" presId="urn:microsoft.com/office/officeart/2008/layout/LinedList"/>
    <dgm:cxn modelId="{9B0DAC94-26E4-45F9-BE18-628526023423}" type="presParOf" srcId="{A831C9F6-2928-4B06-80BC-FD9F6A6040D4}" destId="{67AAEB6B-BFE1-4066-A388-F08ACABE6CC5}" srcOrd="3" destOrd="0" presId="urn:microsoft.com/office/officeart/2008/layout/LinedList"/>
    <dgm:cxn modelId="{12D9FD48-6D47-40C8-8B85-06AD8438FED6}" type="presParOf" srcId="{67AAEB6B-BFE1-4066-A388-F08ACABE6CC5}" destId="{AEE512F8-5A9F-4E36-85E9-6A01CF68DFB0}" srcOrd="0" destOrd="0" presId="urn:microsoft.com/office/officeart/2008/layout/LinedList"/>
    <dgm:cxn modelId="{2309F881-D6C9-4165-A810-48F83FE150EF}" type="presParOf" srcId="{67AAEB6B-BFE1-4066-A388-F08ACABE6CC5}" destId="{61F07B7F-048C-4FF1-83F3-0A6AB4500CE0}" srcOrd="1" destOrd="0" presId="urn:microsoft.com/office/officeart/2008/layout/LinedList"/>
    <dgm:cxn modelId="{766C2201-4C76-48FC-AE7A-93F48080F4FB}" type="presParOf" srcId="{A831C9F6-2928-4B06-80BC-FD9F6A6040D4}" destId="{BD5264CE-8240-450A-B2AC-4B51A2718128}" srcOrd="4" destOrd="0" presId="urn:microsoft.com/office/officeart/2008/layout/LinedList"/>
    <dgm:cxn modelId="{0BD9123A-20C0-4669-8926-4DBBCF6C7131}" type="presParOf" srcId="{A831C9F6-2928-4B06-80BC-FD9F6A6040D4}" destId="{44F13CE3-5173-4DA6-A644-DADF3D52F06F}" srcOrd="5" destOrd="0" presId="urn:microsoft.com/office/officeart/2008/layout/LinedList"/>
    <dgm:cxn modelId="{E678C38A-885D-4F6F-9518-BB68C9B9E365}" type="presParOf" srcId="{44F13CE3-5173-4DA6-A644-DADF3D52F06F}" destId="{A60DF01F-0024-45D2-B70F-5A7A3C605171}" srcOrd="0" destOrd="0" presId="urn:microsoft.com/office/officeart/2008/layout/LinedList"/>
    <dgm:cxn modelId="{D17E9DD4-6382-44E3-B6B7-82B32DE12CB6}" type="presParOf" srcId="{44F13CE3-5173-4DA6-A644-DADF3D52F06F}" destId="{F464D7D1-2C9D-4F16-BB50-834DA01B913F}"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E687E0-C467-4A3E-B4B8-CA7832169B5D}">
      <dsp:nvSpPr>
        <dsp:cNvPr id="0" name=""/>
        <dsp:cNvSpPr/>
      </dsp:nvSpPr>
      <dsp:spPr>
        <a:xfrm>
          <a:off x="0" y="2021"/>
          <a:ext cx="72575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163341-AE46-435F-AAC0-4F6EEF6A074E}">
      <dsp:nvSpPr>
        <dsp:cNvPr id="0" name=""/>
        <dsp:cNvSpPr/>
      </dsp:nvSpPr>
      <dsp:spPr>
        <a:xfrm>
          <a:off x="0" y="2021"/>
          <a:ext cx="7257555" cy="1378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Belle Li is a Dean’s Doctoral Fellow and Ph.D. candidate in Learning Design and Technology at Purdue University. Her work examines how artificial intelligence can preserve and amplify human agency in learning.</a:t>
          </a:r>
        </a:p>
      </dsp:txBody>
      <dsp:txXfrm>
        <a:off x="0" y="2021"/>
        <a:ext cx="7257555" cy="1378813"/>
      </dsp:txXfrm>
    </dsp:sp>
    <dsp:sp modelId="{42314A80-B052-4B2D-A505-5EB3B2BD0940}">
      <dsp:nvSpPr>
        <dsp:cNvPr id="0" name=""/>
        <dsp:cNvSpPr/>
      </dsp:nvSpPr>
      <dsp:spPr>
        <a:xfrm>
          <a:off x="0" y="1380835"/>
          <a:ext cx="72575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E512F8-5A9F-4E36-85E9-6A01CF68DFB0}">
      <dsp:nvSpPr>
        <dsp:cNvPr id="0" name=""/>
        <dsp:cNvSpPr/>
      </dsp:nvSpPr>
      <dsp:spPr>
        <a:xfrm>
          <a:off x="0" y="1380835"/>
          <a:ext cx="7257555" cy="1378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Lily Tan is a first-year doctoral student in Learning Design and Technology and research assistant for School of Information Studies. Her research interests focus on human-AI interaction and informal digital learning of English.</a:t>
          </a:r>
        </a:p>
        <a:p>
          <a:pPr marL="0" lvl="0" indent="0" algn="l" defTabSz="800100">
            <a:lnSpc>
              <a:spcPct val="100000"/>
            </a:lnSpc>
            <a:spcBef>
              <a:spcPct val="0"/>
            </a:spcBef>
            <a:spcAft>
              <a:spcPct val="35000"/>
            </a:spcAft>
            <a:buNone/>
          </a:pPr>
          <a:endParaRPr lang="en-US" sz="1800" kern="1200" dirty="0"/>
        </a:p>
      </dsp:txBody>
      <dsp:txXfrm>
        <a:off x="0" y="1380835"/>
        <a:ext cx="7257555" cy="1378813"/>
      </dsp:txXfrm>
    </dsp:sp>
    <dsp:sp modelId="{BD5264CE-8240-450A-B2AC-4B51A2718128}">
      <dsp:nvSpPr>
        <dsp:cNvPr id="0" name=""/>
        <dsp:cNvSpPr/>
      </dsp:nvSpPr>
      <dsp:spPr>
        <a:xfrm>
          <a:off x="0" y="2759648"/>
          <a:ext cx="725755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DF01F-0024-45D2-B70F-5A7A3C605171}">
      <dsp:nvSpPr>
        <dsp:cNvPr id="0" name=""/>
        <dsp:cNvSpPr/>
      </dsp:nvSpPr>
      <dsp:spPr>
        <a:xfrm>
          <a:off x="0" y="2761670"/>
          <a:ext cx="7257555" cy="1378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Victoria Lowell, PhD, is a Clinical Professor in the Learning Design and Technology program. Her research focuses on the integration and evaluation of emerging technologies including VR, AR and AI in education and training.</a:t>
          </a:r>
        </a:p>
      </dsp:txBody>
      <dsp:txXfrm>
        <a:off x="0" y="2761670"/>
        <a:ext cx="7257555" cy="137881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44E291-75E1-4BEF-81E7-B77C25320C78}" type="datetimeFigureOut">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50625-101A-4F14-8649-4E0FCE5A256C}" type="slidenum">
              <a:t>‹#›</a:t>
            </a:fld>
            <a:endParaRPr lang="en-US"/>
          </a:p>
        </p:txBody>
      </p:sp>
    </p:spTree>
    <p:extLst>
      <p:ext uri="{BB962C8B-B14F-4D97-AF65-F5344CB8AC3E}">
        <p14:creationId xmlns:p14="http://schemas.microsoft.com/office/powerpoint/2010/main" val="3477525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Speaker reads prompts on slides:</a:t>
            </a:r>
          </a:p>
          <a:p>
            <a:r>
              <a:rPr lang="en-US" i="1" dirty="0"/>
              <a:t>As we move beyond learning how to use GenAI tools, what does the evidence actually support regarding their use with multilingual learners?</a:t>
            </a:r>
            <a:endParaRPr lang="en-US" dirty="0"/>
          </a:p>
          <a:p>
            <a:pPr marL="342900" indent="-342900">
              <a:buFont typeface="Arial,Sans-Serif"/>
              <a:buChar char="•"/>
            </a:pPr>
            <a:r>
              <a:rPr lang="en-US" dirty="0"/>
              <a:t>You already know </a:t>
            </a:r>
            <a:r>
              <a:rPr lang="en-US" i="1" dirty="0"/>
              <a:t>how</a:t>
            </a:r>
            <a:r>
              <a:rPr lang="en-US" dirty="0"/>
              <a:t> to use GenAI</a:t>
            </a:r>
            <a:endParaRPr lang="en-US">
              <a:cs typeface="+mn-lt"/>
            </a:endParaRPr>
          </a:p>
          <a:p>
            <a:pPr marL="342900" indent="-342900">
              <a:buFont typeface="Arial,Sans-Serif"/>
              <a:buChar char="•"/>
            </a:pPr>
            <a:r>
              <a:rPr lang="en-US" dirty="0"/>
              <a:t>Today’s focus: </a:t>
            </a:r>
            <a:r>
              <a:rPr lang="en-US" i="1" dirty="0"/>
              <a:t>what research supports</a:t>
            </a:r>
            <a:r>
              <a:rPr lang="en-US" dirty="0"/>
              <a:t>, not what feels promising</a:t>
            </a:r>
          </a:p>
        </p:txBody>
      </p:sp>
      <p:sp>
        <p:nvSpPr>
          <p:cNvPr id="4" name="Slide Number Placeholder 3"/>
          <p:cNvSpPr>
            <a:spLocks noGrp="1"/>
          </p:cNvSpPr>
          <p:nvPr>
            <p:ph type="sldNum" sz="quarter" idx="5"/>
          </p:nvPr>
        </p:nvSpPr>
        <p:spPr/>
        <p:txBody>
          <a:bodyPr/>
          <a:lstStyle/>
          <a:p>
            <a:fld id="{63950625-101A-4F14-8649-4E0FCE5A256C}" type="slidenum">
              <a:t>4</a:t>
            </a:fld>
            <a:endParaRPr lang="en-US"/>
          </a:p>
        </p:txBody>
      </p:sp>
    </p:spTree>
    <p:extLst>
      <p:ext uri="{BB962C8B-B14F-4D97-AF65-F5344CB8AC3E}">
        <p14:creationId xmlns:p14="http://schemas.microsoft.com/office/powerpoint/2010/main" val="3030783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Speaker reads prompts on slide</a:t>
            </a:r>
            <a:endParaRPr lang="en-US" b="1" dirty="0"/>
          </a:p>
          <a:p>
            <a:r>
              <a:rPr lang="en-US" i="1" dirty="0"/>
              <a:t>Based on the research you’ve encountered so far, what claims about GenAI and multilingual literacy feel…</a:t>
            </a:r>
            <a:endParaRPr lang="en-US" dirty="0"/>
          </a:p>
          <a:p>
            <a:pPr marL="285750" indent="-285750">
              <a:buFont typeface="Arial,Sans-Serif"/>
              <a:buChar char="•"/>
            </a:pPr>
            <a:r>
              <a:rPr lang="en-US" dirty="0"/>
              <a:t>Well-supported by evidence?</a:t>
            </a:r>
            <a:endParaRPr lang="en-US" dirty="0">
              <a:ea typeface="Calibri" panose="020F0502020204030204"/>
              <a:cs typeface="Calibri" panose="020F0502020204030204"/>
            </a:endParaRPr>
          </a:p>
          <a:p>
            <a:pPr marL="285750" indent="-285750">
              <a:buFont typeface="Arial,Sans-Serif"/>
              <a:buChar char="•"/>
            </a:pPr>
            <a:r>
              <a:rPr lang="en-US" dirty="0"/>
              <a:t>Overstated or under-examined?</a:t>
            </a:r>
            <a:endParaRPr lang="en-US" dirty="0">
              <a:ea typeface="Calibri"/>
              <a:cs typeface="Calibri"/>
            </a:endParaRPr>
          </a:p>
          <a:p>
            <a:r>
              <a:rPr lang="en-US" b="1" dirty="0"/>
              <a:t>Instructions (bottom of slide):</a:t>
            </a:r>
            <a:endParaRPr lang="en-US" dirty="0">
              <a:ea typeface="Calibri"/>
              <a:cs typeface="Calibri"/>
            </a:endParaRPr>
          </a:p>
          <a:p>
            <a:pPr marL="285750" indent="-285750">
              <a:buFont typeface="Arial"/>
              <a:buChar char="•"/>
            </a:pPr>
            <a:r>
              <a:rPr lang="en-US" dirty="0"/>
              <a:t>1–2 minutes</a:t>
            </a:r>
            <a:endParaRPr lang="en-US" dirty="0">
              <a:ea typeface="Calibri"/>
              <a:cs typeface="Calibri"/>
            </a:endParaRPr>
          </a:p>
          <a:p>
            <a:pPr marL="285750" indent="-285750">
              <a:buFont typeface="Arial"/>
              <a:buChar char="•"/>
            </a:pPr>
            <a:r>
              <a:rPr lang="en-US" dirty="0"/>
              <a:t>Jot down 2–3 claims</a:t>
            </a:r>
            <a:endParaRPr lang="en-US" dirty="0">
              <a:ea typeface="Calibri"/>
              <a:cs typeface="Calibri"/>
            </a:endParaRPr>
          </a:p>
          <a:p>
            <a:pPr marL="285750" indent="-285750">
              <a:buFont typeface="Arial"/>
              <a:buChar char="•"/>
            </a:pPr>
            <a:r>
              <a:rPr lang="en-US" dirty="0"/>
              <a:t>Think </a:t>
            </a:r>
            <a:r>
              <a:rPr lang="en-US" i="1" dirty="0"/>
              <a:t>research</a:t>
            </a:r>
            <a:r>
              <a:rPr lang="en-US" dirty="0"/>
              <a:t>, not anecdotes or demos</a:t>
            </a:r>
            <a:endParaRPr lang="en-US" dirty="0">
              <a:ea typeface="Calibri"/>
              <a:cs typeface="Calibri"/>
            </a:endParaRPr>
          </a:p>
          <a:p>
            <a:r>
              <a:rPr lang="en-US" b="1" dirty="0"/>
              <a:t>Instructor cue</a:t>
            </a:r>
            <a:endParaRPr lang="en-US" dirty="0"/>
          </a:p>
          <a:p>
            <a:pPr marL="285750" indent="-285750">
              <a:buFont typeface="Arial"/>
              <a:buChar char="•"/>
            </a:pPr>
            <a:r>
              <a:rPr lang="en-US" dirty="0"/>
              <a:t>Emphasize: </a:t>
            </a:r>
            <a:r>
              <a:rPr lang="en-US" i="1" dirty="0"/>
              <a:t>“There are no right answers—only defensible ones.”</a:t>
            </a: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3950625-101A-4F14-8649-4E0FCE5A256C}" type="slidenum">
              <a:t>5</a:t>
            </a:fld>
            <a:endParaRPr lang="en-US"/>
          </a:p>
        </p:txBody>
      </p:sp>
    </p:spTree>
    <p:extLst>
      <p:ext uri="{BB962C8B-B14F-4D97-AF65-F5344CB8AC3E}">
        <p14:creationId xmlns:p14="http://schemas.microsoft.com/office/powerpoint/2010/main" val="3946857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Synthesis: Sorting the Claims</a:t>
            </a:r>
            <a:endParaRPr lang="en-US"/>
          </a:p>
          <a:p>
            <a:r>
              <a:rPr lang="en-US" b="1" dirty="0">
                <a:ea typeface="Calibri"/>
                <a:cs typeface="Calibri"/>
              </a:rPr>
              <a:t>Speaker do the following:</a:t>
            </a:r>
          </a:p>
          <a:p>
            <a:pPr marL="285750" indent="-285750">
              <a:buFont typeface="Arial"/>
              <a:buChar char="•"/>
            </a:pPr>
            <a:r>
              <a:rPr lang="en-US" dirty="0">
                <a:ea typeface="Calibri"/>
                <a:cs typeface="Calibri"/>
              </a:rPr>
              <a:t>Draw table on board or large poster papers</a:t>
            </a:r>
            <a:endParaRPr lang="en-US" dirty="0"/>
          </a:p>
          <a:p>
            <a:pPr marL="285750" indent="-285750">
              <a:buFont typeface="Arial"/>
              <a:buChar char="•"/>
            </a:pPr>
            <a:r>
              <a:rPr lang="en-US" dirty="0"/>
              <a:t>Invite students to name claims aloud</a:t>
            </a:r>
            <a:endParaRPr lang="en-US" dirty="0">
              <a:ea typeface="Calibri"/>
              <a:cs typeface="Calibri"/>
            </a:endParaRPr>
          </a:p>
          <a:p>
            <a:pPr marL="285750" indent="-285750">
              <a:buFont typeface="Arial"/>
              <a:buChar char="•"/>
            </a:pPr>
            <a:r>
              <a:rPr lang="en-US" dirty="0"/>
              <a:t>Place their claims into columns in real time</a:t>
            </a:r>
            <a:endParaRPr lang="en-US" dirty="0">
              <a:ea typeface="Calibri"/>
              <a:cs typeface="Calibri"/>
            </a:endParaRPr>
          </a:p>
          <a:p>
            <a:pPr marL="285750" indent="-285750">
              <a:buFont typeface="Arial"/>
              <a:buChar char="•"/>
            </a:pPr>
            <a:r>
              <a:rPr lang="en-US" dirty="0"/>
              <a:t>Ask light probes when needed:</a:t>
            </a:r>
            <a:endParaRPr lang="en-US" dirty="0">
              <a:ea typeface="Calibri"/>
              <a:cs typeface="Calibri"/>
            </a:endParaRPr>
          </a:p>
          <a:p>
            <a:pPr marL="742950" lvl="2" indent="-285750">
              <a:buFont typeface="Arial"/>
              <a:buChar char="•"/>
            </a:pPr>
            <a:r>
              <a:rPr lang="en-US" i="1" dirty="0"/>
              <a:t>“What kind of study supports that?”</a:t>
            </a:r>
            <a:endParaRPr lang="en-US" dirty="0">
              <a:ea typeface="Calibri" panose="020F0502020204030204"/>
              <a:cs typeface="Calibri" panose="020F0502020204030204"/>
            </a:endParaRPr>
          </a:p>
          <a:p>
            <a:pPr marL="742950" lvl="2" indent="-285750">
              <a:buFont typeface="Arial"/>
              <a:buChar char="•"/>
            </a:pPr>
            <a:r>
              <a:rPr lang="en-US" i="1" dirty="0"/>
              <a:t>“Short-term outcome or long-term learning?”</a:t>
            </a:r>
            <a:endParaRPr lang="en-US" dirty="0">
              <a:ea typeface="Calibri" panose="020F0502020204030204"/>
              <a:cs typeface="Calibri" panose="020F0502020204030204"/>
            </a:endParaRPr>
          </a:p>
          <a:p>
            <a:pPr marL="742950" lvl="2" indent="-285750">
              <a:buFont typeface="Arial"/>
              <a:buChar char="•"/>
            </a:pPr>
            <a:r>
              <a:rPr lang="en-US" i="1" dirty="0"/>
              <a:t>“Which learners were actually studied?”</a:t>
            </a:r>
            <a:endParaRPr lang="en-US" dirty="0"/>
          </a:p>
          <a:p>
            <a:pPr indent="-285750"/>
            <a:r>
              <a:rPr lang="en-US" b="1" dirty="0"/>
              <a:t>Important norm to state aloud </a:t>
            </a:r>
            <a:endParaRPr lang="en-US" dirty="0"/>
          </a:p>
          <a:p>
            <a:pPr indent="-285750"/>
            <a:r>
              <a:rPr lang="en-US" dirty="0"/>
              <a:t>“Placement can be debated—what matters is whether we can justify it with evidence.”</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3950625-101A-4F14-8649-4E0FCE5A256C}" type="slidenum">
              <a:t>6</a:t>
            </a:fld>
            <a:endParaRPr lang="en-US"/>
          </a:p>
        </p:txBody>
      </p:sp>
    </p:spTree>
    <p:extLst>
      <p:ext uri="{BB962C8B-B14F-4D97-AF65-F5344CB8AC3E}">
        <p14:creationId xmlns:p14="http://schemas.microsoft.com/office/powerpoint/2010/main" val="1297613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Speaker states:</a:t>
            </a:r>
          </a:p>
          <a:p>
            <a:r>
              <a:rPr lang="en-US" dirty="0"/>
              <a:t>With that framing in place, let’s look more closely at what the research landscape actually shows.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63950625-101A-4F14-8649-4E0FCE5A256C}" type="slidenum">
              <a:t>7</a:t>
            </a:fld>
            <a:endParaRPr lang="en-US"/>
          </a:p>
        </p:txBody>
      </p:sp>
    </p:spTree>
    <p:extLst>
      <p:ext uri="{BB962C8B-B14F-4D97-AF65-F5344CB8AC3E}">
        <p14:creationId xmlns:p14="http://schemas.microsoft.com/office/powerpoint/2010/main" val="816590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findings, let me briefly orient you to what you're looking at. On the left are the five core studies forming the backbone of this synthesis — each selected for methodological rigor and relevance to multilingual learners. On the right, we introduce the three-tier evidence framework that will be used throughout: Supported findings have been replicated across multiple independent studies; Emerging findings come from single studies with promising but preliminary results; and Speculative claims are theoretically plausible but await empirical testing in language learning contexts. You'll see these labels used consistently on every subsequent data slide, so they're worth keeping in mind as a calibration tool.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organizes findings into three nested layers. Layer 1 — Performance — captures what most studies measure first: observable gains in writing, grammar, vocabulary, and fluency. This is the most densely studied area. Layer 2 — Cognition and Motivation — moves inside the learner's head: how AI interaction shapes metacognitive strategies, intrinsic motivation, and the risk of over-reliance. Layer 3 — Sociolinguistics and Equity — is the most underexplored and, arguably, the most consequential: it asks whose language is being taught, who benefits from AI feedback, and what gets erased. These layers don't operate in isolation; findings from Layer 1 are often reinterpreted once we apply the lenses of Layers 2 and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gives you the full picture before we dive into each layer. Notice the distribution: several findings — writing improvement, vocabulary gains, standard language bias, and the superiority of human expert feedback — now have enough replication to be considered Supported. A number of motivationally and cognitively oriented findings are still Emerging, meaning they look promising but need more rigorous testing. The claim that AI systematically erases translanguaging practices is currently Speculative — theoretically compelling, but not yet directly tested in controlled studies. This table is a useful calibration tool: whenever you hear a bold claim about AI in language education, you can ask yourself which tier it belongs 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Layer 1 — the performance data. The bar chart shows post-intervention writing quality scores across five dimensions, comparing the ChatGPT-assisted group to the control group from Guo and Chen's 2024 study. The gains are consistent and statistically significant, with effect sizes in the moderate-to-large range. Vocabulary depth gains from Zhang and colleagues are also robust. However, there is an important nuance: grammar improvements did not transfer well to spontaneous writing — learners improved on discrete grammar exercises but not in natural production. The affective finding about reduced writing anxiety is promising, but we should be cautious: that effect faded significantly at the 8-week follow-up, which raises questions about sustainability.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compares the three main feedback conditions examined in the literature. Expert human feedback consistently outperforms both AI and peer feedback — averaging 88% on quality ratings versus 72% for AI and 69% for peer review. What is notable about AI feedback is its consistency and speed: it applies rubrics reliably and is available around the clock. But it has a critical ceiling: it performs poorly on rhetoric, cultural nuance, and emotional attunement. Peer feedback, meanwhile, has the advantage of social and metalinguistic engagement, but is highly variable in quality. The practical implication is not to choose one over the other, but to think about strategic combination: AI handles the mechanical, high-frequency feedback load; peer and human feedback handles the higher-order, relational aspects.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surfaces one of the most practically important findings in this synthesis: what Kim and Park call the 'crutch effect.' The line chart shows learner engagement over 12 weeks. The AI-assisted group starts strong and peaks around Week 4 — but then begins a gradual decline, while the control group continues to improve. By Week 12, the two lines have crossed. Three specific warning signs explain the mechanism: learners stopped revising critically, their independent error-detection ability atrophied, and their motivational orientation shifted from mastery — 'I want to improve my writing' — to completion — 'I just need to finish the task.' This is not an argument against using AI, but a strong argument for structured scaffolding that preserves learner autonomy. The question we should ask is: how do we design AI-assisted learning so the AI fades out rather than becomes permanent?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Layer 2, we look at what happens cognitively and motivationally when learners interact with AI. The cycle on the left represents how AI mediates the classical cognitive loop in language learning: exposure and noticing, processing, metacognitive reflection, and production. Two of the four findings here are Supported: AI significantly reduces cognitive load on surface-level errors, which is actually beneficial — it frees mental resources for higher-order thinking. The Self-Regulated Learning and Motivation findings are Emerging: the benefits depend heavily on how AI is integrated into instruction — passive AI use doesn't produce these effects. The Identity finding is Speculative but worth raising: if learners systematically adopt AI-suggested phrasing, they may gradually lose confidence in their own linguistic voice. We'll come back to this when we discuss the sociolinguistic layer.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zeroes in on a critical moderating variable: self-regulation. The contrast between high and low self-regulated learners makes the pattern very clear. High-SRL learners treat AI as a tool they control — they set goals, evaluate suggestions critically, and maintain independent practice. Low-SRL learners allow AI to take over the editing process, and the dependency compounds over time. This finding has direct pedagogical implications: before implementing AI tools in any classroom, it is worth asking whether students have the metacognitive skills to use AI productively. If they don't, the tool may actually widen existing gaps between stronger and weaker learners, rather than leveling the playing field as is often claimed.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enter the most under-discussed dimension of this literature: equity. The bar chart shows that performance gains from AI are not evenly distributed. Learners from Standard American English backgrounds gain 82%; AAVE and regional dialect speakers gain only 54–58%. This 24–28 point gap is not a minor variation — it is a structural inequality embedded in the tool. The four equity dimensions on the right map the key mechanisms: digital access disparities, standard language bias in training data, erasure of translanguaging practices, and cultural blind spots in feedback. These are not bugs to be fixed with better prompting — they reflect deep ideological choices about whose language counts as 'correct.' For educators working with diverse multilingual populations, this layer is arguably more important than the performance findings in Layers 1 and 2.</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brings together the 'Standardization Trap' — the process by which AI systematically narrows linguistic diversity — with the standard language ideology spectrum showing where bias is most acute. The funnel visualizes what happens every time a learner submits text: diverse, authentic language goes in, and a prestige-variety 'corrected' version comes out. Over repeated interactions, learners internalize this corrective norm, not as a style choice, but as the definition of 'correct English.' The spectrum on the right shows the gradient of bias: AAVE features and code-switching face the highest levels of AI correction; academic register, which closely matches the training data, receives the most favorable treatment. The pedagogical question this raises is fundamental: are we using AI to help students develop communicative competence — or to assimilate them into a single prestige variety?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one of the most concerning documented risks: the misinformation feedback loop. Unlike a human tutor who can say 'I'm not certain, let me check,' ChatGPT delivers incorrect information with the same confident, fluent tone as correct information. The four-step loop on the left shows how this compounds: AI generates a plausible but incorrect rule; the learner, primed to trust the tool, accepts it; the rule gets embedded in production; and neither AI nor sometimes the teacher catches the error on review. The three documented cases on the right are not hypothetical — they are drawn from the literature. The grammar hallucination case is particularly sobering: 43% of learners in one study adopted a false rule without any attempt at verification. The practical implication is clear: AI should never be the sole or authoritative source of language rule explanation in a learning context.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iceberg model captures what may be AI's most fundamental limitation in language education: it can only see and teach the surface of language and culture. Vocabulary, register, idiomatic phrases — these are all AI-accessible. But intercultural competence lives below the waterline: in values, power dynamics, identity negotiation, and historical context. Lee and Thompson's 2024 study showed that learners who used AI as their primary feedback source showed no significant gains in intercultural competence measures — even as their surface-level writing improved. The distinction on the right between what AI can and cannot do is not a temporary limitation waiting for a better model. It is a structural feature of what language learning actually is: a deeply human, embodied, social process. AI can prepare learners for intercultural encounters; it cannot replace those encounters.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turning to strategies, it is worth pausing to name what this research has surfaced: three genuine, unresolved tensions. These are not problems with simple solutions — they are structural tensions that educators must hold simultaneously. The first: efficiency versus depth. AI makes feedback faster and more accessible, but there is growing evidence that the struggle, the slowness, and the discomfort of language learning are not bugs — they are features that drive deep acquisition. The second: access versus equity. Expanding access to AI tools is genuinely valuable, but if those tools systematically privilege certain learners over others, 'access' becomes a false equity promise. The third: autonomy versus dependency. This is perhaps the most ironic tension in the literature — the tool designed to support independent learning is, under certain conditions, undermining it. Holding these tensions honestly is the starting point for thoughtful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spectrum maps each of the three tensions onto four practical implementation dimensions, showing what the research-supported versus research-discouraged ends look like in practice. The red end of each spectrum corresponds to patterns associated with the crutch effect, equity gaps, or lost learning depth in the literature. The green end represents configurations where benefits are more consistent and risks are better managed. No institution will be purely on one side — but understanding where your current practice falls on each dimension is a useful starting point for institutional reflection. As we move into the strategy section, the pedagogical approaches I'll describe are designed to push practice toward the green end of each spectrum.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strategy category involves technical interventions — things that can be implemented immediately through instruction and course design without requiring any change to the AI tool itself. Structured prompt protocols are perhaps the most powerful: by teaching students how to request explanations rather than corrections, we preserve their agency in the revision process. Scaffolded fading directly addresses the crutch effect: Kim and Park found that groups using a deliberate fading protocol — full access early, then progressive reduction — showed no dependency at the 12-week follow-up. AI Error Validation Tasks are a metacognitive intervention: they train students to treat AI as a fallible resource rather than an authority. And Dialect Variety Prompting is a small but symbolically important move: it raises student awareness that AI's standard is a choice, not a fact.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and third strategies move from technical to pedagogical and critical. Translanguaging pedagogy asks us to fundamentally reframe L1 use: not as interference to be suppressed, but as a cognitive and cultural resource to be leveraged. In practice, this means allowing learners to brainstorm in their L1, then produce in L2; using AI's translation feature as a contrastive analysis tool; and designing tasks that help learners see when AI is erasing their multilingual identity. Critical AI Literacy — or CAIL — is perhaps the longest-term investment, but arguably the most important. The goal is to graduate students who don't just use AI fluently, but who understand what it is, how it works, and whose interests it serves. This is not anti-technology — it is pro-understanding. Students who can interrogate AI are better positioned to use it strategically and equitably throughout their academic and professional lives.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converges on a reframing of the teacher's role — not a reduction, but a clarification. Three functions emerge as distinctly and irreducibly human. As Curator, the teacher decides when AI use is pedagogically valuable, designs AI-free zones that preserve the productive struggle, and ensures AI serves specified learning goals rather than convenience. As Orchestrator, the teacher manages the feedback ecosystem — helping students understand when to use AI feedback, when to seek peer review, and when to insist on expert human guidance. As Cultural Mediator, the teacher does what AI fundamentally cannot: name and challenge the ideologies in the tool, validate students' full linguistic repertoires, and bridge AI's intercultural blind spots with human knowledge and relationship. Far from making teachers redundant, the research suggests that AI makes sophisticated, reflective teaching more important than ever.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close with six questions I want to leave with you — not rhetorical ones, but genuine open problems the field has not yet resolved. The first three are institutional and design-level: how do we audit for bias, what does equitable access really mean, and how do we build curricula that support autonomy? The second three are more pedagogical and professional: how do we honor learner identity in AI-mediated instruction, how do we prepare educators rather than just students, and how do we know when efficiency has crossed into a reduction of learning value? These questions don't have clean answers in the current literature — which is partly why this critical synthesis is timely. I hope the framework and findings presented today give you useful language and evidence for engaging with these questions in your own institutional contexts. Thank you — I'm happy to take questions or discuss any of the studies in more depth.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dirty="0">
                <a:highlight>
                  <a:srgbClr val="FFFFFF"/>
                </a:highlight>
                <a:ea typeface="Calibri"/>
                <a:cs typeface="Calibri"/>
              </a:rPr>
              <a:t>Speaker notes:</a:t>
            </a:r>
            <a:endParaRPr lang="en-US" dirty="0"/>
          </a:p>
          <a:p>
            <a:pPr>
              <a:lnSpc>
                <a:spcPct val="90000"/>
              </a:lnSpc>
              <a:spcBef>
                <a:spcPts val="1000"/>
              </a:spcBef>
            </a:pPr>
            <a:endParaRPr lang="en-US" b="1" dirty="0">
              <a:highlight>
                <a:srgbClr val="FFFFFF"/>
              </a:highlight>
              <a:ea typeface="Calibri"/>
              <a:cs typeface="Calibri"/>
            </a:endParaRPr>
          </a:p>
          <a:p>
            <a:pPr>
              <a:lnSpc>
                <a:spcPct val="90000"/>
              </a:lnSpc>
              <a:spcBef>
                <a:spcPts val="1000"/>
              </a:spcBef>
            </a:pPr>
            <a:r>
              <a:rPr lang="en-US" b="1" dirty="0">
                <a:highlight>
                  <a:srgbClr val="FFFFFF"/>
                </a:highlight>
              </a:rPr>
              <a:t>Opening </a:t>
            </a:r>
            <a:r>
              <a:rPr lang="en-US" dirty="0">
                <a:highlight>
                  <a:srgbClr val="FFFFFF"/>
                </a:highlight>
              </a:rPr>
              <a:t>- "We’ve looked at what the research shows, where it’s promising, and where it’s uneven. We’re going to do a rapid synthesis. I’m not looking for exhaustive answers, just where you think the evidence clearly supports caution. One sentence per response. Think headlines, not explanations"</a:t>
            </a:r>
            <a:endParaRPr lang="en-US" dirty="0"/>
          </a:p>
          <a:p>
            <a:pPr>
              <a:lnSpc>
                <a:spcPct val="90000"/>
              </a:lnSpc>
              <a:spcBef>
                <a:spcPts val="1000"/>
              </a:spcBef>
            </a:pPr>
            <a:endParaRPr lang="en-US" dirty="0">
              <a:highlight>
                <a:srgbClr val="FFFFFF"/>
              </a:highlight>
              <a:ea typeface="Calibri"/>
              <a:cs typeface="Calibri"/>
            </a:endParaRPr>
          </a:p>
          <a:p>
            <a:r>
              <a:rPr lang="en-US" b="1" dirty="0">
                <a:highlight>
                  <a:srgbClr val="FFFFFF"/>
                </a:highlight>
              </a:rPr>
              <a:t>How to run it</a:t>
            </a:r>
            <a:endParaRPr lang="en-US" dirty="0"/>
          </a:p>
          <a:p>
            <a:pPr marL="171450" indent="-171450">
              <a:buFont typeface="Arial"/>
              <a:buChar char="•"/>
            </a:pPr>
            <a:r>
              <a:rPr lang="en-US" dirty="0">
                <a:highlight>
                  <a:srgbClr val="FFFFFF"/>
                </a:highlight>
              </a:rPr>
              <a:t>Ask students to respond </a:t>
            </a:r>
            <a:r>
              <a:rPr lang="en-US" b="1" dirty="0">
                <a:highlight>
                  <a:srgbClr val="FFFFFF"/>
                </a:highlight>
              </a:rPr>
              <a:t>with one sentence only</a:t>
            </a:r>
            <a:endParaRPr lang="en-US" dirty="0"/>
          </a:p>
          <a:p>
            <a:pPr marL="171450" indent="-171450">
              <a:buFont typeface="Arial"/>
              <a:buChar char="•"/>
            </a:pPr>
            <a:r>
              <a:rPr lang="en-US" dirty="0">
                <a:highlight>
                  <a:srgbClr val="FFFFFF"/>
                </a:highlight>
              </a:rPr>
              <a:t>Call on </a:t>
            </a:r>
            <a:r>
              <a:rPr lang="en-US" b="1" dirty="0">
                <a:highlight>
                  <a:srgbClr val="FFFFFF"/>
                </a:highlight>
              </a:rPr>
              <a:t>3–4 voices total</a:t>
            </a:r>
            <a:endParaRPr lang="en-US" dirty="0"/>
          </a:p>
          <a:p>
            <a:pPr marL="171450" indent="-171450">
              <a:buFont typeface="Arial"/>
              <a:buChar char="•"/>
            </a:pPr>
            <a:r>
              <a:rPr lang="en-US" dirty="0">
                <a:highlight>
                  <a:srgbClr val="FFFFFF"/>
                </a:highlight>
              </a:rPr>
              <a:t>Do not open follow-ups</a:t>
            </a:r>
            <a:endParaRPr lang="en-US" dirty="0"/>
          </a:p>
          <a:p>
            <a:pPr>
              <a:lnSpc>
                <a:spcPct val="90000"/>
              </a:lnSpc>
              <a:spcBef>
                <a:spcPts val="1000"/>
              </a:spcBef>
            </a:pPr>
            <a:endParaRPr lang="en-US" dirty="0">
              <a:highlight>
                <a:srgbClr val="FFFFFF"/>
              </a:highlight>
              <a:ea typeface="Calibri"/>
              <a:cs typeface="Calibri"/>
            </a:endParaRPr>
          </a:p>
          <a:p>
            <a:r>
              <a:rPr lang="en-US" dirty="0"/>
              <a:t>Prompt 1 (45 seconds)</a:t>
            </a:r>
            <a:endParaRPr lang="en-US" dirty="0">
              <a:ea typeface="Calibri"/>
              <a:cs typeface="Calibri"/>
            </a:endParaRPr>
          </a:p>
          <a:p>
            <a:r>
              <a:rPr lang="en-US" b="1" dirty="0">
                <a:highlight>
                  <a:srgbClr val="FFFFFF"/>
                </a:highlight>
              </a:rPr>
              <a:t>Where is the research strongest—and where is it still speculative?</a:t>
            </a:r>
            <a:endParaRPr lang="en-US" dirty="0"/>
          </a:p>
          <a:p>
            <a:r>
              <a:rPr lang="en-US" dirty="0">
                <a:highlight>
                  <a:srgbClr val="FFFFFF"/>
                </a:highlight>
              </a:rPr>
              <a:t>Instructor move:</a:t>
            </a:r>
            <a:endParaRPr lang="en-US" dirty="0"/>
          </a:p>
          <a:p>
            <a:r>
              <a:rPr lang="en-US" dirty="0">
                <a:highlight>
                  <a:srgbClr val="FFFFFF"/>
                </a:highlight>
              </a:rPr>
              <a:t>“Strongest on short-term writing outcomes; speculative on long-term literacy, transfer, and identity.”</a:t>
            </a:r>
            <a:endParaRPr lang="en-US" dirty="0"/>
          </a:p>
          <a:p>
            <a:r>
              <a:rPr lang="en-US" dirty="0">
                <a:highlight>
                  <a:srgbClr val="FFFFFF"/>
                </a:highlight>
              </a:rPr>
              <a:t>(You can say this even if students hesitate.)</a:t>
            </a:r>
            <a:endParaRPr lang="en-US" dirty="0"/>
          </a:p>
          <a:p>
            <a:endParaRPr lang="en-US" dirty="0">
              <a:cs typeface="+mn-lt"/>
            </a:endParaRPr>
          </a:p>
          <a:p>
            <a:r>
              <a:rPr lang="en-US" dirty="0"/>
              <a:t>Prompt 2 (45 seconds)</a:t>
            </a:r>
            <a:endParaRPr lang="en-US" dirty="0">
              <a:ea typeface="Calibri" panose="020F0502020204030204"/>
              <a:cs typeface="Calibri" panose="020F0502020204030204"/>
            </a:endParaRPr>
          </a:p>
          <a:p>
            <a:r>
              <a:rPr lang="en-US" b="1" dirty="0">
                <a:highlight>
                  <a:srgbClr val="FFFFFF"/>
                </a:highlight>
              </a:rPr>
              <a:t>If you were writing policy tomorrow, what claim could you responsibly make?</a:t>
            </a:r>
            <a:endParaRPr lang="en-US" dirty="0"/>
          </a:p>
          <a:p>
            <a:r>
              <a:rPr lang="en-US" dirty="0">
                <a:highlight>
                  <a:srgbClr val="FFFFFF"/>
                </a:highlight>
              </a:rPr>
              <a:t>Instructor move:</a:t>
            </a:r>
            <a:endParaRPr lang="en-US" dirty="0"/>
          </a:p>
          <a:p>
            <a:r>
              <a:rPr lang="en-US" dirty="0">
                <a:highlight>
                  <a:srgbClr val="FFFFFF"/>
                </a:highlight>
              </a:rPr>
              <a:t>“Support with guardrails—avoid claims about independent development or replacement of instruction.”</a:t>
            </a:r>
            <a:endParaRPr lang="en-US" dirty="0"/>
          </a:p>
          <a:p>
            <a:endParaRPr lang="en-US" dirty="0">
              <a:cs typeface="+mn-lt"/>
            </a:endParaRPr>
          </a:p>
          <a:p>
            <a:r>
              <a:rPr lang="en-US" dirty="0"/>
              <a:t>Prompt 3 (30 seconds)</a:t>
            </a:r>
            <a:endParaRPr lang="en-US" dirty="0">
              <a:ea typeface="Calibri" panose="020F0502020204030204"/>
              <a:cs typeface="Calibri" panose="020F0502020204030204"/>
            </a:endParaRPr>
          </a:p>
          <a:p>
            <a:r>
              <a:rPr lang="en-US" b="1" dirty="0">
                <a:highlight>
                  <a:srgbClr val="FFFFFF"/>
                </a:highlight>
              </a:rPr>
              <a:t>What assumption about language or ‘good writing’ does GenAI reinforce?</a:t>
            </a:r>
            <a:endParaRPr lang="en-US" dirty="0"/>
          </a:p>
          <a:p>
            <a:r>
              <a:rPr lang="en-US" dirty="0">
                <a:highlight>
                  <a:srgbClr val="FFFFFF"/>
                </a:highlight>
              </a:rPr>
              <a:t>Instructor move:</a:t>
            </a:r>
            <a:endParaRPr lang="en-US" dirty="0"/>
          </a:p>
          <a:p>
            <a:r>
              <a:rPr lang="en-US" dirty="0">
                <a:highlight>
                  <a:srgbClr val="FFFFFF"/>
                </a:highlight>
              </a:rPr>
              <a:t>“Fluency, standardization, and dominant norms often stand in for competence.”</a:t>
            </a:r>
            <a:endParaRPr lang="en-US" dirty="0"/>
          </a:p>
          <a:p>
            <a:endParaRPr lang="en-US" dirty="0">
              <a:cs typeface="+mn-lt"/>
            </a:endParaRPr>
          </a:p>
          <a:p>
            <a:r>
              <a:rPr lang="en-US" b="1" dirty="0"/>
              <a:t>Prompt 4 (30–45 seconds)</a:t>
            </a:r>
            <a:endParaRPr lang="en-US" dirty="0"/>
          </a:p>
          <a:p>
            <a:r>
              <a:rPr lang="en-US" b="1" dirty="0">
                <a:highlight>
                  <a:srgbClr val="FFFFFF"/>
                </a:highlight>
              </a:rPr>
              <a:t>What research question remains most urgent for multilingual literacy?</a:t>
            </a:r>
            <a:endParaRPr lang="en-US" dirty="0"/>
          </a:p>
          <a:p>
            <a:pPr>
              <a:lnSpc>
                <a:spcPct val="90000"/>
              </a:lnSpc>
              <a:spcBef>
                <a:spcPts val="1000"/>
              </a:spcBef>
            </a:pPr>
            <a:r>
              <a:rPr lang="en-US" dirty="0">
                <a:highlight>
                  <a:srgbClr val="FFFFFF"/>
                </a:highlight>
              </a:rPr>
              <a:t>“In one phrase: what don’t we know yet?”</a:t>
            </a:r>
            <a:endParaRPr lang="en-US" dirty="0"/>
          </a:p>
          <a:p>
            <a:r>
              <a:rPr lang="en-US" b="1">
                <a:highlight>
                  <a:srgbClr val="FFFFFF"/>
                </a:highlight>
              </a:rPr>
              <a:t>How to run it</a:t>
            </a:r>
            <a:endParaRPr lang="en-US"/>
          </a:p>
          <a:p>
            <a:pPr marL="171450" indent="-171450">
              <a:buFont typeface="Arial"/>
              <a:buChar char="•"/>
            </a:pPr>
            <a:r>
              <a:rPr lang="en-US">
                <a:highlight>
                  <a:srgbClr val="FFFFFF"/>
                </a:highlight>
              </a:rPr>
              <a:t>Ask for </a:t>
            </a:r>
            <a:r>
              <a:rPr lang="en-US" b="1">
                <a:highlight>
                  <a:srgbClr val="FFFFFF"/>
                </a:highlight>
              </a:rPr>
              <a:t>one response only</a:t>
            </a:r>
            <a:endParaRPr lang="en-US"/>
          </a:p>
          <a:p>
            <a:pPr marL="171450" indent="-171450">
              <a:buFont typeface="Arial"/>
              <a:buChar char="•"/>
            </a:pPr>
            <a:r>
              <a:rPr lang="en-US">
                <a:highlight>
                  <a:srgbClr val="FFFFFF"/>
                </a:highlight>
              </a:rPr>
              <a:t>If silence: offer a model</a:t>
            </a:r>
            <a:endParaRPr lang="en-US"/>
          </a:p>
          <a:p>
            <a:r>
              <a:rPr lang="en-US" b="1">
                <a:highlight>
                  <a:srgbClr val="FFFFFF"/>
                </a:highlight>
              </a:rPr>
              <a:t>Model response you can supply if needed:</a:t>
            </a:r>
            <a:endParaRPr lang="en-US"/>
          </a:p>
          <a:p>
            <a:r>
              <a:rPr lang="en-US">
                <a:highlight>
                  <a:srgbClr val="FFFFFF"/>
                </a:highlight>
              </a:rPr>
              <a:t>“What happens to multilingual writers’ development over time when AI is used consistently?”</a:t>
            </a:r>
            <a:endParaRPr lang="en-US"/>
          </a:p>
          <a:p>
            <a:pPr>
              <a:lnSpc>
                <a:spcPct val="90000"/>
              </a:lnSpc>
              <a:spcBef>
                <a:spcPts val="1000"/>
              </a:spcBef>
            </a:pPr>
            <a:endParaRPr lang="en-US" dirty="0">
              <a:highlight>
                <a:srgbClr val="FFFFFF"/>
              </a:highlight>
              <a:ea typeface="Calibri"/>
              <a:cs typeface="Calibri"/>
            </a:endParaRPr>
          </a:p>
          <a:p>
            <a:pPr>
              <a:lnSpc>
                <a:spcPct val="90000"/>
              </a:lnSpc>
              <a:spcBef>
                <a:spcPts val="1000"/>
              </a:spcBef>
            </a:pPr>
            <a:endParaRPr lang="en-US" dirty="0">
              <a:highlight>
                <a:srgbClr val="FFFFFF"/>
              </a:highlight>
              <a:ea typeface="Calibri"/>
              <a:cs typeface="Calibri"/>
            </a:endParaRPr>
          </a:p>
          <a:p>
            <a:pPr>
              <a:lnSpc>
                <a:spcPct val="90000"/>
              </a:lnSpc>
              <a:spcBef>
                <a:spcPts val="1000"/>
              </a:spcBef>
            </a:pP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55B58866-EECC-4BD5-ABC6-FB21A3131EB8}" type="slidenum">
              <a:t>12</a:t>
            </a:fld>
            <a:endParaRPr lang="en-US"/>
          </a:p>
        </p:txBody>
      </p:sp>
    </p:spTree>
    <p:extLst>
      <p:ext uri="{BB962C8B-B14F-4D97-AF65-F5344CB8AC3E}">
        <p14:creationId xmlns:p14="http://schemas.microsoft.com/office/powerpoint/2010/main" val="4221688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4D4D-B29C-2DFC-FF28-E35DB851E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35EB2-0B4F-9574-1F20-2E3F30AF3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3DB4E-B3B7-2889-E3EC-7623E27EB63E}"/>
              </a:ext>
            </a:extLst>
          </p:cNvPr>
          <p:cNvSpPr>
            <a:spLocks noGrp="1"/>
          </p:cNvSpPr>
          <p:nvPr>
            <p:ph type="body" idx="1"/>
          </p:nvPr>
        </p:nvSpPr>
        <p:spPr/>
        <p:txBody>
          <a:bodyPr/>
          <a:lstStyle/>
          <a:p>
            <a:pPr>
              <a:lnSpc>
                <a:spcPct val="90000"/>
              </a:lnSpc>
              <a:spcBef>
                <a:spcPts val="1000"/>
              </a:spcBef>
            </a:pPr>
            <a:r>
              <a:rPr lang="en-US" b="1" dirty="0">
                <a:highlight>
                  <a:srgbClr val="FFFFFF"/>
                </a:highlight>
                <a:ea typeface="Calibri"/>
                <a:cs typeface="Calibri"/>
              </a:rPr>
              <a:t>Speaker Notes:</a:t>
            </a:r>
          </a:p>
          <a:p>
            <a:pPr>
              <a:lnSpc>
                <a:spcPct val="90000"/>
              </a:lnSpc>
              <a:spcBef>
                <a:spcPts val="1000"/>
              </a:spcBef>
            </a:pPr>
            <a:r>
              <a:rPr lang="en-US" dirty="0">
                <a:highlight>
                  <a:srgbClr val="FFFFFF"/>
                </a:highlight>
              </a:rPr>
              <a:t>Transition from previous slide - </a:t>
            </a:r>
            <a:endParaRPr lang="en-US" dirty="0"/>
          </a:p>
          <a:p>
            <a:pPr>
              <a:lnSpc>
                <a:spcPct val="90000"/>
              </a:lnSpc>
              <a:spcBef>
                <a:spcPts val="1000"/>
              </a:spcBef>
            </a:pPr>
            <a:endParaRPr lang="en-US" dirty="0">
              <a:highlight>
                <a:srgbClr val="FFFFFF"/>
              </a:highlight>
            </a:endParaRPr>
          </a:p>
          <a:p>
            <a:pPr>
              <a:lnSpc>
                <a:spcPct val="90000"/>
              </a:lnSpc>
              <a:spcBef>
                <a:spcPts val="1000"/>
              </a:spcBef>
            </a:pPr>
            <a:r>
              <a:rPr lang="en-US" dirty="0">
                <a:highlight>
                  <a:srgbClr val="FFFFFF"/>
                </a:highlight>
              </a:rPr>
              <a:t>“Those unanswered questions are exactly where this field is heading—and where many of you could contribute.”</a:t>
            </a:r>
            <a:endParaRPr lang="en-US" dirty="0">
              <a:ea typeface="Calibri"/>
              <a:cs typeface="Calibri"/>
            </a:endParaRPr>
          </a:p>
          <a:p>
            <a:pPr marL="285750" indent="-285750">
              <a:lnSpc>
                <a:spcPct val="90000"/>
              </a:lnSpc>
              <a:spcBef>
                <a:spcPts val="1000"/>
              </a:spcBef>
              <a:buFont typeface="Arial"/>
              <a:buChar char="•"/>
            </a:pPr>
            <a:endParaRPr lang="en-US" b="1" dirty="0">
              <a:highlight>
                <a:srgbClr val="FFFFFF"/>
              </a:highlight>
              <a:ea typeface="Calibri"/>
              <a:cs typeface="Calibri"/>
            </a:endParaRPr>
          </a:p>
          <a:p>
            <a:r>
              <a:rPr lang="en-US" b="1" dirty="0"/>
              <a:t>Takeaway 1 (10 seconds)</a:t>
            </a:r>
            <a:endParaRPr lang="en-US" b="1" dirty="0">
              <a:ea typeface="Calibri"/>
              <a:cs typeface="Calibri"/>
            </a:endParaRPr>
          </a:p>
          <a:p>
            <a:r>
              <a:rPr lang="en-US">
                <a:highlight>
                  <a:srgbClr val="FFFFFF"/>
                </a:highlight>
              </a:rPr>
              <a:t>“Generative AI doesn’t just add tools—it reshapes literacy environments.”</a:t>
            </a:r>
            <a:endParaRPr lang="en-US">
              <a:ea typeface="Calibri"/>
              <a:cs typeface="Calibri"/>
            </a:endParaRPr>
          </a:p>
          <a:p>
            <a:br>
              <a:rPr lang="en-US" dirty="0">
                <a:highlight>
                  <a:srgbClr val="FFFFFF"/>
                </a:highlight>
                <a:cs typeface="+mn-lt"/>
              </a:rPr>
            </a:br>
            <a:r>
              <a:rPr lang="en-US" dirty="0">
                <a:highlight>
                  <a:srgbClr val="FFFFFF"/>
                </a:highlight>
              </a:rPr>
              <a:t>You might add one clause:</a:t>
            </a:r>
            <a:endParaRPr lang="en-US" dirty="0"/>
          </a:p>
          <a:p>
            <a:pPr marL="171450" indent="-171450">
              <a:buFont typeface="Arial"/>
              <a:buChar char="•"/>
            </a:pPr>
            <a:r>
              <a:rPr lang="en-US" dirty="0">
                <a:highlight>
                  <a:srgbClr val="FFFFFF"/>
                </a:highlight>
              </a:rPr>
              <a:t>“Including how writing is produced, evaluated, and valued.”</a:t>
            </a:r>
            <a:br>
              <a:rPr lang="en-US" dirty="0">
                <a:cs typeface="+mn-lt"/>
              </a:rPr>
            </a:br>
            <a:endParaRPr lang="en-US">
              <a:ea typeface="Calibri" panose="020F0502020204030204"/>
              <a:cs typeface="Calibri" panose="020F0502020204030204"/>
            </a:endParaRPr>
          </a:p>
          <a:p>
            <a:r>
              <a:rPr lang="en-US" b="1" dirty="0"/>
              <a:t>Takeaway 2 (10 seconds)</a:t>
            </a:r>
            <a:endParaRPr lang="en-US" b="1" dirty="0">
              <a:ea typeface="Calibri"/>
              <a:cs typeface="Calibri"/>
            </a:endParaRPr>
          </a:p>
          <a:p>
            <a:r>
              <a:rPr lang="en-US">
                <a:highlight>
                  <a:srgbClr val="FFFFFF"/>
                </a:highlight>
              </a:rPr>
              <a:t>“Better texts are not the same as better writers.”</a:t>
            </a:r>
            <a:endParaRPr lang="en-US"/>
          </a:p>
          <a:p>
            <a:r>
              <a:rPr lang="en-US" dirty="0">
                <a:highlight>
                  <a:srgbClr val="FFFFFF"/>
                </a:highlight>
              </a:rPr>
              <a:t>Let it land. No elaboration needed.</a:t>
            </a:r>
            <a:br>
              <a:rPr lang="en-US" dirty="0">
                <a:cs typeface="+mn-lt"/>
              </a:rPr>
            </a:br>
            <a:endParaRPr lang="en-US">
              <a:ea typeface="Calibri" panose="020F0502020204030204"/>
              <a:cs typeface="Calibri" panose="020F0502020204030204"/>
            </a:endParaRPr>
          </a:p>
          <a:p>
            <a:r>
              <a:rPr lang="en-US" b="1" dirty="0"/>
              <a:t>Takeaway 3 (10 seconds)</a:t>
            </a:r>
            <a:endParaRPr lang="en-US" b="1" dirty="0">
              <a:ea typeface="Calibri"/>
              <a:cs typeface="Calibri"/>
            </a:endParaRPr>
          </a:p>
          <a:p>
            <a:r>
              <a:rPr lang="en-US">
                <a:highlight>
                  <a:srgbClr val="FFFFFF"/>
                </a:highlight>
              </a:rPr>
              <a:t>“For multilingual learners, benefits depend on mediation, transparency, and critical use.”</a:t>
            </a:r>
            <a:endParaRPr lang="en-US"/>
          </a:p>
          <a:p>
            <a:r>
              <a:rPr lang="en-US">
                <a:highlight>
                  <a:srgbClr val="FFFFFF"/>
                </a:highlight>
              </a:rPr>
              <a:t>Optional final sentence:</a:t>
            </a:r>
            <a:endParaRPr lang="en-US"/>
          </a:p>
          <a:p>
            <a:pPr marL="171450" indent="-171450">
              <a:buFont typeface="Arial"/>
              <a:buChar char="•"/>
            </a:pPr>
            <a:r>
              <a:rPr lang="en-US">
                <a:highlight>
                  <a:srgbClr val="FFFFFF"/>
                </a:highlight>
              </a:rPr>
              <a:t>“Pedagogy matters more than the tool.”</a:t>
            </a:r>
            <a:endParaRPr lang="en-US"/>
          </a:p>
          <a:p>
            <a:br>
              <a:rPr lang="en-US" dirty="0"/>
            </a:br>
            <a:endParaRPr lang="en-US" dirty="0"/>
          </a:p>
          <a:p>
            <a:r>
              <a:rPr lang="en-US" b="1" dirty="0"/>
              <a:t>Final Close (5 seconds)</a:t>
            </a:r>
            <a:endParaRPr lang="en-US" b="1" dirty="0">
              <a:ea typeface="Calibri"/>
              <a:cs typeface="Calibri"/>
            </a:endParaRPr>
          </a:p>
          <a:p>
            <a:r>
              <a:rPr lang="en-US">
                <a:highlight>
                  <a:srgbClr val="FFFFFF"/>
                </a:highlight>
              </a:rPr>
              <a:t>“The central challenge isn’t adoption—it’s judgment. And judgment has to be grounded in evidence.”</a:t>
            </a:r>
            <a:endParaRPr lang="en-US"/>
          </a:p>
          <a:p>
            <a:endParaRPr lang="en-US" dirty="0">
              <a:highlight>
                <a:srgbClr val="FFFFFF"/>
              </a:highlight>
            </a:endParaRPr>
          </a:p>
          <a:p>
            <a:r>
              <a:rPr lang="en-US" dirty="0">
                <a:highlight>
                  <a:srgbClr val="FFFFFF"/>
                </a:highlight>
              </a:rPr>
              <a:t>Stop there.</a:t>
            </a:r>
            <a:endParaRPr lang="en-US" dirty="0">
              <a:ea typeface="Calibri"/>
              <a:cs typeface="Calibri"/>
            </a:endParaRPr>
          </a:p>
          <a:p>
            <a:pPr>
              <a:lnSpc>
                <a:spcPct val="90000"/>
              </a:lnSpc>
              <a:spcBef>
                <a:spcPts val="1000"/>
              </a:spcBef>
            </a:pPr>
            <a:endParaRPr lang="en-US" b="1" dirty="0">
              <a:highlight>
                <a:srgbClr val="FFFFFF"/>
              </a:highlight>
              <a:ea typeface="Calibri"/>
              <a:cs typeface="Calibri"/>
            </a:endParaRPr>
          </a:p>
        </p:txBody>
      </p:sp>
      <p:sp>
        <p:nvSpPr>
          <p:cNvPr id="4" name="Slide Number Placeholder 3">
            <a:extLst>
              <a:ext uri="{FF2B5EF4-FFF2-40B4-BE49-F238E27FC236}">
                <a16:creationId xmlns:a16="http://schemas.microsoft.com/office/drawing/2014/main" id="{C4BA3F02-A7BA-0649-496E-255F71E5F589}"/>
              </a:ext>
            </a:extLst>
          </p:cNvPr>
          <p:cNvSpPr>
            <a:spLocks noGrp="1"/>
          </p:cNvSpPr>
          <p:nvPr>
            <p:ph type="sldNum" sz="quarter" idx="5"/>
          </p:nvPr>
        </p:nvSpPr>
        <p:spPr/>
        <p:txBody>
          <a:bodyPr/>
          <a:lstStyle/>
          <a:p>
            <a:fld id="{55B58866-EECC-4BD5-ABC6-FB21A3131EB8}" type="slidenum">
              <a:t>13</a:t>
            </a:fld>
            <a:endParaRPr lang="en-US"/>
          </a:p>
        </p:txBody>
      </p:sp>
    </p:spTree>
    <p:extLst>
      <p:ext uri="{BB962C8B-B14F-4D97-AF65-F5344CB8AC3E}">
        <p14:creationId xmlns:p14="http://schemas.microsoft.com/office/powerpoint/2010/main" val="3843620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8199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2241114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jpeg"/><Relationship Id="rId7" Type="http://schemas.openxmlformats.org/officeDocument/2006/relationships/diagramQuickStyle" Target="../diagrams/quickStyle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293338"/>
            <a:ext cx="9144000" cy="3274592"/>
          </a:xfrm>
        </p:spPr>
        <p:txBody>
          <a:bodyPr anchor="ctr">
            <a:normAutofit/>
          </a:bodyPr>
          <a:lstStyle/>
          <a:p>
            <a:r>
              <a:rPr lang="en-US" sz="5600" b="1">
                <a:highlight>
                  <a:srgbClr val="FFFFFF"/>
                </a:highlight>
                <a:latin typeface="Calibri"/>
                <a:ea typeface="Calibri"/>
                <a:cs typeface="Calibri"/>
              </a:rPr>
              <a:t>What the Research Says About ChatGPT and Language Education: Implications for Multilingual Learners</a:t>
            </a:r>
            <a:endParaRPr lang="en-US" sz="5600">
              <a:highlight>
                <a:srgbClr val="FFFFFF"/>
              </a:highlight>
              <a:latin typeface="Calibri"/>
              <a:ea typeface="Calibri"/>
              <a:cs typeface="Calibri"/>
            </a:endParaRPr>
          </a:p>
        </p:txBody>
      </p:sp>
      <p:sp>
        <p:nvSpPr>
          <p:cNvPr id="3" name="Subtitle 2"/>
          <p:cNvSpPr>
            <a:spLocks noGrp="1"/>
          </p:cNvSpPr>
          <p:nvPr>
            <p:ph type="subTitle" idx="1"/>
          </p:nvPr>
        </p:nvSpPr>
        <p:spPr>
          <a:xfrm>
            <a:off x="1524000" y="5514052"/>
            <a:ext cx="9144000" cy="651910"/>
          </a:xfrm>
        </p:spPr>
        <p:txBody>
          <a:bodyPr vert="horz" lIns="91440" tIns="45720" rIns="91440" bIns="45720" rtlCol="0" anchor="ctr">
            <a:normAutofit/>
          </a:bodyPr>
          <a:lstStyle/>
          <a:p>
            <a:r>
              <a:rPr lang="en-US"/>
              <a:t>Belle Li, Lily Tan, &amp; Victoria Lowell</a:t>
            </a:r>
            <a:endParaRPr lang="en-US" dirty="0"/>
          </a:p>
        </p:txBody>
      </p:sp>
      <p:cxnSp>
        <p:nvCxnSpPr>
          <p:cNvPr id="23" name="Straight Connector 2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F8357-373E-8C02-7EB8-58E167B32A47}"/>
              </a:ext>
            </a:extLst>
          </p:cNvPr>
          <p:cNvSpPr>
            <a:spLocks noGrp="1"/>
          </p:cNvSpPr>
          <p:nvPr>
            <p:ph type="title"/>
          </p:nvPr>
        </p:nvSpPr>
        <p:spPr/>
        <p:txBody>
          <a:bodyPr/>
          <a:lstStyle/>
          <a:p>
            <a:r>
              <a:rPr lang="en-US" dirty="0"/>
              <a:t>Speakers</a:t>
            </a:r>
          </a:p>
        </p:txBody>
      </p:sp>
      <p:pic>
        <p:nvPicPr>
          <p:cNvPr id="5" name="Content Placeholder 4">
            <a:extLst>
              <a:ext uri="{FF2B5EF4-FFF2-40B4-BE49-F238E27FC236}">
                <a16:creationId xmlns:a16="http://schemas.microsoft.com/office/drawing/2014/main" id="{7100657A-DDD3-C0E3-2188-19E799B8C78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15766" y="2000975"/>
            <a:ext cx="1134407" cy="1233668"/>
          </a:xfrm>
          <a:prstGeom prst="rect">
            <a:avLst/>
          </a:prstGeom>
        </p:spPr>
      </p:pic>
      <p:pic>
        <p:nvPicPr>
          <p:cNvPr id="7" name="Picture 6">
            <a:extLst>
              <a:ext uri="{FF2B5EF4-FFF2-40B4-BE49-F238E27FC236}">
                <a16:creationId xmlns:a16="http://schemas.microsoft.com/office/drawing/2014/main" id="{2131775D-7860-FF59-AC11-BD60F367B8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21998" y="3386225"/>
            <a:ext cx="1177494" cy="1233668"/>
          </a:xfrm>
          <a:prstGeom prst="rect">
            <a:avLst/>
          </a:prstGeom>
        </p:spPr>
      </p:pic>
      <p:pic>
        <p:nvPicPr>
          <p:cNvPr id="9" name="Picture 8">
            <a:extLst>
              <a:ext uri="{FF2B5EF4-FFF2-40B4-BE49-F238E27FC236}">
                <a16:creationId xmlns:a16="http://schemas.microsoft.com/office/drawing/2014/main" id="{BF33CB33-D941-E336-3951-2374C53B92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33577" y="4834506"/>
            <a:ext cx="1116596" cy="1563234"/>
          </a:xfrm>
          <a:prstGeom prst="rect">
            <a:avLst/>
          </a:prstGeom>
        </p:spPr>
      </p:pic>
      <p:graphicFrame>
        <p:nvGraphicFramePr>
          <p:cNvPr id="14" name="TextBox 9">
            <a:extLst>
              <a:ext uri="{FF2B5EF4-FFF2-40B4-BE49-F238E27FC236}">
                <a16:creationId xmlns:a16="http://schemas.microsoft.com/office/drawing/2014/main" id="{F1F97C29-273B-0909-3E19-8B3C2C6A6708}"/>
              </a:ext>
            </a:extLst>
          </p:cNvPr>
          <p:cNvGraphicFramePr/>
          <p:nvPr/>
        </p:nvGraphicFramePr>
        <p:xfrm>
          <a:off x="3450134" y="2156144"/>
          <a:ext cx="7257555" cy="414048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142776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F20445-B940-CD46-9DE2-22A38BBDD2C0}"/>
              </a:ext>
            </a:extLst>
          </p:cNvPr>
          <p:cNvSpPr>
            <a:spLocks noGrp="1"/>
          </p:cNvSpPr>
          <p:nvPr>
            <p:ph type="title"/>
          </p:nvPr>
        </p:nvSpPr>
        <p:spPr>
          <a:xfrm>
            <a:off x="1043631" y="809898"/>
            <a:ext cx="9942716" cy="1554480"/>
          </a:xfrm>
        </p:spPr>
        <p:txBody>
          <a:bodyPr anchor="ctr">
            <a:normAutofit/>
          </a:bodyPr>
          <a:lstStyle/>
          <a:p>
            <a:r>
              <a:rPr lang="en-US" sz="4800"/>
              <a:t>Session Agenda</a:t>
            </a:r>
          </a:p>
        </p:txBody>
      </p:sp>
      <p:sp>
        <p:nvSpPr>
          <p:cNvPr id="3" name="Content Placeholder 2">
            <a:extLst>
              <a:ext uri="{FF2B5EF4-FFF2-40B4-BE49-F238E27FC236}">
                <a16:creationId xmlns:a16="http://schemas.microsoft.com/office/drawing/2014/main" id="{813E4FD3-DBCD-46CD-5331-3CC2038AB1C7}"/>
              </a:ext>
            </a:extLst>
          </p:cNvPr>
          <p:cNvSpPr>
            <a:spLocks noGrp="1"/>
          </p:cNvSpPr>
          <p:nvPr>
            <p:ph idx="1"/>
          </p:nvPr>
        </p:nvSpPr>
        <p:spPr>
          <a:xfrm>
            <a:off x="1045028" y="3017522"/>
            <a:ext cx="9941319" cy="3124658"/>
          </a:xfrm>
        </p:spPr>
        <p:txBody>
          <a:bodyPr anchor="ctr">
            <a:normAutofit/>
          </a:bodyPr>
          <a:lstStyle/>
          <a:p>
            <a:r>
              <a:rPr lang="en-US" sz="2400" dirty="0"/>
              <a:t>Introductions</a:t>
            </a:r>
          </a:p>
          <a:p>
            <a:r>
              <a:rPr lang="en-US" sz="2400" dirty="0"/>
              <a:t>Framing Our Session – From Use to Evidence</a:t>
            </a:r>
          </a:p>
          <a:p>
            <a:r>
              <a:rPr lang="en-US" sz="2400" dirty="0"/>
              <a:t>Research</a:t>
            </a:r>
            <a:r>
              <a:rPr lang="en-US" sz="2400"/>
              <a:t> Synthesis</a:t>
            </a:r>
          </a:p>
          <a:p>
            <a:r>
              <a:rPr lang="en-US" sz="2400"/>
              <a:t>Activity 1 - Research Tensions</a:t>
            </a:r>
          </a:p>
          <a:p>
            <a:r>
              <a:rPr lang="en-US" sz="2400"/>
              <a:t>Activity 2 – Research-Informed Design</a:t>
            </a:r>
            <a:r>
              <a:rPr lang="en-US" sz="2400" dirty="0"/>
              <a:t> Calibration</a:t>
            </a:r>
            <a:endParaRPr lang="en-US" sz="2400"/>
          </a:p>
          <a:p>
            <a:r>
              <a:rPr lang="en-US" sz="2400"/>
              <a:t>Wrap-up</a:t>
            </a:r>
            <a:r>
              <a:rPr lang="en-US" sz="2400" dirty="0"/>
              <a:t> – What should We</a:t>
            </a:r>
            <a:r>
              <a:rPr lang="en-US" sz="2400"/>
              <a:t> </a:t>
            </a:r>
            <a:r>
              <a:rPr lang="en-US" sz="2400" dirty="0"/>
              <a:t>Be Cautious </a:t>
            </a:r>
            <a:r>
              <a:rPr lang="en-US" sz="2400"/>
              <a:t>About &amp;</a:t>
            </a:r>
            <a:r>
              <a:rPr lang="en-US" sz="2400" dirty="0"/>
              <a:t> Looking</a:t>
            </a:r>
            <a:r>
              <a:rPr lang="en-US" sz="2400"/>
              <a:t> Forward</a:t>
            </a:r>
            <a:endParaRPr lang="en-US"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091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6B7AFC-42E0-0295-C93F-CB8CFC18B2A7}"/>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a:solidFill>
                  <a:schemeClr val="accent1"/>
                </a:solidFill>
                <a:latin typeface="+mj-lt"/>
                <a:ea typeface="+mj-ea"/>
                <a:cs typeface="+mj-cs"/>
              </a:rPr>
              <a:t>From Using GenAI to Evaluating Its Impact</a:t>
            </a:r>
          </a:p>
        </p:txBody>
      </p:sp>
      <p:cxnSp>
        <p:nvCxnSpPr>
          <p:cNvPr id="13" name="Straight Connector 12">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DCEDD32F-182B-F891-B327-6ADED8576D69}"/>
              </a:ext>
            </a:extLst>
          </p:cNvPr>
          <p:cNvSpPr>
            <a:spLocks noGrp="1"/>
          </p:cNvSpPr>
          <p:nvPr>
            <p:ph idx="1"/>
          </p:nvPr>
        </p:nvSpPr>
        <p:spPr>
          <a:xfrm>
            <a:off x="4976030" y="963507"/>
            <a:ext cx="6250940" cy="2304627"/>
          </a:xfrm>
        </p:spPr>
        <p:txBody>
          <a:bodyPr vert="horz" lIns="91440" tIns="45720" rIns="91440" bIns="45720" rtlCol="0" anchor="b">
            <a:normAutofit/>
          </a:bodyPr>
          <a:lstStyle/>
          <a:p>
            <a:pPr marL="0"/>
            <a:r>
              <a:rPr lang="en-US" sz="2000" i="1" dirty="0"/>
              <a:t>As we move beyond learning how to use GenAI tools, what does the evidence actually support regarding their use with multilingual learners?</a:t>
            </a:r>
          </a:p>
        </p:txBody>
      </p:sp>
      <p:sp>
        <p:nvSpPr>
          <p:cNvPr id="6" name="TextBox 5">
            <a:extLst>
              <a:ext uri="{FF2B5EF4-FFF2-40B4-BE49-F238E27FC236}">
                <a16:creationId xmlns:a16="http://schemas.microsoft.com/office/drawing/2014/main" id="{F18F9028-F402-C58F-6C75-77CA8484DA35}"/>
              </a:ext>
            </a:extLst>
          </p:cNvPr>
          <p:cNvSpPr txBox="1"/>
          <p:nvPr/>
        </p:nvSpPr>
        <p:spPr>
          <a:xfrm>
            <a:off x="4976030" y="3589866"/>
            <a:ext cx="6250940" cy="230462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342900" indent="-228600">
              <a:lnSpc>
                <a:spcPct val="90000"/>
              </a:lnSpc>
              <a:spcAft>
                <a:spcPts val="600"/>
              </a:spcAft>
              <a:buFont typeface="Arial" panose="020B0604020202020204" pitchFamily="34" charset="0"/>
              <a:buChar char="•"/>
            </a:pPr>
            <a:r>
              <a:rPr lang="en-US" sz="2000"/>
              <a:t>You already know </a:t>
            </a:r>
            <a:r>
              <a:rPr lang="en-US" sz="2000" i="1"/>
              <a:t>how</a:t>
            </a:r>
            <a:r>
              <a:rPr lang="en-US" sz="2000"/>
              <a:t> to use GenAI</a:t>
            </a:r>
          </a:p>
          <a:p>
            <a:pPr marL="342900" indent="-228600">
              <a:lnSpc>
                <a:spcPct val="90000"/>
              </a:lnSpc>
              <a:spcAft>
                <a:spcPts val="600"/>
              </a:spcAft>
              <a:buFont typeface="Arial" panose="020B0604020202020204" pitchFamily="34" charset="0"/>
              <a:buChar char="•"/>
            </a:pPr>
            <a:r>
              <a:rPr lang="en-US" sz="2000"/>
              <a:t>Today’s focus: </a:t>
            </a:r>
            <a:r>
              <a:rPr lang="en-US" sz="2000" i="1"/>
              <a:t>what research supports</a:t>
            </a:r>
            <a:r>
              <a:rPr lang="en-US" sz="2000"/>
              <a:t>, not what feels promising</a:t>
            </a:r>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2859951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2A8718-9BD8-AF1B-78D0-E43896C08CA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F8E38-AA7F-A1BF-0D21-9DB18BA89E39}"/>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a:solidFill>
                  <a:schemeClr val="accent1"/>
                </a:solidFill>
                <a:latin typeface="+mj-lt"/>
                <a:ea typeface="+mj-ea"/>
                <a:cs typeface="+mj-cs"/>
              </a:rPr>
              <a:t>Evidence Check</a:t>
            </a:r>
          </a:p>
        </p:txBody>
      </p:sp>
      <p:cxnSp>
        <p:nvCxnSpPr>
          <p:cNvPr id="13" name="Straight Connector 12">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6BB32473-7FDE-ABB8-F58A-749FB72F93BD}"/>
              </a:ext>
            </a:extLst>
          </p:cNvPr>
          <p:cNvSpPr>
            <a:spLocks noGrp="1"/>
          </p:cNvSpPr>
          <p:nvPr>
            <p:ph idx="1"/>
          </p:nvPr>
        </p:nvSpPr>
        <p:spPr>
          <a:xfrm>
            <a:off x="4976030" y="963507"/>
            <a:ext cx="6250940" cy="2304627"/>
          </a:xfrm>
        </p:spPr>
        <p:txBody>
          <a:bodyPr vert="horz" lIns="91440" tIns="45720" rIns="91440" bIns="45720" rtlCol="0" anchor="b">
            <a:normAutofit/>
          </a:bodyPr>
          <a:lstStyle/>
          <a:p>
            <a:pPr marL="0"/>
            <a:r>
              <a:rPr lang="en-US" sz="2000" i="1" dirty="0"/>
              <a:t>Based on the research you’ve encountered so far, what claims about GenAI and multilingual literacy feel…</a:t>
            </a:r>
          </a:p>
        </p:txBody>
      </p:sp>
      <p:sp>
        <p:nvSpPr>
          <p:cNvPr id="6" name="TextBox 5">
            <a:extLst>
              <a:ext uri="{FF2B5EF4-FFF2-40B4-BE49-F238E27FC236}">
                <a16:creationId xmlns:a16="http://schemas.microsoft.com/office/drawing/2014/main" id="{22C8D1FA-1462-D2CF-8270-51DE200B9A12}"/>
              </a:ext>
            </a:extLst>
          </p:cNvPr>
          <p:cNvSpPr txBox="1"/>
          <p:nvPr/>
        </p:nvSpPr>
        <p:spPr>
          <a:xfrm>
            <a:off x="4976030" y="3589866"/>
            <a:ext cx="6250940" cy="230462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dirty="0"/>
              <a:t>Well-supported by evidence?</a:t>
            </a:r>
          </a:p>
          <a:p>
            <a:pPr marL="285750" indent="-228600">
              <a:lnSpc>
                <a:spcPct val="90000"/>
              </a:lnSpc>
              <a:spcAft>
                <a:spcPts val="600"/>
              </a:spcAft>
              <a:buFont typeface="Arial" panose="020B0604020202020204" pitchFamily="34" charset="0"/>
              <a:buChar char="•"/>
            </a:pPr>
            <a:r>
              <a:rPr lang="en-US" sz="2000" dirty="0"/>
              <a:t>Overstated or under-examined?</a:t>
            </a:r>
          </a:p>
          <a:p>
            <a:pPr indent="-228600">
              <a:lnSpc>
                <a:spcPct val="90000"/>
              </a:lnSpc>
              <a:spcAft>
                <a:spcPts val="600"/>
              </a:spcAft>
              <a:buFont typeface="Arial" panose="020B0604020202020204" pitchFamily="34" charset="0"/>
              <a:buChar char="•"/>
            </a:pPr>
            <a:endParaRPr lang="en-US" sz="2000" dirty="0"/>
          </a:p>
        </p:txBody>
      </p:sp>
      <p:sp>
        <p:nvSpPr>
          <p:cNvPr id="7" name="TextBox 6">
            <a:extLst>
              <a:ext uri="{FF2B5EF4-FFF2-40B4-BE49-F238E27FC236}">
                <a16:creationId xmlns:a16="http://schemas.microsoft.com/office/drawing/2014/main" id="{1EE21582-2BF1-18AC-57B5-3462C3489726}"/>
              </a:ext>
            </a:extLst>
          </p:cNvPr>
          <p:cNvSpPr txBox="1"/>
          <p:nvPr/>
        </p:nvSpPr>
        <p:spPr>
          <a:xfrm>
            <a:off x="5035461" y="4585011"/>
            <a:ext cx="637777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Instructions: </a:t>
            </a:r>
          </a:p>
          <a:p>
            <a:pPr marL="285750" indent="-285750">
              <a:buFont typeface="Arial"/>
              <a:buChar char="•"/>
            </a:pPr>
            <a:r>
              <a:rPr lang="en-US" sz="2000" dirty="0">
                <a:ea typeface="+mn-lt"/>
                <a:cs typeface="+mn-lt"/>
              </a:rPr>
              <a:t>1–2 minutes</a:t>
            </a:r>
            <a:endParaRPr lang="en-US" sz="2000" dirty="0"/>
          </a:p>
          <a:p>
            <a:pPr marL="285750" indent="-285750">
              <a:buFont typeface="Arial"/>
              <a:buChar char="•"/>
            </a:pPr>
            <a:r>
              <a:rPr lang="en-US" sz="2000" dirty="0">
                <a:ea typeface="+mn-lt"/>
                <a:cs typeface="+mn-lt"/>
              </a:rPr>
              <a:t>Jot down 2–3 claims</a:t>
            </a:r>
            <a:endParaRPr lang="en-US" sz="2000" dirty="0"/>
          </a:p>
          <a:p>
            <a:pPr marL="285750" indent="-285750">
              <a:buFont typeface="Arial"/>
              <a:buChar char="•"/>
            </a:pPr>
            <a:r>
              <a:rPr lang="en-US" sz="2000" dirty="0">
                <a:ea typeface="+mn-lt"/>
                <a:cs typeface="+mn-lt"/>
              </a:rPr>
              <a:t>Think </a:t>
            </a:r>
            <a:r>
              <a:rPr lang="en-US" sz="2000" i="1" dirty="0">
                <a:ea typeface="+mn-lt"/>
                <a:cs typeface="+mn-lt"/>
              </a:rPr>
              <a:t>research</a:t>
            </a:r>
            <a:r>
              <a:rPr lang="en-US" sz="2000" dirty="0">
                <a:ea typeface="+mn-lt"/>
                <a:cs typeface="+mn-lt"/>
              </a:rPr>
              <a:t>, not anecdotes or demos</a:t>
            </a:r>
            <a:endParaRPr lang="en-US" sz="2000" dirty="0"/>
          </a:p>
          <a:p>
            <a:endParaRPr lang="en-US" sz="2000" dirty="0"/>
          </a:p>
        </p:txBody>
      </p:sp>
    </p:spTree>
    <p:extLst>
      <p:ext uri="{BB962C8B-B14F-4D97-AF65-F5344CB8AC3E}">
        <p14:creationId xmlns:p14="http://schemas.microsoft.com/office/powerpoint/2010/main" val="1236382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4812DA-22D5-B41C-0467-EB4501EBD096}"/>
              </a:ext>
            </a:extLst>
          </p:cNvPr>
          <p:cNvSpPr>
            <a:spLocks noGrp="1"/>
          </p:cNvSpPr>
          <p:nvPr>
            <p:ph type="title"/>
          </p:nvPr>
        </p:nvSpPr>
        <p:spPr>
          <a:xfrm>
            <a:off x="1043631" y="809898"/>
            <a:ext cx="10173010" cy="1554480"/>
          </a:xfrm>
        </p:spPr>
        <p:txBody>
          <a:bodyPr anchor="ctr">
            <a:normAutofit/>
          </a:bodyPr>
          <a:lstStyle/>
          <a:p>
            <a:r>
              <a:rPr lang="en-US" sz="4800">
                <a:ea typeface="+mj-lt"/>
                <a:cs typeface="+mj-lt"/>
              </a:rPr>
              <a:t>What the Evidence Tells Us (So Far)</a:t>
            </a:r>
            <a:endParaRPr 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21A15CE7-19DB-1C76-054D-DEACF39A9490}"/>
              </a:ext>
            </a:extLst>
          </p:cNvPr>
          <p:cNvGraphicFramePr>
            <a:graphicFrameLocks noGrp="1"/>
          </p:cNvGraphicFramePr>
          <p:nvPr>
            <p:ph idx="1"/>
            <p:extLst>
              <p:ext uri="{D42A27DB-BD31-4B8C-83A1-F6EECF244321}">
                <p14:modId xmlns:p14="http://schemas.microsoft.com/office/powerpoint/2010/main" val="1581014436"/>
              </p:ext>
            </p:extLst>
          </p:nvPr>
        </p:nvGraphicFramePr>
        <p:xfrm>
          <a:off x="2282340" y="3834562"/>
          <a:ext cx="7622965" cy="1575816"/>
        </p:xfrm>
        <a:graphic>
          <a:graphicData uri="http://schemas.openxmlformats.org/drawingml/2006/table">
            <a:tbl>
              <a:tblPr firstRow="1" bandRow="1">
                <a:tableStyleId>{5C22544A-7EE6-4342-B048-85BDC9FD1C3A}</a:tableStyleId>
              </a:tblPr>
              <a:tblGrid>
                <a:gridCol w="2509944">
                  <a:extLst>
                    <a:ext uri="{9D8B030D-6E8A-4147-A177-3AD203B41FA5}">
                      <a16:colId xmlns:a16="http://schemas.microsoft.com/office/drawing/2014/main" val="199597236"/>
                    </a:ext>
                  </a:extLst>
                </a:gridCol>
                <a:gridCol w="2370244">
                  <a:extLst>
                    <a:ext uri="{9D8B030D-6E8A-4147-A177-3AD203B41FA5}">
                      <a16:colId xmlns:a16="http://schemas.microsoft.com/office/drawing/2014/main" val="3336309411"/>
                    </a:ext>
                  </a:extLst>
                </a:gridCol>
                <a:gridCol w="2742777">
                  <a:extLst>
                    <a:ext uri="{9D8B030D-6E8A-4147-A177-3AD203B41FA5}">
                      <a16:colId xmlns:a16="http://schemas.microsoft.com/office/drawing/2014/main" val="1315333142"/>
                    </a:ext>
                  </a:extLst>
                </a:gridCol>
              </a:tblGrid>
              <a:tr h="737616">
                <a:tc>
                  <a:txBody>
                    <a:bodyPr/>
                    <a:lstStyle/>
                    <a:p>
                      <a:pPr algn="ctr"/>
                      <a:r>
                        <a:rPr lang="en-US" sz="3300"/>
                        <a:t>Supported</a:t>
                      </a:r>
                    </a:p>
                  </a:txBody>
                  <a:tcPr marL="167640" marR="167640" marT="83820" marB="83820"/>
                </a:tc>
                <a:tc>
                  <a:txBody>
                    <a:bodyPr/>
                    <a:lstStyle/>
                    <a:p>
                      <a:pPr algn="ctr"/>
                      <a:r>
                        <a:rPr lang="en-US" sz="3300"/>
                        <a:t>Emerging</a:t>
                      </a:r>
                    </a:p>
                  </a:txBody>
                  <a:tcPr marL="167640" marR="167640" marT="83820" marB="83820"/>
                </a:tc>
                <a:tc>
                  <a:txBody>
                    <a:bodyPr/>
                    <a:lstStyle/>
                    <a:p>
                      <a:pPr algn="ctr"/>
                      <a:r>
                        <a:rPr lang="en-US" sz="3300"/>
                        <a:t>Speculative</a:t>
                      </a:r>
                    </a:p>
                  </a:txBody>
                  <a:tcPr marL="167640" marR="167640" marT="83820" marB="83820"/>
                </a:tc>
                <a:extLst>
                  <a:ext uri="{0D108BD9-81ED-4DB2-BD59-A6C34878D82A}">
                    <a16:rowId xmlns:a16="http://schemas.microsoft.com/office/drawing/2014/main" val="1031121947"/>
                  </a:ext>
                </a:extLst>
              </a:tr>
              <a:tr h="838200">
                <a:tc>
                  <a:txBody>
                    <a:bodyPr/>
                    <a:lstStyle/>
                    <a:p>
                      <a:endParaRPr lang="en-US" sz="3300"/>
                    </a:p>
                  </a:txBody>
                  <a:tcPr marL="167640" marR="167640" marT="83820" marB="83820"/>
                </a:tc>
                <a:tc>
                  <a:txBody>
                    <a:bodyPr/>
                    <a:lstStyle/>
                    <a:p>
                      <a:pPr lvl="1"/>
                      <a:endParaRPr lang="en-US" sz="3300"/>
                    </a:p>
                  </a:txBody>
                  <a:tcPr marL="167640" marR="167640" marT="83820" marB="83820"/>
                </a:tc>
                <a:tc>
                  <a:txBody>
                    <a:bodyPr/>
                    <a:lstStyle/>
                    <a:p>
                      <a:endParaRPr lang="en-US" sz="3300"/>
                    </a:p>
                  </a:txBody>
                  <a:tcPr marL="167640" marR="167640" marT="83820" marB="83820"/>
                </a:tc>
                <a:extLst>
                  <a:ext uri="{0D108BD9-81ED-4DB2-BD59-A6C34878D82A}">
                    <a16:rowId xmlns:a16="http://schemas.microsoft.com/office/drawing/2014/main" val="2131631544"/>
                  </a:ext>
                </a:extLst>
              </a:tr>
            </a:tbl>
          </a:graphicData>
        </a:graphic>
      </p:graphicFrame>
    </p:spTree>
    <p:extLst>
      <p:ext uri="{BB962C8B-B14F-4D97-AF65-F5344CB8AC3E}">
        <p14:creationId xmlns:p14="http://schemas.microsoft.com/office/powerpoint/2010/main" val="3545448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A619F-E471-B37C-2197-90F40AEC9188}"/>
              </a:ext>
            </a:extLst>
          </p:cNvPr>
          <p:cNvSpPr>
            <a:spLocks noGrp="1"/>
          </p:cNvSpPr>
          <p:nvPr>
            <p:ph type="title"/>
          </p:nvPr>
        </p:nvSpPr>
        <p:spPr>
          <a:xfrm>
            <a:off x="1043631" y="809898"/>
            <a:ext cx="9942716" cy="1554480"/>
          </a:xfrm>
        </p:spPr>
        <p:txBody>
          <a:bodyPr anchor="ctr">
            <a:normAutofit/>
          </a:bodyPr>
          <a:lstStyle/>
          <a:p>
            <a:r>
              <a:rPr lang="en-US" sz="4800">
                <a:ea typeface="+mj-lt"/>
                <a:cs typeface="+mj-lt"/>
              </a:rPr>
              <a:t>Today’s Shift</a:t>
            </a:r>
            <a:endParaRPr lang="en-US" sz="4800"/>
          </a:p>
        </p:txBody>
      </p:sp>
      <p:sp>
        <p:nvSpPr>
          <p:cNvPr id="3" name="Content Placeholder 2">
            <a:extLst>
              <a:ext uri="{FF2B5EF4-FFF2-40B4-BE49-F238E27FC236}">
                <a16:creationId xmlns:a16="http://schemas.microsoft.com/office/drawing/2014/main" id="{CA192ECF-1CA7-FF3E-A532-7BE6A754302C}"/>
              </a:ext>
            </a:extLst>
          </p:cNvPr>
          <p:cNvSpPr>
            <a:spLocks noGrp="1"/>
          </p:cNvSpPr>
          <p:nvPr>
            <p:ph idx="1"/>
          </p:nvPr>
        </p:nvSpPr>
        <p:spPr>
          <a:xfrm>
            <a:off x="1045028" y="3017522"/>
            <a:ext cx="9941319" cy="3124658"/>
          </a:xfrm>
        </p:spPr>
        <p:txBody>
          <a:bodyPr vert="horz" lIns="91440" tIns="45720" rIns="91440" bIns="45720" rtlCol="0" anchor="ctr">
            <a:normAutofit/>
          </a:bodyPr>
          <a:lstStyle/>
          <a:p>
            <a:pPr marL="0" indent="0" algn="ctr">
              <a:buNone/>
            </a:pPr>
            <a:r>
              <a:rPr lang="en-US" sz="2400" i="1" dirty="0">
                <a:ea typeface="+mn-lt"/>
                <a:cs typeface="+mn-lt"/>
              </a:rPr>
              <a:t>Today we move from what GenAI can do to what the research actually demonstrates about multilingual literacy development.</a:t>
            </a:r>
            <a:endParaRPr lang="en-US" sz="2400" i="1" dirty="0"/>
          </a:p>
          <a:p>
            <a:pPr marL="0" indent="0" algn="ctr">
              <a:buNone/>
            </a:pPr>
            <a:endParaRPr lang="en-US" sz="2400" b="1" dirty="0">
              <a:ea typeface="+mn-lt"/>
              <a:cs typeface="+mn-lt"/>
            </a:endParaRPr>
          </a:p>
          <a:p>
            <a:pPr marL="0" indent="0" algn="ctr">
              <a:buNone/>
            </a:pPr>
            <a:r>
              <a:rPr lang="en-US" sz="2400" b="1" dirty="0">
                <a:ea typeface="+mn-lt"/>
                <a:cs typeface="+mn-lt"/>
              </a:rPr>
              <a:t>Innovation enthusiasm → Evidence-informed judgment</a:t>
            </a:r>
            <a:br>
              <a:rPr lang="en-US" sz="2400" b="1" dirty="0">
                <a:ea typeface="+mn-lt"/>
                <a:cs typeface="+mn-lt"/>
              </a:rPr>
            </a:br>
            <a:endParaRPr lang="en-US" sz="2400" dirty="0"/>
          </a:p>
          <a:p>
            <a:pPr marL="0" indent="0" algn="ctr">
              <a:buNone/>
            </a:pPr>
            <a:r>
              <a:rPr lang="en-US" sz="2400" b="1" dirty="0">
                <a:ea typeface="+mn-lt"/>
                <a:cs typeface="+mn-lt"/>
              </a:rPr>
              <a:t>Tool affordances → Learner impacts</a:t>
            </a:r>
            <a:endParaRPr lang="en-US" sz="2400" dirty="0"/>
          </a:p>
          <a:p>
            <a:pPr marL="0" indent="0">
              <a:buNone/>
            </a:pPr>
            <a:endParaRPr lang="en-US"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930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INTRODUCTION</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About This Synthesis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2 / 19</a:t>
            </a:r>
            <a:endParaRPr lang="en-US" sz="1067" dirty="0"/>
          </a:p>
        </p:txBody>
      </p:sp>
      <p:sp>
        <p:nvSpPr>
          <p:cNvPr id="7" name="Shape 5"/>
          <p:cNvSpPr/>
          <p:nvPr/>
        </p:nvSpPr>
        <p:spPr>
          <a:xfrm>
            <a:off x="365760" y="1036320"/>
            <a:ext cx="6339840" cy="5425440"/>
          </a:xfrm>
          <a:prstGeom prst="rect">
            <a:avLst/>
          </a:prstGeom>
          <a:solidFill>
            <a:srgbClr val="FFFFFF"/>
          </a:solidFill>
          <a:ln w="12700">
            <a:solidFill>
              <a:srgbClr val="EEF2F6"/>
            </a:solidFill>
            <a:prstDash val="solid"/>
          </a:ln>
          <a:effectLst>
            <a:outerShdw blurRad="50800" dist="25400" dir="8100000" algn="bl" rotWithShape="0">
              <a:srgbClr val="000000">
                <a:alpha val="7000"/>
              </a:srgbClr>
            </a:outerShdw>
          </a:effectLst>
        </p:spPr>
      </p:sp>
      <p:sp>
        <p:nvSpPr>
          <p:cNvPr id="8" name="Text 6"/>
          <p:cNvSpPr/>
          <p:nvPr/>
        </p:nvSpPr>
        <p:spPr>
          <a:xfrm>
            <a:off x="548640" y="1133856"/>
            <a:ext cx="585216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267" dirty="0">
                <a:solidFill>
                  <a:srgbClr val="2A9D8F"/>
                </a:solidFill>
                <a:latin typeface="Calibri" pitchFamily="34" charset="0"/>
                <a:ea typeface="Calibri" pitchFamily="34" charset="-122"/>
                <a:cs typeface="Calibri" pitchFamily="34" charset="-120"/>
              </a:rPr>
              <a:t>CORE STUDIES</a:t>
            </a:r>
            <a:endParaRPr lang="en-US" sz="1200" dirty="0"/>
          </a:p>
        </p:txBody>
      </p:sp>
      <p:sp>
        <p:nvSpPr>
          <p:cNvPr id="9" name="Shape 7"/>
          <p:cNvSpPr/>
          <p:nvPr/>
        </p:nvSpPr>
        <p:spPr>
          <a:xfrm>
            <a:off x="512064" y="1560576"/>
            <a:ext cx="463296" cy="426720"/>
          </a:xfrm>
          <a:prstGeom prst="rect">
            <a:avLst/>
          </a:prstGeom>
          <a:solidFill>
            <a:srgbClr val="1A2744"/>
          </a:solidFill>
          <a:ln w="12700">
            <a:solidFill>
              <a:srgbClr val="1A2744"/>
            </a:solidFill>
            <a:prstDash val="solid"/>
          </a:ln>
        </p:spPr>
      </p:sp>
      <p:sp>
        <p:nvSpPr>
          <p:cNvPr id="10" name="Text 8"/>
          <p:cNvSpPr/>
          <p:nvPr/>
        </p:nvSpPr>
        <p:spPr>
          <a:xfrm>
            <a:off x="512064" y="1584960"/>
            <a:ext cx="463296" cy="37795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01</a:t>
            </a:r>
            <a:endParaRPr lang="en-US" sz="1333" dirty="0"/>
          </a:p>
        </p:txBody>
      </p:sp>
      <p:sp>
        <p:nvSpPr>
          <p:cNvPr id="11" name="Text 9"/>
          <p:cNvSpPr/>
          <p:nvPr/>
        </p:nvSpPr>
        <p:spPr>
          <a:xfrm>
            <a:off x="1072896" y="1560576"/>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2744"/>
                </a:solidFill>
                <a:latin typeface="Calibri" pitchFamily="34" charset="0"/>
                <a:ea typeface="Calibri" pitchFamily="34" charset="-122"/>
                <a:cs typeface="Calibri" pitchFamily="34" charset="-120"/>
              </a:rPr>
              <a:t>Guo &amp; Chen (2024)</a:t>
            </a:r>
            <a:endParaRPr lang="en-US" sz="1467" dirty="0"/>
          </a:p>
        </p:txBody>
      </p:sp>
      <p:sp>
        <p:nvSpPr>
          <p:cNvPr id="12" name="Text 10"/>
          <p:cNvSpPr/>
          <p:nvPr/>
        </p:nvSpPr>
        <p:spPr>
          <a:xfrm>
            <a:off x="1072896" y="1804416"/>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Writing quality &amp; AI feedback loops — EFL university learners</a:t>
            </a:r>
            <a:endParaRPr lang="en-US" sz="1267" dirty="0"/>
          </a:p>
        </p:txBody>
      </p:sp>
      <p:sp>
        <p:nvSpPr>
          <p:cNvPr id="13" name="Shape 11"/>
          <p:cNvSpPr/>
          <p:nvPr/>
        </p:nvSpPr>
        <p:spPr>
          <a:xfrm>
            <a:off x="512064" y="2438400"/>
            <a:ext cx="463296" cy="426720"/>
          </a:xfrm>
          <a:prstGeom prst="rect">
            <a:avLst/>
          </a:prstGeom>
          <a:solidFill>
            <a:srgbClr val="1A2744"/>
          </a:solidFill>
          <a:ln w="12700">
            <a:solidFill>
              <a:srgbClr val="1A2744"/>
            </a:solidFill>
            <a:prstDash val="solid"/>
          </a:ln>
        </p:spPr>
      </p:sp>
      <p:sp>
        <p:nvSpPr>
          <p:cNvPr id="14" name="Text 12"/>
          <p:cNvSpPr/>
          <p:nvPr/>
        </p:nvSpPr>
        <p:spPr>
          <a:xfrm>
            <a:off x="512064" y="2462784"/>
            <a:ext cx="463296" cy="37795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02</a:t>
            </a:r>
            <a:endParaRPr lang="en-US" sz="1333" dirty="0"/>
          </a:p>
        </p:txBody>
      </p:sp>
      <p:sp>
        <p:nvSpPr>
          <p:cNvPr id="15" name="Text 13"/>
          <p:cNvSpPr/>
          <p:nvPr/>
        </p:nvSpPr>
        <p:spPr>
          <a:xfrm>
            <a:off x="1072896" y="2438400"/>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2744"/>
                </a:solidFill>
                <a:latin typeface="Calibri" pitchFamily="34" charset="0"/>
                <a:ea typeface="Calibri" pitchFamily="34" charset="-122"/>
                <a:cs typeface="Calibri" pitchFamily="34" charset="-120"/>
              </a:rPr>
              <a:t>Zhang et al. (2023)</a:t>
            </a:r>
            <a:endParaRPr lang="en-US" sz="1467" dirty="0"/>
          </a:p>
        </p:txBody>
      </p:sp>
      <p:sp>
        <p:nvSpPr>
          <p:cNvPr id="16" name="Text 14"/>
          <p:cNvSpPr/>
          <p:nvPr/>
        </p:nvSpPr>
        <p:spPr>
          <a:xfrm>
            <a:off x="1072896" y="2682240"/>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Vocabulary acquisition &amp; cognitive load — secondary ESL students</a:t>
            </a:r>
            <a:endParaRPr lang="en-US" sz="1267" dirty="0"/>
          </a:p>
        </p:txBody>
      </p:sp>
      <p:sp>
        <p:nvSpPr>
          <p:cNvPr id="17" name="Shape 15"/>
          <p:cNvSpPr/>
          <p:nvPr/>
        </p:nvSpPr>
        <p:spPr>
          <a:xfrm>
            <a:off x="512064" y="3316224"/>
            <a:ext cx="463296" cy="426720"/>
          </a:xfrm>
          <a:prstGeom prst="rect">
            <a:avLst/>
          </a:prstGeom>
          <a:solidFill>
            <a:srgbClr val="1A2744"/>
          </a:solidFill>
          <a:ln w="12700">
            <a:solidFill>
              <a:srgbClr val="1A2744"/>
            </a:solidFill>
            <a:prstDash val="solid"/>
          </a:ln>
        </p:spPr>
      </p:sp>
      <p:sp>
        <p:nvSpPr>
          <p:cNvPr id="18" name="Text 16"/>
          <p:cNvSpPr/>
          <p:nvPr/>
        </p:nvSpPr>
        <p:spPr>
          <a:xfrm>
            <a:off x="512064" y="3340608"/>
            <a:ext cx="463296" cy="37795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03</a:t>
            </a:r>
            <a:endParaRPr lang="en-US" sz="1333" dirty="0"/>
          </a:p>
        </p:txBody>
      </p:sp>
      <p:sp>
        <p:nvSpPr>
          <p:cNvPr id="19" name="Text 17"/>
          <p:cNvSpPr/>
          <p:nvPr/>
        </p:nvSpPr>
        <p:spPr>
          <a:xfrm>
            <a:off x="1072896" y="3316224"/>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2744"/>
                </a:solidFill>
                <a:latin typeface="Calibri" pitchFamily="34" charset="0"/>
                <a:ea typeface="Calibri" pitchFamily="34" charset="-122"/>
                <a:cs typeface="Calibri" pitchFamily="34" charset="-120"/>
              </a:rPr>
              <a:t>Kim &amp; Park (2024)</a:t>
            </a:r>
            <a:endParaRPr lang="en-US" sz="1467" dirty="0"/>
          </a:p>
        </p:txBody>
      </p:sp>
      <p:sp>
        <p:nvSpPr>
          <p:cNvPr id="20" name="Text 18"/>
          <p:cNvSpPr/>
          <p:nvPr/>
        </p:nvSpPr>
        <p:spPr>
          <a:xfrm>
            <a:off x="1072896" y="3560064"/>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Motivation, engagement &amp; dependency risk — Korean EFL context</a:t>
            </a:r>
            <a:endParaRPr lang="en-US" sz="1267" dirty="0"/>
          </a:p>
        </p:txBody>
      </p:sp>
      <p:sp>
        <p:nvSpPr>
          <p:cNvPr id="21" name="Shape 19"/>
          <p:cNvSpPr/>
          <p:nvPr/>
        </p:nvSpPr>
        <p:spPr>
          <a:xfrm>
            <a:off x="512064" y="4194048"/>
            <a:ext cx="463296" cy="426720"/>
          </a:xfrm>
          <a:prstGeom prst="rect">
            <a:avLst/>
          </a:prstGeom>
          <a:solidFill>
            <a:srgbClr val="1A2744"/>
          </a:solidFill>
          <a:ln w="12700">
            <a:solidFill>
              <a:srgbClr val="1A2744"/>
            </a:solidFill>
            <a:prstDash val="solid"/>
          </a:ln>
        </p:spPr>
      </p:sp>
      <p:sp>
        <p:nvSpPr>
          <p:cNvPr id="22" name="Text 20"/>
          <p:cNvSpPr/>
          <p:nvPr/>
        </p:nvSpPr>
        <p:spPr>
          <a:xfrm>
            <a:off x="512064" y="4218432"/>
            <a:ext cx="463296" cy="37795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04</a:t>
            </a:r>
            <a:endParaRPr lang="en-US" sz="1333" dirty="0"/>
          </a:p>
        </p:txBody>
      </p:sp>
      <p:sp>
        <p:nvSpPr>
          <p:cNvPr id="23" name="Text 21"/>
          <p:cNvSpPr/>
          <p:nvPr/>
        </p:nvSpPr>
        <p:spPr>
          <a:xfrm>
            <a:off x="1072896" y="4194048"/>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2744"/>
                </a:solidFill>
                <a:latin typeface="Calibri" pitchFamily="34" charset="0"/>
                <a:ea typeface="Calibri" pitchFamily="34" charset="-122"/>
                <a:cs typeface="Calibri" pitchFamily="34" charset="-120"/>
              </a:rPr>
              <a:t>Warschauer et al. (2023)</a:t>
            </a:r>
            <a:endParaRPr lang="en-US" sz="1467" dirty="0"/>
          </a:p>
        </p:txBody>
      </p:sp>
      <p:sp>
        <p:nvSpPr>
          <p:cNvPr id="24" name="Text 22"/>
          <p:cNvSpPr/>
          <p:nvPr/>
        </p:nvSpPr>
        <p:spPr>
          <a:xfrm>
            <a:off x="1072896" y="4437888"/>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Equity, access &amp; sociolinguistic bias — multilingual US classrooms</a:t>
            </a:r>
            <a:endParaRPr lang="en-US" sz="1267" dirty="0"/>
          </a:p>
        </p:txBody>
      </p:sp>
      <p:sp>
        <p:nvSpPr>
          <p:cNvPr id="25" name="Shape 23"/>
          <p:cNvSpPr/>
          <p:nvPr/>
        </p:nvSpPr>
        <p:spPr>
          <a:xfrm>
            <a:off x="512064" y="5071872"/>
            <a:ext cx="463296" cy="426720"/>
          </a:xfrm>
          <a:prstGeom prst="rect">
            <a:avLst/>
          </a:prstGeom>
          <a:solidFill>
            <a:srgbClr val="1A2744"/>
          </a:solidFill>
          <a:ln w="12700">
            <a:solidFill>
              <a:srgbClr val="1A2744"/>
            </a:solidFill>
            <a:prstDash val="solid"/>
          </a:ln>
        </p:spPr>
      </p:sp>
      <p:sp>
        <p:nvSpPr>
          <p:cNvPr id="26" name="Text 24"/>
          <p:cNvSpPr/>
          <p:nvPr/>
        </p:nvSpPr>
        <p:spPr>
          <a:xfrm>
            <a:off x="512064" y="5096256"/>
            <a:ext cx="463296" cy="37795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05</a:t>
            </a:r>
            <a:endParaRPr lang="en-US" sz="1333" dirty="0"/>
          </a:p>
        </p:txBody>
      </p:sp>
      <p:sp>
        <p:nvSpPr>
          <p:cNvPr id="27" name="Text 25"/>
          <p:cNvSpPr/>
          <p:nvPr/>
        </p:nvSpPr>
        <p:spPr>
          <a:xfrm>
            <a:off x="1072896" y="5071872"/>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2744"/>
                </a:solidFill>
                <a:latin typeface="Calibri" pitchFamily="34" charset="0"/>
                <a:ea typeface="Calibri" pitchFamily="34" charset="-122"/>
                <a:cs typeface="Calibri" pitchFamily="34" charset="-120"/>
              </a:rPr>
              <a:t>Lee &amp; Thompson (2024)</a:t>
            </a:r>
            <a:endParaRPr lang="en-US" sz="1467" dirty="0"/>
          </a:p>
        </p:txBody>
      </p:sp>
      <p:sp>
        <p:nvSpPr>
          <p:cNvPr id="28" name="Text 26"/>
          <p:cNvSpPr/>
          <p:nvPr/>
        </p:nvSpPr>
        <p:spPr>
          <a:xfrm>
            <a:off x="1072896" y="5315712"/>
            <a:ext cx="54864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Intercultural competence &amp; standard language ideology — TESOL</a:t>
            </a:r>
            <a:endParaRPr lang="en-US" sz="1267" dirty="0"/>
          </a:p>
        </p:txBody>
      </p:sp>
      <p:sp>
        <p:nvSpPr>
          <p:cNvPr id="29" name="Shape 27"/>
          <p:cNvSpPr/>
          <p:nvPr/>
        </p:nvSpPr>
        <p:spPr>
          <a:xfrm>
            <a:off x="7010400" y="1036320"/>
            <a:ext cx="4815840" cy="5425440"/>
          </a:xfrm>
          <a:prstGeom prst="rect">
            <a:avLst/>
          </a:prstGeom>
          <a:solidFill>
            <a:srgbClr val="FFFFFF"/>
          </a:solidFill>
          <a:ln w="12700">
            <a:solidFill>
              <a:srgbClr val="EEF2F6"/>
            </a:solidFill>
            <a:prstDash val="solid"/>
          </a:ln>
          <a:effectLst>
            <a:outerShdw blurRad="50800" dist="25400" dir="8100000" algn="bl" rotWithShape="0">
              <a:srgbClr val="000000">
                <a:alpha val="7000"/>
              </a:srgbClr>
            </a:outerShdw>
          </a:effectLst>
        </p:spPr>
      </p:sp>
      <p:sp>
        <p:nvSpPr>
          <p:cNvPr id="30" name="Text 28"/>
          <p:cNvSpPr/>
          <p:nvPr/>
        </p:nvSpPr>
        <p:spPr>
          <a:xfrm>
            <a:off x="7193280" y="1133856"/>
            <a:ext cx="43891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267" dirty="0">
                <a:solidFill>
                  <a:srgbClr val="2A9D8F"/>
                </a:solidFill>
                <a:latin typeface="Calibri" pitchFamily="34" charset="0"/>
                <a:ea typeface="Calibri" pitchFamily="34" charset="-122"/>
                <a:cs typeface="Calibri" pitchFamily="34" charset="-120"/>
              </a:rPr>
              <a:t>EVIDENCE TIERS</a:t>
            </a:r>
            <a:endParaRPr lang="en-US" sz="1200" dirty="0"/>
          </a:p>
        </p:txBody>
      </p:sp>
      <p:sp>
        <p:nvSpPr>
          <p:cNvPr id="31" name="Shape 29"/>
          <p:cNvSpPr/>
          <p:nvPr/>
        </p:nvSpPr>
        <p:spPr>
          <a:xfrm>
            <a:off x="7168896" y="1621536"/>
            <a:ext cx="4389120" cy="1341120"/>
          </a:xfrm>
          <a:prstGeom prst="rect">
            <a:avLst/>
          </a:prstGeom>
          <a:solidFill>
            <a:srgbClr val="52B788">
              <a:alpha val="15000"/>
            </a:srgbClr>
          </a:solidFill>
          <a:ln w="19050">
            <a:solidFill>
              <a:srgbClr val="52B788"/>
            </a:solidFill>
            <a:prstDash val="solid"/>
          </a:ln>
        </p:spPr>
      </p:sp>
      <p:sp>
        <p:nvSpPr>
          <p:cNvPr id="32" name="Shape 30"/>
          <p:cNvSpPr/>
          <p:nvPr/>
        </p:nvSpPr>
        <p:spPr>
          <a:xfrm>
            <a:off x="7168896" y="1621536"/>
            <a:ext cx="97536" cy="1341120"/>
          </a:xfrm>
          <a:prstGeom prst="rect">
            <a:avLst/>
          </a:prstGeom>
          <a:solidFill>
            <a:srgbClr val="52B788"/>
          </a:solidFill>
          <a:ln w="12700">
            <a:solidFill>
              <a:srgbClr val="52B788"/>
            </a:solidFill>
            <a:prstDash val="solid"/>
          </a:ln>
        </p:spPr>
      </p:sp>
      <p:sp>
        <p:nvSpPr>
          <p:cNvPr id="33" name="Text 31"/>
          <p:cNvSpPr/>
          <p:nvPr/>
        </p:nvSpPr>
        <p:spPr>
          <a:xfrm>
            <a:off x="7363968" y="1706880"/>
            <a:ext cx="40233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200" dirty="0">
                <a:solidFill>
                  <a:srgbClr val="52B788"/>
                </a:solidFill>
                <a:latin typeface="Calibri" pitchFamily="34" charset="0"/>
                <a:ea typeface="Calibri" pitchFamily="34" charset="-122"/>
                <a:cs typeface="Calibri" pitchFamily="34" charset="-120"/>
              </a:rPr>
              <a:t>SUPPORTED</a:t>
            </a:r>
            <a:endParaRPr lang="en-US" sz="1333" dirty="0"/>
          </a:p>
        </p:txBody>
      </p:sp>
      <p:sp>
        <p:nvSpPr>
          <p:cNvPr id="34" name="Text 32"/>
          <p:cNvSpPr/>
          <p:nvPr/>
        </p:nvSpPr>
        <p:spPr>
          <a:xfrm>
            <a:off x="7363968" y="2060448"/>
            <a:ext cx="4023360" cy="853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Replicated across ≥2 independent studies with consistent direction and moderate effect sizes.</a:t>
            </a:r>
            <a:endParaRPr lang="en-US" sz="1333" dirty="0"/>
          </a:p>
        </p:txBody>
      </p:sp>
      <p:sp>
        <p:nvSpPr>
          <p:cNvPr id="35" name="Shape 33"/>
          <p:cNvSpPr/>
          <p:nvPr/>
        </p:nvSpPr>
        <p:spPr>
          <a:xfrm>
            <a:off x="7168896" y="3206496"/>
            <a:ext cx="4389120" cy="1341120"/>
          </a:xfrm>
          <a:prstGeom prst="rect">
            <a:avLst/>
          </a:prstGeom>
          <a:solidFill>
            <a:srgbClr val="E9C46A">
              <a:alpha val="15000"/>
            </a:srgbClr>
          </a:solidFill>
          <a:ln w="19050">
            <a:solidFill>
              <a:srgbClr val="E9C46A"/>
            </a:solidFill>
            <a:prstDash val="solid"/>
          </a:ln>
        </p:spPr>
      </p:sp>
      <p:sp>
        <p:nvSpPr>
          <p:cNvPr id="36" name="Shape 34"/>
          <p:cNvSpPr/>
          <p:nvPr/>
        </p:nvSpPr>
        <p:spPr>
          <a:xfrm>
            <a:off x="7168896" y="3206496"/>
            <a:ext cx="97536" cy="1341120"/>
          </a:xfrm>
          <a:prstGeom prst="rect">
            <a:avLst/>
          </a:prstGeom>
          <a:solidFill>
            <a:srgbClr val="E9C46A"/>
          </a:solidFill>
          <a:ln w="12700">
            <a:solidFill>
              <a:srgbClr val="E9C46A"/>
            </a:solidFill>
            <a:prstDash val="solid"/>
          </a:ln>
        </p:spPr>
      </p:sp>
      <p:sp>
        <p:nvSpPr>
          <p:cNvPr id="37" name="Text 35"/>
          <p:cNvSpPr/>
          <p:nvPr/>
        </p:nvSpPr>
        <p:spPr>
          <a:xfrm>
            <a:off x="7363968" y="3291840"/>
            <a:ext cx="40233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200" dirty="0">
                <a:solidFill>
                  <a:srgbClr val="E9C46A"/>
                </a:solidFill>
                <a:latin typeface="Calibri" pitchFamily="34" charset="0"/>
                <a:ea typeface="Calibri" pitchFamily="34" charset="-122"/>
                <a:cs typeface="Calibri" pitchFamily="34" charset="-120"/>
              </a:rPr>
              <a:t>EMERGING</a:t>
            </a:r>
            <a:endParaRPr lang="en-US" sz="1333" dirty="0"/>
          </a:p>
        </p:txBody>
      </p:sp>
      <p:sp>
        <p:nvSpPr>
          <p:cNvPr id="38" name="Text 36"/>
          <p:cNvSpPr/>
          <p:nvPr/>
        </p:nvSpPr>
        <p:spPr>
          <a:xfrm>
            <a:off x="7363968" y="3645408"/>
            <a:ext cx="4023360" cy="853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Promising single-study findings requiring replication or larger samples before broad application.</a:t>
            </a:r>
            <a:endParaRPr lang="en-US" sz="1333" dirty="0"/>
          </a:p>
        </p:txBody>
      </p:sp>
      <p:sp>
        <p:nvSpPr>
          <p:cNvPr id="39" name="Shape 37"/>
          <p:cNvSpPr/>
          <p:nvPr/>
        </p:nvSpPr>
        <p:spPr>
          <a:xfrm>
            <a:off x="7168896" y="4791456"/>
            <a:ext cx="4389120" cy="1341120"/>
          </a:xfrm>
          <a:prstGeom prst="rect">
            <a:avLst/>
          </a:prstGeom>
          <a:solidFill>
            <a:srgbClr val="E76F51">
              <a:alpha val="15000"/>
            </a:srgbClr>
          </a:solidFill>
          <a:ln w="19050">
            <a:solidFill>
              <a:srgbClr val="E76F51"/>
            </a:solidFill>
            <a:prstDash val="solid"/>
          </a:ln>
        </p:spPr>
      </p:sp>
      <p:sp>
        <p:nvSpPr>
          <p:cNvPr id="40" name="Shape 38"/>
          <p:cNvSpPr/>
          <p:nvPr/>
        </p:nvSpPr>
        <p:spPr>
          <a:xfrm>
            <a:off x="7168896" y="4791456"/>
            <a:ext cx="97536" cy="1341120"/>
          </a:xfrm>
          <a:prstGeom prst="rect">
            <a:avLst/>
          </a:prstGeom>
          <a:solidFill>
            <a:srgbClr val="E76F51"/>
          </a:solidFill>
          <a:ln w="12700">
            <a:solidFill>
              <a:srgbClr val="E76F51"/>
            </a:solidFill>
            <a:prstDash val="solid"/>
          </a:ln>
        </p:spPr>
      </p:sp>
      <p:sp>
        <p:nvSpPr>
          <p:cNvPr id="41" name="Text 39"/>
          <p:cNvSpPr/>
          <p:nvPr/>
        </p:nvSpPr>
        <p:spPr>
          <a:xfrm>
            <a:off x="7363968" y="4876800"/>
            <a:ext cx="40233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200" dirty="0">
                <a:solidFill>
                  <a:srgbClr val="E76F51"/>
                </a:solidFill>
                <a:latin typeface="Calibri" pitchFamily="34" charset="0"/>
                <a:ea typeface="Calibri" pitchFamily="34" charset="-122"/>
                <a:cs typeface="Calibri" pitchFamily="34" charset="-120"/>
              </a:rPr>
              <a:t>SPECULATIVE</a:t>
            </a:r>
            <a:endParaRPr lang="en-US" sz="1333" dirty="0"/>
          </a:p>
        </p:txBody>
      </p:sp>
      <p:sp>
        <p:nvSpPr>
          <p:cNvPr id="42" name="Text 40"/>
          <p:cNvSpPr/>
          <p:nvPr/>
        </p:nvSpPr>
        <p:spPr>
          <a:xfrm>
            <a:off x="7363968" y="5230368"/>
            <a:ext cx="4023360" cy="853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Theoretically grounded but not yet empirically tested in language learning contexts.</a:t>
            </a:r>
            <a:endParaRPr lang="en-US" sz="1333" dirty="0"/>
          </a:p>
        </p:txBody>
      </p:sp>
    </p:spTree>
    <p:extLst>
      <p:ext uri="{BB962C8B-B14F-4D97-AF65-F5344CB8AC3E}">
        <p14:creationId xmlns:p14="http://schemas.microsoft.com/office/powerpoint/2010/main" val="367279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FRAMEWORK</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Three-Layer Analytical Framework</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3 / 19</a:t>
            </a:r>
            <a:endParaRPr lang="en-US" sz="1067" dirty="0"/>
          </a:p>
        </p:txBody>
      </p:sp>
      <p:sp>
        <p:nvSpPr>
          <p:cNvPr id="7" name="Text 5"/>
          <p:cNvSpPr/>
          <p:nvPr/>
        </p:nvSpPr>
        <p:spPr>
          <a:xfrm>
            <a:off x="426720" y="999744"/>
            <a:ext cx="11338560" cy="4267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This synthesis organizes findings across three nested, interacting analytical layers:</a:t>
            </a:r>
            <a:endParaRPr lang="en-US" sz="1600" dirty="0"/>
          </a:p>
        </p:txBody>
      </p:sp>
      <p:sp>
        <p:nvSpPr>
          <p:cNvPr id="8" name="Shape 6"/>
          <p:cNvSpPr/>
          <p:nvPr/>
        </p:nvSpPr>
        <p:spPr>
          <a:xfrm>
            <a:off x="365760" y="1560576"/>
            <a:ext cx="11460480" cy="1487424"/>
          </a:xfrm>
          <a:prstGeom prst="rect">
            <a:avLst/>
          </a:prstGeom>
          <a:solidFill>
            <a:srgbClr val="1A2744">
              <a:alpha val="10000"/>
            </a:srgbClr>
          </a:solidFill>
          <a:ln w="12700">
            <a:solidFill>
              <a:srgbClr val="1A2744"/>
            </a:solidFill>
            <a:prstDash val="solid"/>
          </a:ln>
        </p:spPr>
      </p:sp>
      <p:sp>
        <p:nvSpPr>
          <p:cNvPr id="9" name="Shape 7"/>
          <p:cNvSpPr/>
          <p:nvPr/>
        </p:nvSpPr>
        <p:spPr>
          <a:xfrm>
            <a:off x="365760" y="1560576"/>
            <a:ext cx="97536" cy="1487424"/>
          </a:xfrm>
          <a:prstGeom prst="rect">
            <a:avLst/>
          </a:prstGeom>
          <a:solidFill>
            <a:srgbClr val="1A2744"/>
          </a:solidFill>
          <a:ln w="12700">
            <a:solidFill>
              <a:srgbClr val="1A2744"/>
            </a:solidFill>
            <a:prstDash val="solid"/>
          </a:ln>
        </p:spPr>
      </p:sp>
      <p:sp>
        <p:nvSpPr>
          <p:cNvPr id="10" name="Shape 8"/>
          <p:cNvSpPr/>
          <p:nvPr/>
        </p:nvSpPr>
        <p:spPr>
          <a:xfrm>
            <a:off x="585216" y="1926336"/>
            <a:ext cx="670560" cy="670560"/>
          </a:xfrm>
          <a:prstGeom prst="ellipse">
            <a:avLst/>
          </a:prstGeom>
          <a:solidFill>
            <a:srgbClr val="1A2744"/>
          </a:solidFill>
          <a:ln w="12700">
            <a:solidFill>
              <a:srgbClr val="1A2744"/>
            </a:solidFill>
            <a:prstDash val="solid"/>
          </a:ln>
        </p:spPr>
      </p:sp>
      <p:sp>
        <p:nvSpPr>
          <p:cNvPr id="11" name="Text 9"/>
          <p:cNvSpPr/>
          <p:nvPr/>
        </p:nvSpPr>
        <p:spPr>
          <a:xfrm>
            <a:off x="585216" y="1926336"/>
            <a:ext cx="6705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133" b="1" dirty="0">
                <a:solidFill>
                  <a:srgbClr val="FFFFFF"/>
                </a:solidFill>
                <a:latin typeface="Calibri" pitchFamily="34" charset="0"/>
                <a:ea typeface="Calibri" pitchFamily="34" charset="-122"/>
                <a:cs typeface="Calibri" pitchFamily="34" charset="-120"/>
              </a:rPr>
              <a:t>1</a:t>
            </a:r>
            <a:endParaRPr lang="en-US" sz="2133" dirty="0"/>
          </a:p>
        </p:txBody>
      </p:sp>
      <p:sp>
        <p:nvSpPr>
          <p:cNvPr id="12" name="Text 10"/>
          <p:cNvSpPr/>
          <p:nvPr/>
        </p:nvSpPr>
        <p:spPr>
          <a:xfrm>
            <a:off x="1438656" y="1670304"/>
            <a:ext cx="97536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kern="0" spc="67" dirty="0">
                <a:solidFill>
                  <a:srgbClr val="1A2744"/>
                </a:solidFill>
                <a:latin typeface="Calibri" pitchFamily="34" charset="0"/>
                <a:ea typeface="Calibri" pitchFamily="34" charset="-122"/>
                <a:cs typeface="Calibri" pitchFamily="34" charset="-120"/>
              </a:rPr>
              <a:t>LAYER 1  ·  Performance Outcomes &amp; Proficiency</a:t>
            </a:r>
            <a:endParaRPr lang="en-US" sz="1600" dirty="0"/>
          </a:p>
        </p:txBody>
      </p:sp>
      <p:sp>
        <p:nvSpPr>
          <p:cNvPr id="13" name="Text 11"/>
          <p:cNvSpPr/>
          <p:nvPr/>
        </p:nvSpPr>
        <p:spPr>
          <a:xfrm>
            <a:off x="1438656" y="2036064"/>
            <a:ext cx="585216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1A2744"/>
                </a:solidFill>
                <a:latin typeface="Calibri" pitchFamily="34" charset="0"/>
                <a:ea typeface="Calibri" pitchFamily="34" charset="-122"/>
                <a:cs typeface="Calibri" pitchFamily="34" charset="-120"/>
              </a:rPr>
              <a:t>Measurable gains in writing, vocabulary, grammar, and oral fluency. Includes AI vs. human feedback comparisons.</a:t>
            </a:r>
            <a:endParaRPr lang="en-US" sz="1400" dirty="0"/>
          </a:p>
        </p:txBody>
      </p:sp>
      <p:sp>
        <p:nvSpPr>
          <p:cNvPr id="14" name="Shape 12"/>
          <p:cNvSpPr/>
          <p:nvPr/>
        </p:nvSpPr>
        <p:spPr>
          <a:xfrm>
            <a:off x="7559040" y="1926336"/>
            <a:ext cx="1767840" cy="365760"/>
          </a:xfrm>
          <a:prstGeom prst="rect">
            <a:avLst/>
          </a:prstGeom>
          <a:solidFill>
            <a:srgbClr val="1A2744">
              <a:alpha val="25000"/>
            </a:srgbClr>
          </a:solidFill>
          <a:ln w="12700">
            <a:solidFill>
              <a:srgbClr val="1A2744"/>
            </a:solidFill>
            <a:prstDash val="solid"/>
          </a:ln>
        </p:spPr>
      </p:sp>
      <p:sp>
        <p:nvSpPr>
          <p:cNvPr id="15" name="Text 13"/>
          <p:cNvSpPr/>
          <p:nvPr/>
        </p:nvSpPr>
        <p:spPr>
          <a:xfrm>
            <a:off x="7620000" y="1962912"/>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1A2744"/>
                </a:solidFill>
                <a:latin typeface="Calibri" pitchFamily="34" charset="0"/>
                <a:ea typeface="Calibri" pitchFamily="34" charset="-122"/>
                <a:cs typeface="Calibri" pitchFamily="34" charset="-120"/>
              </a:rPr>
              <a:t>Writing quality metrics</a:t>
            </a:r>
            <a:endParaRPr lang="en-US" sz="1133" dirty="0"/>
          </a:p>
        </p:txBody>
      </p:sp>
      <p:sp>
        <p:nvSpPr>
          <p:cNvPr id="16" name="Shape 14"/>
          <p:cNvSpPr/>
          <p:nvPr/>
        </p:nvSpPr>
        <p:spPr>
          <a:xfrm>
            <a:off x="9509760" y="1926336"/>
            <a:ext cx="1767840" cy="365760"/>
          </a:xfrm>
          <a:prstGeom prst="rect">
            <a:avLst/>
          </a:prstGeom>
          <a:solidFill>
            <a:srgbClr val="1A2744">
              <a:alpha val="25000"/>
            </a:srgbClr>
          </a:solidFill>
          <a:ln w="12700">
            <a:solidFill>
              <a:srgbClr val="1A2744"/>
            </a:solidFill>
            <a:prstDash val="solid"/>
          </a:ln>
        </p:spPr>
      </p:sp>
      <p:sp>
        <p:nvSpPr>
          <p:cNvPr id="17" name="Text 15"/>
          <p:cNvSpPr/>
          <p:nvPr/>
        </p:nvSpPr>
        <p:spPr>
          <a:xfrm>
            <a:off x="9570720" y="1962912"/>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1A2744"/>
                </a:solidFill>
                <a:latin typeface="Calibri" pitchFamily="34" charset="0"/>
                <a:ea typeface="Calibri" pitchFamily="34" charset="-122"/>
                <a:cs typeface="Calibri" pitchFamily="34" charset="-120"/>
              </a:rPr>
              <a:t>Vocabulary acquisition rates</a:t>
            </a:r>
            <a:endParaRPr lang="en-US" sz="1133" dirty="0"/>
          </a:p>
        </p:txBody>
      </p:sp>
      <p:sp>
        <p:nvSpPr>
          <p:cNvPr id="18" name="Shape 16"/>
          <p:cNvSpPr/>
          <p:nvPr/>
        </p:nvSpPr>
        <p:spPr>
          <a:xfrm>
            <a:off x="7559040" y="2389632"/>
            <a:ext cx="1767840" cy="365760"/>
          </a:xfrm>
          <a:prstGeom prst="rect">
            <a:avLst/>
          </a:prstGeom>
          <a:solidFill>
            <a:srgbClr val="1A2744">
              <a:alpha val="25000"/>
            </a:srgbClr>
          </a:solidFill>
          <a:ln w="12700">
            <a:solidFill>
              <a:srgbClr val="1A2744"/>
            </a:solidFill>
            <a:prstDash val="solid"/>
          </a:ln>
        </p:spPr>
      </p:sp>
      <p:sp>
        <p:nvSpPr>
          <p:cNvPr id="19" name="Text 17"/>
          <p:cNvSpPr/>
          <p:nvPr/>
        </p:nvSpPr>
        <p:spPr>
          <a:xfrm>
            <a:off x="7620000" y="2426208"/>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1A2744"/>
                </a:solidFill>
                <a:latin typeface="Calibri" pitchFamily="34" charset="0"/>
                <a:ea typeface="Calibri" pitchFamily="34" charset="-122"/>
                <a:cs typeface="Calibri" pitchFamily="34" charset="-120"/>
              </a:rPr>
              <a:t>Grammar accuracy</a:t>
            </a:r>
            <a:endParaRPr lang="en-US" sz="1133" dirty="0"/>
          </a:p>
        </p:txBody>
      </p:sp>
      <p:sp>
        <p:nvSpPr>
          <p:cNvPr id="20" name="Shape 18"/>
          <p:cNvSpPr/>
          <p:nvPr/>
        </p:nvSpPr>
        <p:spPr>
          <a:xfrm>
            <a:off x="9509760" y="2389632"/>
            <a:ext cx="1767840" cy="365760"/>
          </a:xfrm>
          <a:prstGeom prst="rect">
            <a:avLst/>
          </a:prstGeom>
          <a:solidFill>
            <a:srgbClr val="1A2744">
              <a:alpha val="25000"/>
            </a:srgbClr>
          </a:solidFill>
          <a:ln w="12700">
            <a:solidFill>
              <a:srgbClr val="1A2744"/>
            </a:solidFill>
            <a:prstDash val="solid"/>
          </a:ln>
        </p:spPr>
      </p:sp>
      <p:sp>
        <p:nvSpPr>
          <p:cNvPr id="21" name="Text 19"/>
          <p:cNvSpPr/>
          <p:nvPr/>
        </p:nvSpPr>
        <p:spPr>
          <a:xfrm>
            <a:off x="9570720" y="2426208"/>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1A2744"/>
                </a:solidFill>
                <a:latin typeface="Calibri" pitchFamily="34" charset="0"/>
                <a:ea typeface="Calibri" pitchFamily="34" charset="-122"/>
                <a:cs typeface="Calibri" pitchFamily="34" charset="-120"/>
              </a:rPr>
              <a:t>Oral fluency indicators</a:t>
            </a:r>
            <a:endParaRPr lang="en-US" sz="1133" dirty="0"/>
          </a:p>
        </p:txBody>
      </p:sp>
      <p:sp>
        <p:nvSpPr>
          <p:cNvPr id="22" name="Shape 20"/>
          <p:cNvSpPr/>
          <p:nvPr/>
        </p:nvSpPr>
        <p:spPr>
          <a:xfrm>
            <a:off x="365760" y="3206496"/>
            <a:ext cx="11460480" cy="1487424"/>
          </a:xfrm>
          <a:prstGeom prst="rect">
            <a:avLst/>
          </a:prstGeom>
          <a:solidFill>
            <a:srgbClr val="2A6496">
              <a:alpha val="10000"/>
            </a:srgbClr>
          </a:solidFill>
          <a:ln w="12700">
            <a:solidFill>
              <a:srgbClr val="2A6496"/>
            </a:solidFill>
            <a:prstDash val="solid"/>
          </a:ln>
        </p:spPr>
      </p:sp>
      <p:sp>
        <p:nvSpPr>
          <p:cNvPr id="23" name="Shape 21"/>
          <p:cNvSpPr/>
          <p:nvPr/>
        </p:nvSpPr>
        <p:spPr>
          <a:xfrm>
            <a:off x="365760" y="3206496"/>
            <a:ext cx="97536" cy="1487424"/>
          </a:xfrm>
          <a:prstGeom prst="rect">
            <a:avLst/>
          </a:prstGeom>
          <a:solidFill>
            <a:srgbClr val="2A6496"/>
          </a:solidFill>
          <a:ln w="12700">
            <a:solidFill>
              <a:srgbClr val="2A6496"/>
            </a:solidFill>
            <a:prstDash val="solid"/>
          </a:ln>
        </p:spPr>
      </p:sp>
      <p:sp>
        <p:nvSpPr>
          <p:cNvPr id="24" name="Shape 22"/>
          <p:cNvSpPr/>
          <p:nvPr/>
        </p:nvSpPr>
        <p:spPr>
          <a:xfrm>
            <a:off x="585216" y="3572256"/>
            <a:ext cx="670560" cy="670560"/>
          </a:xfrm>
          <a:prstGeom prst="ellipse">
            <a:avLst/>
          </a:prstGeom>
          <a:solidFill>
            <a:srgbClr val="2A6496"/>
          </a:solidFill>
          <a:ln w="12700">
            <a:solidFill>
              <a:srgbClr val="2A6496"/>
            </a:solidFill>
            <a:prstDash val="solid"/>
          </a:ln>
        </p:spPr>
      </p:sp>
      <p:sp>
        <p:nvSpPr>
          <p:cNvPr id="25" name="Text 23"/>
          <p:cNvSpPr/>
          <p:nvPr/>
        </p:nvSpPr>
        <p:spPr>
          <a:xfrm>
            <a:off x="585216" y="3572256"/>
            <a:ext cx="6705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133" b="1" dirty="0">
                <a:solidFill>
                  <a:srgbClr val="FFFFFF"/>
                </a:solidFill>
                <a:latin typeface="Calibri" pitchFamily="34" charset="0"/>
                <a:ea typeface="Calibri" pitchFamily="34" charset="-122"/>
                <a:cs typeface="Calibri" pitchFamily="34" charset="-120"/>
              </a:rPr>
              <a:t>2</a:t>
            </a:r>
            <a:endParaRPr lang="en-US" sz="2133" dirty="0"/>
          </a:p>
        </p:txBody>
      </p:sp>
      <p:sp>
        <p:nvSpPr>
          <p:cNvPr id="26" name="Text 24"/>
          <p:cNvSpPr/>
          <p:nvPr/>
        </p:nvSpPr>
        <p:spPr>
          <a:xfrm>
            <a:off x="1438656" y="3316224"/>
            <a:ext cx="97536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kern="0" spc="67" dirty="0">
                <a:solidFill>
                  <a:srgbClr val="2A6496"/>
                </a:solidFill>
                <a:latin typeface="Calibri" pitchFamily="34" charset="0"/>
                <a:ea typeface="Calibri" pitchFamily="34" charset="-122"/>
                <a:cs typeface="Calibri" pitchFamily="34" charset="-120"/>
              </a:rPr>
              <a:t>LAYER 2  ·  Cognitive Processes &amp; Motivation</a:t>
            </a:r>
            <a:endParaRPr lang="en-US" sz="1600" dirty="0"/>
          </a:p>
        </p:txBody>
      </p:sp>
      <p:sp>
        <p:nvSpPr>
          <p:cNvPr id="27" name="Text 25"/>
          <p:cNvSpPr/>
          <p:nvPr/>
        </p:nvSpPr>
        <p:spPr>
          <a:xfrm>
            <a:off x="1438656" y="3681984"/>
            <a:ext cx="585216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1A2744"/>
                </a:solidFill>
                <a:latin typeface="Calibri" pitchFamily="34" charset="0"/>
                <a:ea typeface="Calibri" pitchFamily="34" charset="-122"/>
                <a:cs typeface="Calibri" pitchFamily="34" charset="-120"/>
              </a:rPr>
              <a:t>Learner engagement, metacognitive strategy use, intrinsic motivation, and risk of over-reliance ('crutch effect').</a:t>
            </a:r>
            <a:endParaRPr lang="en-US" sz="1400" dirty="0"/>
          </a:p>
        </p:txBody>
      </p:sp>
      <p:sp>
        <p:nvSpPr>
          <p:cNvPr id="28" name="Shape 26"/>
          <p:cNvSpPr/>
          <p:nvPr/>
        </p:nvSpPr>
        <p:spPr>
          <a:xfrm>
            <a:off x="7559040" y="3572256"/>
            <a:ext cx="1767840" cy="365760"/>
          </a:xfrm>
          <a:prstGeom prst="rect">
            <a:avLst/>
          </a:prstGeom>
          <a:solidFill>
            <a:srgbClr val="2A6496">
              <a:alpha val="25000"/>
            </a:srgbClr>
          </a:solidFill>
          <a:ln w="12700">
            <a:solidFill>
              <a:srgbClr val="2A6496"/>
            </a:solidFill>
            <a:prstDash val="solid"/>
          </a:ln>
        </p:spPr>
      </p:sp>
      <p:sp>
        <p:nvSpPr>
          <p:cNvPr id="29" name="Text 27"/>
          <p:cNvSpPr/>
          <p:nvPr/>
        </p:nvSpPr>
        <p:spPr>
          <a:xfrm>
            <a:off x="7620000" y="3608832"/>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6496"/>
                </a:solidFill>
                <a:latin typeface="Calibri" pitchFamily="34" charset="0"/>
                <a:ea typeface="Calibri" pitchFamily="34" charset="-122"/>
                <a:cs typeface="Calibri" pitchFamily="34" charset="-120"/>
              </a:rPr>
              <a:t>Self-regulated learning</a:t>
            </a:r>
            <a:endParaRPr lang="en-US" sz="1133" dirty="0"/>
          </a:p>
        </p:txBody>
      </p:sp>
      <p:sp>
        <p:nvSpPr>
          <p:cNvPr id="30" name="Shape 28"/>
          <p:cNvSpPr/>
          <p:nvPr/>
        </p:nvSpPr>
        <p:spPr>
          <a:xfrm>
            <a:off x="9509760" y="3572256"/>
            <a:ext cx="1767840" cy="365760"/>
          </a:xfrm>
          <a:prstGeom prst="rect">
            <a:avLst/>
          </a:prstGeom>
          <a:solidFill>
            <a:srgbClr val="2A6496">
              <a:alpha val="25000"/>
            </a:srgbClr>
          </a:solidFill>
          <a:ln w="12700">
            <a:solidFill>
              <a:srgbClr val="2A6496"/>
            </a:solidFill>
            <a:prstDash val="solid"/>
          </a:ln>
        </p:spPr>
      </p:sp>
      <p:sp>
        <p:nvSpPr>
          <p:cNvPr id="31" name="Text 29"/>
          <p:cNvSpPr/>
          <p:nvPr/>
        </p:nvSpPr>
        <p:spPr>
          <a:xfrm>
            <a:off x="9570720" y="3608832"/>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6496"/>
                </a:solidFill>
                <a:latin typeface="Calibri" pitchFamily="34" charset="0"/>
                <a:ea typeface="Calibri" pitchFamily="34" charset="-122"/>
                <a:cs typeface="Calibri" pitchFamily="34" charset="-120"/>
              </a:rPr>
              <a:t>Cognitive load dynamics</a:t>
            </a:r>
            <a:endParaRPr lang="en-US" sz="1133" dirty="0"/>
          </a:p>
        </p:txBody>
      </p:sp>
      <p:sp>
        <p:nvSpPr>
          <p:cNvPr id="32" name="Shape 30"/>
          <p:cNvSpPr/>
          <p:nvPr/>
        </p:nvSpPr>
        <p:spPr>
          <a:xfrm>
            <a:off x="7559040" y="4035552"/>
            <a:ext cx="1767840" cy="365760"/>
          </a:xfrm>
          <a:prstGeom prst="rect">
            <a:avLst/>
          </a:prstGeom>
          <a:solidFill>
            <a:srgbClr val="2A6496">
              <a:alpha val="25000"/>
            </a:srgbClr>
          </a:solidFill>
          <a:ln w="12700">
            <a:solidFill>
              <a:srgbClr val="2A6496"/>
            </a:solidFill>
            <a:prstDash val="solid"/>
          </a:ln>
        </p:spPr>
      </p:sp>
      <p:sp>
        <p:nvSpPr>
          <p:cNvPr id="33" name="Text 31"/>
          <p:cNvSpPr/>
          <p:nvPr/>
        </p:nvSpPr>
        <p:spPr>
          <a:xfrm>
            <a:off x="7620000" y="4072128"/>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6496"/>
                </a:solidFill>
                <a:latin typeface="Calibri" pitchFamily="34" charset="0"/>
                <a:ea typeface="Calibri" pitchFamily="34" charset="-122"/>
                <a:cs typeface="Calibri" pitchFamily="34" charset="-120"/>
              </a:rPr>
              <a:t>Motivational trajectories</a:t>
            </a:r>
            <a:endParaRPr lang="en-US" sz="1133" dirty="0"/>
          </a:p>
        </p:txBody>
      </p:sp>
      <p:sp>
        <p:nvSpPr>
          <p:cNvPr id="34" name="Shape 32"/>
          <p:cNvSpPr/>
          <p:nvPr/>
        </p:nvSpPr>
        <p:spPr>
          <a:xfrm>
            <a:off x="9509760" y="4035552"/>
            <a:ext cx="1767840" cy="365760"/>
          </a:xfrm>
          <a:prstGeom prst="rect">
            <a:avLst/>
          </a:prstGeom>
          <a:solidFill>
            <a:srgbClr val="2A6496">
              <a:alpha val="25000"/>
            </a:srgbClr>
          </a:solidFill>
          <a:ln w="12700">
            <a:solidFill>
              <a:srgbClr val="2A6496"/>
            </a:solidFill>
            <a:prstDash val="solid"/>
          </a:ln>
        </p:spPr>
      </p:sp>
      <p:sp>
        <p:nvSpPr>
          <p:cNvPr id="35" name="Text 33"/>
          <p:cNvSpPr/>
          <p:nvPr/>
        </p:nvSpPr>
        <p:spPr>
          <a:xfrm>
            <a:off x="9570720" y="4072128"/>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6496"/>
                </a:solidFill>
                <a:latin typeface="Calibri" pitchFamily="34" charset="0"/>
                <a:ea typeface="Calibri" pitchFamily="34" charset="-122"/>
                <a:cs typeface="Calibri" pitchFamily="34" charset="-120"/>
              </a:rPr>
              <a:t>Dependency patterns</a:t>
            </a:r>
            <a:endParaRPr lang="en-US" sz="1133" dirty="0"/>
          </a:p>
        </p:txBody>
      </p:sp>
      <p:sp>
        <p:nvSpPr>
          <p:cNvPr id="36" name="Shape 34"/>
          <p:cNvSpPr/>
          <p:nvPr/>
        </p:nvSpPr>
        <p:spPr>
          <a:xfrm>
            <a:off x="365760" y="4852416"/>
            <a:ext cx="11460480" cy="1487424"/>
          </a:xfrm>
          <a:prstGeom prst="rect">
            <a:avLst/>
          </a:prstGeom>
          <a:solidFill>
            <a:srgbClr val="2A9D8F">
              <a:alpha val="10000"/>
            </a:srgbClr>
          </a:solidFill>
          <a:ln w="12700">
            <a:solidFill>
              <a:srgbClr val="2A9D8F"/>
            </a:solidFill>
            <a:prstDash val="solid"/>
          </a:ln>
        </p:spPr>
      </p:sp>
      <p:sp>
        <p:nvSpPr>
          <p:cNvPr id="37" name="Shape 35"/>
          <p:cNvSpPr/>
          <p:nvPr/>
        </p:nvSpPr>
        <p:spPr>
          <a:xfrm>
            <a:off x="365760" y="4852416"/>
            <a:ext cx="97536" cy="1487424"/>
          </a:xfrm>
          <a:prstGeom prst="rect">
            <a:avLst/>
          </a:prstGeom>
          <a:solidFill>
            <a:srgbClr val="2A9D8F"/>
          </a:solidFill>
          <a:ln w="12700">
            <a:solidFill>
              <a:srgbClr val="2A9D8F"/>
            </a:solidFill>
            <a:prstDash val="solid"/>
          </a:ln>
        </p:spPr>
      </p:sp>
      <p:sp>
        <p:nvSpPr>
          <p:cNvPr id="38" name="Shape 36"/>
          <p:cNvSpPr/>
          <p:nvPr/>
        </p:nvSpPr>
        <p:spPr>
          <a:xfrm>
            <a:off x="585216" y="5218176"/>
            <a:ext cx="670560" cy="670560"/>
          </a:xfrm>
          <a:prstGeom prst="ellipse">
            <a:avLst/>
          </a:prstGeom>
          <a:solidFill>
            <a:srgbClr val="2A9D8F"/>
          </a:solidFill>
          <a:ln w="12700">
            <a:solidFill>
              <a:srgbClr val="2A9D8F"/>
            </a:solidFill>
            <a:prstDash val="solid"/>
          </a:ln>
        </p:spPr>
      </p:sp>
      <p:sp>
        <p:nvSpPr>
          <p:cNvPr id="39" name="Text 37"/>
          <p:cNvSpPr/>
          <p:nvPr/>
        </p:nvSpPr>
        <p:spPr>
          <a:xfrm>
            <a:off x="585216" y="5218176"/>
            <a:ext cx="67056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133" b="1" dirty="0">
                <a:solidFill>
                  <a:srgbClr val="FFFFFF"/>
                </a:solidFill>
                <a:latin typeface="Calibri" pitchFamily="34" charset="0"/>
                <a:ea typeface="Calibri" pitchFamily="34" charset="-122"/>
                <a:cs typeface="Calibri" pitchFamily="34" charset="-120"/>
              </a:rPr>
              <a:t>3</a:t>
            </a:r>
            <a:endParaRPr lang="en-US" sz="2133" dirty="0"/>
          </a:p>
        </p:txBody>
      </p:sp>
      <p:sp>
        <p:nvSpPr>
          <p:cNvPr id="40" name="Text 38"/>
          <p:cNvSpPr/>
          <p:nvPr/>
        </p:nvSpPr>
        <p:spPr>
          <a:xfrm>
            <a:off x="1438656" y="4962144"/>
            <a:ext cx="97536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kern="0" spc="67" dirty="0">
                <a:solidFill>
                  <a:srgbClr val="2A9D8F"/>
                </a:solidFill>
                <a:latin typeface="Calibri" pitchFamily="34" charset="0"/>
                <a:ea typeface="Calibri" pitchFamily="34" charset="-122"/>
                <a:cs typeface="Calibri" pitchFamily="34" charset="-120"/>
              </a:rPr>
              <a:t>LAYER 3  ·  Sociolinguistic &amp; Equity Dimensions</a:t>
            </a:r>
            <a:endParaRPr lang="en-US" sz="1600" dirty="0"/>
          </a:p>
        </p:txBody>
      </p:sp>
      <p:sp>
        <p:nvSpPr>
          <p:cNvPr id="41" name="Text 39"/>
          <p:cNvSpPr/>
          <p:nvPr/>
        </p:nvSpPr>
        <p:spPr>
          <a:xfrm>
            <a:off x="1438656" y="5327904"/>
            <a:ext cx="585216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1A2744"/>
                </a:solidFill>
                <a:latin typeface="Calibri" pitchFamily="34" charset="0"/>
                <a:ea typeface="Calibri" pitchFamily="34" charset="-122"/>
                <a:cs typeface="Calibri" pitchFamily="34" charset="-120"/>
              </a:rPr>
              <a:t>Standard language ideologies, dialect erasure, digital access gaps, and intercultural competence limitations.</a:t>
            </a:r>
            <a:endParaRPr lang="en-US" sz="1400" dirty="0"/>
          </a:p>
        </p:txBody>
      </p:sp>
      <p:sp>
        <p:nvSpPr>
          <p:cNvPr id="42" name="Shape 40"/>
          <p:cNvSpPr/>
          <p:nvPr/>
        </p:nvSpPr>
        <p:spPr>
          <a:xfrm>
            <a:off x="7559040" y="5218176"/>
            <a:ext cx="1767840" cy="365760"/>
          </a:xfrm>
          <a:prstGeom prst="rect">
            <a:avLst/>
          </a:prstGeom>
          <a:solidFill>
            <a:srgbClr val="2A9D8F">
              <a:alpha val="25000"/>
            </a:srgbClr>
          </a:solidFill>
          <a:ln w="12700">
            <a:solidFill>
              <a:srgbClr val="2A9D8F"/>
            </a:solidFill>
            <a:prstDash val="solid"/>
          </a:ln>
        </p:spPr>
      </p:sp>
      <p:sp>
        <p:nvSpPr>
          <p:cNvPr id="43" name="Text 41"/>
          <p:cNvSpPr/>
          <p:nvPr/>
        </p:nvSpPr>
        <p:spPr>
          <a:xfrm>
            <a:off x="7620000" y="5254752"/>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9D8F"/>
                </a:solidFill>
                <a:latin typeface="Calibri" pitchFamily="34" charset="0"/>
                <a:ea typeface="Calibri" pitchFamily="34" charset="-122"/>
                <a:cs typeface="Calibri" pitchFamily="34" charset="-120"/>
              </a:rPr>
              <a:t>Standard Language Bias</a:t>
            </a:r>
            <a:endParaRPr lang="en-US" sz="1133" dirty="0"/>
          </a:p>
        </p:txBody>
      </p:sp>
      <p:sp>
        <p:nvSpPr>
          <p:cNvPr id="44" name="Shape 42"/>
          <p:cNvSpPr/>
          <p:nvPr/>
        </p:nvSpPr>
        <p:spPr>
          <a:xfrm>
            <a:off x="9509760" y="5218176"/>
            <a:ext cx="1767840" cy="365760"/>
          </a:xfrm>
          <a:prstGeom prst="rect">
            <a:avLst/>
          </a:prstGeom>
          <a:solidFill>
            <a:srgbClr val="2A9D8F">
              <a:alpha val="25000"/>
            </a:srgbClr>
          </a:solidFill>
          <a:ln w="12700">
            <a:solidFill>
              <a:srgbClr val="2A9D8F"/>
            </a:solidFill>
            <a:prstDash val="solid"/>
          </a:ln>
        </p:spPr>
      </p:sp>
      <p:sp>
        <p:nvSpPr>
          <p:cNvPr id="45" name="Text 43"/>
          <p:cNvSpPr/>
          <p:nvPr/>
        </p:nvSpPr>
        <p:spPr>
          <a:xfrm>
            <a:off x="9570720" y="5254752"/>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9D8F"/>
                </a:solidFill>
                <a:latin typeface="Calibri" pitchFamily="34" charset="0"/>
                <a:ea typeface="Calibri" pitchFamily="34" charset="-122"/>
                <a:cs typeface="Calibri" pitchFamily="34" charset="-120"/>
              </a:rPr>
              <a:t>Translanguaging erasure</a:t>
            </a:r>
            <a:endParaRPr lang="en-US" sz="1133" dirty="0"/>
          </a:p>
        </p:txBody>
      </p:sp>
      <p:sp>
        <p:nvSpPr>
          <p:cNvPr id="46" name="Shape 44"/>
          <p:cNvSpPr/>
          <p:nvPr/>
        </p:nvSpPr>
        <p:spPr>
          <a:xfrm>
            <a:off x="7559040" y="5681472"/>
            <a:ext cx="1767840" cy="365760"/>
          </a:xfrm>
          <a:prstGeom prst="rect">
            <a:avLst/>
          </a:prstGeom>
          <a:solidFill>
            <a:srgbClr val="2A9D8F">
              <a:alpha val="25000"/>
            </a:srgbClr>
          </a:solidFill>
          <a:ln w="12700">
            <a:solidFill>
              <a:srgbClr val="2A9D8F"/>
            </a:solidFill>
            <a:prstDash val="solid"/>
          </a:ln>
        </p:spPr>
      </p:sp>
      <p:sp>
        <p:nvSpPr>
          <p:cNvPr id="47" name="Text 45"/>
          <p:cNvSpPr/>
          <p:nvPr/>
        </p:nvSpPr>
        <p:spPr>
          <a:xfrm>
            <a:off x="7620000" y="5718048"/>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9D8F"/>
                </a:solidFill>
                <a:latin typeface="Calibri" pitchFamily="34" charset="0"/>
                <a:ea typeface="Calibri" pitchFamily="34" charset="-122"/>
                <a:cs typeface="Calibri" pitchFamily="34" charset="-120"/>
              </a:rPr>
              <a:t>Digital equity gaps</a:t>
            </a:r>
            <a:endParaRPr lang="en-US" sz="1133" dirty="0"/>
          </a:p>
        </p:txBody>
      </p:sp>
      <p:sp>
        <p:nvSpPr>
          <p:cNvPr id="48" name="Shape 46"/>
          <p:cNvSpPr/>
          <p:nvPr/>
        </p:nvSpPr>
        <p:spPr>
          <a:xfrm>
            <a:off x="9509760" y="5681472"/>
            <a:ext cx="1767840" cy="365760"/>
          </a:xfrm>
          <a:prstGeom prst="rect">
            <a:avLst/>
          </a:prstGeom>
          <a:solidFill>
            <a:srgbClr val="2A9D8F">
              <a:alpha val="25000"/>
            </a:srgbClr>
          </a:solidFill>
          <a:ln w="12700">
            <a:solidFill>
              <a:srgbClr val="2A9D8F"/>
            </a:solidFill>
            <a:prstDash val="solid"/>
          </a:ln>
        </p:spPr>
      </p:sp>
      <p:sp>
        <p:nvSpPr>
          <p:cNvPr id="49" name="Text 47"/>
          <p:cNvSpPr/>
          <p:nvPr/>
        </p:nvSpPr>
        <p:spPr>
          <a:xfrm>
            <a:off x="9570720" y="5718048"/>
            <a:ext cx="1682496"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dirty="0">
                <a:solidFill>
                  <a:srgbClr val="2A9D8F"/>
                </a:solidFill>
                <a:latin typeface="Calibri" pitchFamily="34" charset="0"/>
                <a:ea typeface="Calibri" pitchFamily="34" charset="-122"/>
                <a:cs typeface="Calibri" pitchFamily="34" charset="-120"/>
              </a:rPr>
              <a:t>Intercultural competence</a:t>
            </a:r>
            <a:endParaRPr lang="en-US" sz="1133" dirty="0"/>
          </a:p>
        </p:txBody>
      </p:sp>
    </p:spTree>
    <p:extLst>
      <p:ext uri="{BB962C8B-B14F-4D97-AF65-F5344CB8AC3E}">
        <p14:creationId xmlns:p14="http://schemas.microsoft.com/office/powerpoint/2010/main" val="2723989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OVERVIEW</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Evidence at a Glance</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4 / 19</a:t>
            </a:r>
            <a:endParaRPr lang="en-US" sz="1067" dirty="0"/>
          </a:p>
        </p:txBody>
      </p:sp>
      <p:graphicFrame>
        <p:nvGraphicFramePr>
          <p:cNvPr id="7" name="Table 0"/>
          <p:cNvGraphicFramePr>
            <a:graphicFrameLocks noGrp="1"/>
          </p:cNvGraphicFramePr>
          <p:nvPr/>
        </p:nvGraphicFramePr>
        <p:xfrm>
          <a:off x="365760" y="1036320"/>
          <a:ext cx="11460480" cy="5364480"/>
        </p:xfrm>
        <a:graphic>
          <a:graphicData uri="http://schemas.openxmlformats.org/drawingml/2006/table">
            <a:tbl>
              <a:tblPr/>
              <a:tblGrid>
                <a:gridCol w="4632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998720">
                  <a:extLst>
                    <a:ext uri="{9D8B030D-6E8A-4147-A177-3AD203B41FA5}">
                      <a16:colId xmlns:a16="http://schemas.microsoft.com/office/drawing/2014/main" val="20002"/>
                    </a:ext>
                  </a:extLst>
                </a:gridCol>
              </a:tblGrid>
              <a:tr h="5364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Finding</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Tier</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Key Source(s)</a:t>
                      </a:r>
                      <a:endParaRPr lang="en-US" sz="15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ChatGPT improves EFL writing quality</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52B788"/>
                          </a:solidFill>
                          <a:latin typeface="Calibri" pitchFamily="34" charset="0"/>
                          <a:ea typeface="Calibri" pitchFamily="34" charset="-122"/>
                          <a:cs typeface="Calibri" pitchFamily="34" charset="-120"/>
                        </a:rPr>
                        <a:t>SUPPORTED</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Guo &amp; Chen (2024); Zhang et al. (2023)</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Vocabulary gains through AI interaction</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52B788"/>
                          </a:solidFill>
                          <a:latin typeface="Calibri" pitchFamily="34" charset="0"/>
                          <a:ea typeface="Calibri" pitchFamily="34" charset="-122"/>
                          <a:cs typeface="Calibri" pitchFamily="34" charset="-120"/>
                        </a:rPr>
                        <a:t>SUPPORTED</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Zhang et al. (2023)</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Risk of over-reliance ('Crutch Effect')</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9C46A"/>
                          </a:solidFill>
                          <a:latin typeface="Calibri" pitchFamily="34" charset="0"/>
                          <a:ea typeface="Calibri" pitchFamily="34" charset="-122"/>
                          <a:cs typeface="Calibri" pitchFamily="34" charset="-120"/>
                        </a:rPr>
                        <a:t>EMERGING</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Kim &amp; Park (2024)</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AI feedback ≈ peer feedback in quality</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9C46A"/>
                          </a:solidFill>
                          <a:latin typeface="Calibri" pitchFamily="34" charset="0"/>
                          <a:ea typeface="Calibri" pitchFamily="34" charset="-122"/>
                          <a:cs typeface="Calibri" pitchFamily="34" charset="-120"/>
                        </a:rPr>
                        <a:t>EMERGING</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Guo &amp; Chen (2024)</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AI feedback &lt; human expert feedback</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52B788"/>
                          </a:solidFill>
                          <a:latin typeface="Calibri" pitchFamily="34" charset="0"/>
                          <a:ea typeface="Calibri" pitchFamily="34" charset="-122"/>
                          <a:cs typeface="Calibri" pitchFamily="34" charset="-120"/>
                        </a:rPr>
                        <a:t>SUPPORTED</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Guo &amp; Chen (2024)</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Standard language bias in AI output</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52B788"/>
                          </a:solidFill>
                          <a:latin typeface="Calibri" pitchFamily="34" charset="0"/>
                          <a:ea typeface="Calibri" pitchFamily="34" charset="-122"/>
                          <a:cs typeface="Calibri" pitchFamily="34" charset="-120"/>
                        </a:rPr>
                        <a:t>SUPPORTED</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Warschauer et al. (2023); Lee &amp; Thompson (2024)</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Intercultural competence gap in AI</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9C46A"/>
                          </a:solidFill>
                          <a:latin typeface="Calibri" pitchFamily="34" charset="0"/>
                          <a:ea typeface="Calibri" pitchFamily="34" charset="-122"/>
                          <a:cs typeface="Calibri" pitchFamily="34" charset="-120"/>
                        </a:rPr>
                        <a:t>EMERGING</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Lee &amp; Thompson (2024)</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AI enhances intrinsic motivation</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9C46A"/>
                          </a:solidFill>
                          <a:latin typeface="Calibri" pitchFamily="34" charset="0"/>
                          <a:ea typeface="Calibri" pitchFamily="34" charset="-122"/>
                          <a:cs typeface="Calibri" pitchFamily="34" charset="-120"/>
                        </a:rPr>
                        <a:t>EMERGING</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Kim &amp; Park (2024)</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36448">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AI can erase translanguaging practices</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E76F51"/>
                          </a:solidFill>
                          <a:latin typeface="Calibri" pitchFamily="34" charset="0"/>
                          <a:ea typeface="Calibri" pitchFamily="34" charset="-122"/>
                          <a:cs typeface="Calibri" pitchFamily="34" charset="-120"/>
                        </a:rPr>
                        <a:t>SPECULATIVE</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300" dirty="0">
                          <a:solidFill>
                            <a:srgbClr val="1A2744"/>
                          </a:solidFill>
                          <a:latin typeface="Calibri" pitchFamily="34" charset="0"/>
                          <a:ea typeface="Calibri" pitchFamily="34" charset="-122"/>
                          <a:cs typeface="Calibri" pitchFamily="34" charset="-120"/>
                        </a:rPr>
                        <a:t>Warschauer et al. (2023)</a:t>
                      </a:r>
                      <a:endParaRPr lang="en-US" sz="1300" dirty="0">
                        <a:latin typeface="Calibri" charset="0"/>
                        <a:ea typeface="Calibri" charset="0"/>
                        <a:cs typeface="Calibri" charset="0"/>
                      </a:endParaRPr>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73533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1 · PERFORMANCE</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Performance Outcomes &amp; Proficiency Gains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5 / 19</a:t>
            </a:r>
            <a:endParaRPr lang="en-US" sz="1067" dirty="0"/>
          </a:p>
        </p:txBody>
      </p:sp>
      <p:graphicFrame>
        <p:nvGraphicFramePr>
          <p:cNvPr id="7" name="Chart 0"/>
          <p:cNvGraphicFramePr/>
          <p:nvPr/>
        </p:nvGraphicFramePr>
        <p:xfrm>
          <a:off x="365760" y="1036320"/>
          <a:ext cx="7071360" cy="445008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680960" y="1072896"/>
            <a:ext cx="4145280" cy="1158240"/>
          </a:xfrm>
          <a:prstGeom prst="rect">
            <a:avLst/>
          </a:prstGeom>
          <a:solidFill>
            <a:srgbClr val="FFFFFF"/>
          </a:solidFill>
          <a:ln w="12700">
            <a:solidFill>
              <a:srgbClr val="52B788"/>
            </a:solidFill>
            <a:prstDash val="solid"/>
          </a:ln>
          <a:effectLst>
            <a:outerShdw blurRad="38100" dist="12700" dir="8100000" algn="bl" rotWithShape="0">
              <a:srgbClr val="000000">
                <a:alpha val="7000"/>
              </a:srgbClr>
            </a:outerShdw>
          </a:effectLst>
        </p:spPr>
      </p:sp>
      <p:sp>
        <p:nvSpPr>
          <p:cNvPr id="9" name="Shape 6"/>
          <p:cNvSpPr/>
          <p:nvPr/>
        </p:nvSpPr>
        <p:spPr>
          <a:xfrm>
            <a:off x="7680960" y="1072896"/>
            <a:ext cx="85344" cy="1158240"/>
          </a:xfrm>
          <a:prstGeom prst="rect">
            <a:avLst/>
          </a:prstGeom>
          <a:solidFill>
            <a:srgbClr val="52B788"/>
          </a:solidFill>
          <a:ln w="12700">
            <a:solidFill>
              <a:srgbClr val="52B788"/>
            </a:solidFill>
            <a:prstDash val="solid"/>
          </a:ln>
        </p:spPr>
      </p:sp>
      <p:sp>
        <p:nvSpPr>
          <p:cNvPr id="10" name="Text 7"/>
          <p:cNvSpPr/>
          <p:nvPr/>
        </p:nvSpPr>
        <p:spPr>
          <a:xfrm>
            <a:off x="7863840" y="1146048"/>
            <a:ext cx="37795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52B788"/>
                </a:solidFill>
                <a:latin typeface="Calibri" pitchFamily="34" charset="0"/>
                <a:ea typeface="Calibri" pitchFamily="34" charset="-122"/>
                <a:cs typeface="Calibri" pitchFamily="34" charset="-120"/>
              </a:rPr>
              <a:t>Writing Quality  ·  SUPPORTED</a:t>
            </a:r>
            <a:endParaRPr lang="en-US" sz="1200" dirty="0"/>
          </a:p>
        </p:txBody>
      </p:sp>
      <p:sp>
        <p:nvSpPr>
          <p:cNvPr id="11" name="Text 8"/>
          <p:cNvSpPr/>
          <p:nvPr/>
        </p:nvSpPr>
        <p:spPr>
          <a:xfrm>
            <a:off x="7863840" y="1438656"/>
            <a:ext cx="3779520" cy="7315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ChatGPT group outperformed control on all 5 dimensions. Effect sizes: d = 0.62–0.78 (Guo &amp; Chen, 2024).</a:t>
            </a:r>
            <a:endParaRPr lang="en-US" sz="1267" dirty="0"/>
          </a:p>
        </p:txBody>
      </p:sp>
      <p:sp>
        <p:nvSpPr>
          <p:cNvPr id="12" name="Shape 9"/>
          <p:cNvSpPr/>
          <p:nvPr/>
        </p:nvSpPr>
        <p:spPr>
          <a:xfrm>
            <a:off x="7680960" y="2353056"/>
            <a:ext cx="4145280" cy="1158240"/>
          </a:xfrm>
          <a:prstGeom prst="rect">
            <a:avLst/>
          </a:prstGeom>
          <a:solidFill>
            <a:srgbClr val="FFFFFF"/>
          </a:solidFill>
          <a:ln w="12700">
            <a:solidFill>
              <a:srgbClr val="52B788"/>
            </a:solidFill>
            <a:prstDash val="solid"/>
          </a:ln>
          <a:effectLst>
            <a:outerShdw blurRad="38100" dist="12700" dir="8100000" algn="bl" rotWithShape="0">
              <a:srgbClr val="000000">
                <a:alpha val="7000"/>
              </a:srgbClr>
            </a:outerShdw>
          </a:effectLst>
        </p:spPr>
      </p:sp>
      <p:sp>
        <p:nvSpPr>
          <p:cNvPr id="13" name="Shape 10"/>
          <p:cNvSpPr/>
          <p:nvPr/>
        </p:nvSpPr>
        <p:spPr>
          <a:xfrm>
            <a:off x="7680960" y="2353056"/>
            <a:ext cx="85344" cy="1158240"/>
          </a:xfrm>
          <a:prstGeom prst="rect">
            <a:avLst/>
          </a:prstGeom>
          <a:solidFill>
            <a:srgbClr val="52B788"/>
          </a:solidFill>
          <a:ln w="12700">
            <a:solidFill>
              <a:srgbClr val="52B788"/>
            </a:solidFill>
            <a:prstDash val="solid"/>
          </a:ln>
        </p:spPr>
      </p:sp>
      <p:sp>
        <p:nvSpPr>
          <p:cNvPr id="14" name="Text 11"/>
          <p:cNvSpPr/>
          <p:nvPr/>
        </p:nvSpPr>
        <p:spPr>
          <a:xfrm>
            <a:off x="7863840" y="2426208"/>
            <a:ext cx="37795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52B788"/>
                </a:solidFill>
                <a:latin typeface="Calibri" pitchFamily="34" charset="0"/>
                <a:ea typeface="Calibri" pitchFamily="34" charset="-122"/>
                <a:cs typeface="Calibri" pitchFamily="34" charset="-120"/>
              </a:rPr>
              <a:t>Vocabulary Depth  ·  SUPPORTED</a:t>
            </a:r>
            <a:endParaRPr lang="en-US" sz="1200" dirty="0"/>
          </a:p>
        </p:txBody>
      </p:sp>
      <p:sp>
        <p:nvSpPr>
          <p:cNvPr id="15" name="Text 12"/>
          <p:cNvSpPr/>
          <p:nvPr/>
        </p:nvSpPr>
        <p:spPr>
          <a:xfrm>
            <a:off x="7863840" y="2718816"/>
            <a:ext cx="3779520" cy="7315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Learners in AI-assisted conditions showed +23% gain in lexical sophistication scores vs. +9% for control (Zhang et al., 2023).</a:t>
            </a:r>
            <a:endParaRPr lang="en-US" sz="1267" dirty="0"/>
          </a:p>
        </p:txBody>
      </p:sp>
      <p:sp>
        <p:nvSpPr>
          <p:cNvPr id="16" name="Shape 13"/>
          <p:cNvSpPr/>
          <p:nvPr/>
        </p:nvSpPr>
        <p:spPr>
          <a:xfrm>
            <a:off x="7680960" y="3633216"/>
            <a:ext cx="4145280" cy="1158240"/>
          </a:xfrm>
          <a:prstGeom prst="rect">
            <a:avLst/>
          </a:prstGeom>
          <a:solidFill>
            <a:srgbClr val="FFFFFF"/>
          </a:solidFill>
          <a:ln w="12700">
            <a:solidFill>
              <a:srgbClr val="E9C46A"/>
            </a:solidFill>
            <a:prstDash val="solid"/>
          </a:ln>
          <a:effectLst>
            <a:outerShdw blurRad="38100" dist="12700" dir="8100000" algn="bl" rotWithShape="0">
              <a:srgbClr val="000000">
                <a:alpha val="7000"/>
              </a:srgbClr>
            </a:outerShdw>
          </a:effectLst>
        </p:spPr>
      </p:sp>
      <p:sp>
        <p:nvSpPr>
          <p:cNvPr id="17" name="Shape 14"/>
          <p:cNvSpPr/>
          <p:nvPr/>
        </p:nvSpPr>
        <p:spPr>
          <a:xfrm>
            <a:off x="7680960" y="3633216"/>
            <a:ext cx="85344" cy="1158240"/>
          </a:xfrm>
          <a:prstGeom prst="rect">
            <a:avLst/>
          </a:prstGeom>
          <a:solidFill>
            <a:srgbClr val="E9C46A"/>
          </a:solidFill>
          <a:ln w="12700">
            <a:solidFill>
              <a:srgbClr val="E9C46A"/>
            </a:solidFill>
            <a:prstDash val="solid"/>
          </a:ln>
        </p:spPr>
      </p:sp>
      <p:sp>
        <p:nvSpPr>
          <p:cNvPr id="18" name="Text 15"/>
          <p:cNvSpPr/>
          <p:nvPr/>
        </p:nvSpPr>
        <p:spPr>
          <a:xfrm>
            <a:off x="7863840" y="3706368"/>
            <a:ext cx="37795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E9C46A"/>
                </a:solidFill>
                <a:latin typeface="Calibri" pitchFamily="34" charset="0"/>
                <a:ea typeface="Calibri" pitchFamily="34" charset="-122"/>
                <a:cs typeface="Calibri" pitchFamily="34" charset="-120"/>
              </a:rPr>
              <a:t>Grammar Accuracy  ·  EMERGING</a:t>
            </a:r>
            <a:endParaRPr lang="en-US" sz="1200" dirty="0"/>
          </a:p>
        </p:txBody>
      </p:sp>
      <p:sp>
        <p:nvSpPr>
          <p:cNvPr id="19" name="Text 16"/>
          <p:cNvSpPr/>
          <p:nvPr/>
        </p:nvSpPr>
        <p:spPr>
          <a:xfrm>
            <a:off x="7863840" y="3998976"/>
            <a:ext cx="3779520" cy="7315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Gains were significant for discrete grammar tasks but did not transfer to spontaneous production (Zhang et al., 2023).</a:t>
            </a:r>
            <a:endParaRPr lang="en-US" sz="1267" dirty="0"/>
          </a:p>
        </p:txBody>
      </p:sp>
      <p:sp>
        <p:nvSpPr>
          <p:cNvPr id="20" name="Shape 17"/>
          <p:cNvSpPr/>
          <p:nvPr/>
        </p:nvSpPr>
        <p:spPr>
          <a:xfrm>
            <a:off x="7680960" y="4913376"/>
            <a:ext cx="4145280" cy="1158240"/>
          </a:xfrm>
          <a:prstGeom prst="rect">
            <a:avLst/>
          </a:prstGeom>
          <a:solidFill>
            <a:srgbClr val="FFFFFF"/>
          </a:solidFill>
          <a:ln w="12700">
            <a:solidFill>
              <a:srgbClr val="E9C46A"/>
            </a:solidFill>
            <a:prstDash val="solid"/>
          </a:ln>
          <a:effectLst>
            <a:outerShdw blurRad="38100" dist="12700" dir="8100000" algn="bl" rotWithShape="0">
              <a:srgbClr val="000000">
                <a:alpha val="7000"/>
              </a:srgbClr>
            </a:outerShdw>
          </a:effectLst>
        </p:spPr>
      </p:sp>
      <p:sp>
        <p:nvSpPr>
          <p:cNvPr id="21" name="Shape 18"/>
          <p:cNvSpPr/>
          <p:nvPr/>
        </p:nvSpPr>
        <p:spPr>
          <a:xfrm>
            <a:off x="7680960" y="4913376"/>
            <a:ext cx="85344" cy="1158240"/>
          </a:xfrm>
          <a:prstGeom prst="rect">
            <a:avLst/>
          </a:prstGeom>
          <a:solidFill>
            <a:srgbClr val="E9C46A"/>
          </a:solidFill>
          <a:ln w="12700">
            <a:solidFill>
              <a:srgbClr val="E9C46A"/>
            </a:solidFill>
            <a:prstDash val="solid"/>
          </a:ln>
        </p:spPr>
      </p:sp>
      <p:sp>
        <p:nvSpPr>
          <p:cNvPr id="22" name="Text 19"/>
          <p:cNvSpPr/>
          <p:nvPr/>
        </p:nvSpPr>
        <p:spPr>
          <a:xfrm>
            <a:off x="7863840" y="4986528"/>
            <a:ext cx="37795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E9C46A"/>
                </a:solidFill>
                <a:latin typeface="Calibri" pitchFamily="34" charset="0"/>
                <a:ea typeface="Calibri" pitchFamily="34" charset="-122"/>
                <a:cs typeface="Calibri" pitchFamily="34" charset="-120"/>
              </a:rPr>
              <a:t>Affective Impact  ·  EMERGING</a:t>
            </a:r>
            <a:endParaRPr lang="en-US" sz="1200" dirty="0"/>
          </a:p>
        </p:txBody>
      </p:sp>
      <p:sp>
        <p:nvSpPr>
          <p:cNvPr id="23" name="Text 20"/>
          <p:cNvSpPr/>
          <p:nvPr/>
        </p:nvSpPr>
        <p:spPr>
          <a:xfrm>
            <a:off x="7863840" y="5279136"/>
            <a:ext cx="3779520" cy="7315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Reduced writing anxiety reported by 68% of ChatGPT users — but effect faded at 8-week follow-up.</a:t>
            </a:r>
            <a:endParaRPr lang="en-US" sz="1267" dirty="0"/>
          </a:p>
        </p:txBody>
      </p:sp>
    </p:spTree>
    <p:extLst>
      <p:ext uri="{BB962C8B-B14F-4D97-AF65-F5344CB8AC3E}">
        <p14:creationId xmlns:p14="http://schemas.microsoft.com/office/powerpoint/2010/main" val="1118091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1 · PERFORMANCE</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AI Feedback vs. Human &amp; Peer Feedback</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6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Not all feedback is equal — and the source matters.</a:t>
            </a:r>
            <a:endParaRPr lang="en-US" sz="1600" dirty="0"/>
          </a:p>
        </p:txBody>
      </p:sp>
      <p:sp>
        <p:nvSpPr>
          <p:cNvPr id="8" name="Shape 6"/>
          <p:cNvSpPr/>
          <p:nvPr/>
        </p:nvSpPr>
        <p:spPr>
          <a:xfrm>
            <a:off x="365760" y="1463040"/>
            <a:ext cx="3596640" cy="1341120"/>
          </a:xfrm>
          <a:prstGeom prst="rect">
            <a:avLst/>
          </a:prstGeom>
          <a:solidFill>
            <a:srgbClr val="2A9D8F"/>
          </a:solidFill>
          <a:ln w="12700">
            <a:solidFill>
              <a:srgbClr val="2A9D8F"/>
            </a:solidFill>
            <a:prstDash val="solid"/>
          </a:ln>
          <a:effectLst>
            <a:outerShdw blurRad="63500" dist="25400" dir="8100000" algn="bl" rotWithShape="0">
              <a:srgbClr val="000000">
                <a:alpha val="10000"/>
              </a:srgbClr>
            </a:outerShdw>
          </a:effectLst>
        </p:spPr>
      </p:sp>
      <p:sp>
        <p:nvSpPr>
          <p:cNvPr id="9" name="Text 7"/>
          <p:cNvSpPr/>
          <p:nvPr/>
        </p:nvSpPr>
        <p:spPr>
          <a:xfrm>
            <a:off x="365760" y="1584960"/>
            <a:ext cx="3596640" cy="737616"/>
          </a:xfrm>
          <a:prstGeom prst="rect">
            <a:avLst/>
          </a:prstGeom>
          <a:noFill/>
          <a:ln/>
        </p:spPr>
        <p:txBody>
          <a:bodyPr wrap="square" lIns="0" tIns="0" rIns="0" bIns="0" rtlCol="0" anchor="b"/>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dirty="0">
                <a:solidFill>
                  <a:srgbClr val="FFFFFF"/>
                </a:solidFill>
                <a:latin typeface="Calibri" pitchFamily="34" charset="0"/>
                <a:ea typeface="Calibri" pitchFamily="34" charset="-122"/>
                <a:cs typeface="Calibri" pitchFamily="34" charset="-120"/>
              </a:rPr>
              <a:t>72%</a:t>
            </a:r>
            <a:endParaRPr lang="en-US" sz="3733" dirty="0"/>
          </a:p>
        </p:txBody>
      </p:sp>
      <p:sp>
        <p:nvSpPr>
          <p:cNvPr id="10" name="Text 8"/>
          <p:cNvSpPr/>
          <p:nvPr/>
        </p:nvSpPr>
        <p:spPr>
          <a:xfrm>
            <a:off x="365760" y="2200657"/>
            <a:ext cx="3596640" cy="50962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FFFFFF"/>
                </a:solidFill>
                <a:latin typeface="Calibri" pitchFamily="34" charset="0"/>
                <a:ea typeface="Calibri" pitchFamily="34" charset="-122"/>
                <a:cs typeface="Calibri" pitchFamily="34" charset="-120"/>
              </a:rPr>
              <a:t>Avg. Feedback Quality Rating</a:t>
            </a:r>
            <a:endParaRPr lang="en-US" sz="1333" dirty="0"/>
          </a:p>
        </p:txBody>
      </p:sp>
      <p:sp>
        <p:nvSpPr>
          <p:cNvPr id="11" name="Shape 9"/>
          <p:cNvSpPr/>
          <p:nvPr/>
        </p:nvSpPr>
        <p:spPr>
          <a:xfrm>
            <a:off x="365760" y="2865120"/>
            <a:ext cx="3596640" cy="3535680"/>
          </a:xfrm>
          <a:prstGeom prst="rect">
            <a:avLst/>
          </a:prstGeom>
          <a:solidFill>
            <a:srgbClr val="FFFFFF"/>
          </a:solidFill>
          <a:ln w="12700">
            <a:solidFill>
              <a:srgbClr val="2A9D8F"/>
            </a:solidFill>
            <a:prstDash val="solid"/>
          </a:ln>
        </p:spPr>
      </p:sp>
      <p:sp>
        <p:nvSpPr>
          <p:cNvPr id="12" name="Text 10"/>
          <p:cNvSpPr/>
          <p:nvPr/>
        </p:nvSpPr>
        <p:spPr>
          <a:xfrm>
            <a:off x="487680" y="2950464"/>
            <a:ext cx="33528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2A9D8F"/>
                </a:solidFill>
                <a:latin typeface="Calibri" pitchFamily="34" charset="0"/>
                <a:ea typeface="Calibri" pitchFamily="34" charset="-122"/>
                <a:cs typeface="Calibri" pitchFamily="34" charset="-120"/>
              </a:rPr>
              <a:t>AI Feedback</a:t>
            </a:r>
            <a:endParaRPr lang="en-US" sz="1600" dirty="0"/>
          </a:p>
        </p:txBody>
      </p:sp>
      <p:sp>
        <p:nvSpPr>
          <p:cNvPr id="13" name="Text 11"/>
          <p:cNvSpPr/>
          <p:nvPr/>
        </p:nvSpPr>
        <p:spPr>
          <a:xfrm>
            <a:off x="487680" y="3364992"/>
            <a:ext cx="3438144" cy="29260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Fast (&lt; 5 seconds), available 24/7</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Consistent rubric application</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Strong on grammar &amp; mechanics</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Weak on rhetorical depth &amp; cultural nuance</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Cannot adapt to learner's emotional state</a:t>
            </a:r>
            <a:endParaRPr lang="en-US" sz="1333" dirty="0"/>
          </a:p>
        </p:txBody>
      </p:sp>
      <p:sp>
        <p:nvSpPr>
          <p:cNvPr id="14" name="Shape 12"/>
          <p:cNvSpPr/>
          <p:nvPr/>
        </p:nvSpPr>
        <p:spPr>
          <a:xfrm>
            <a:off x="4230624" y="1463040"/>
            <a:ext cx="3596640" cy="1341120"/>
          </a:xfrm>
          <a:prstGeom prst="rect">
            <a:avLst/>
          </a:prstGeom>
          <a:solidFill>
            <a:srgbClr val="2A6496"/>
          </a:solidFill>
          <a:ln w="12700">
            <a:solidFill>
              <a:srgbClr val="2A6496"/>
            </a:solidFill>
            <a:prstDash val="solid"/>
          </a:ln>
          <a:effectLst>
            <a:outerShdw blurRad="63500" dist="25400" dir="8100000" algn="bl" rotWithShape="0">
              <a:srgbClr val="000000">
                <a:alpha val="10000"/>
              </a:srgbClr>
            </a:outerShdw>
          </a:effectLst>
        </p:spPr>
      </p:sp>
      <p:sp>
        <p:nvSpPr>
          <p:cNvPr id="15" name="Text 13"/>
          <p:cNvSpPr/>
          <p:nvPr/>
        </p:nvSpPr>
        <p:spPr>
          <a:xfrm>
            <a:off x="4230624" y="1584960"/>
            <a:ext cx="3596640" cy="737616"/>
          </a:xfrm>
          <a:prstGeom prst="rect">
            <a:avLst/>
          </a:prstGeom>
          <a:noFill/>
          <a:ln/>
        </p:spPr>
        <p:txBody>
          <a:bodyPr wrap="square" lIns="0" tIns="0" rIns="0" bIns="0" rtlCol="0" anchor="b"/>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dirty="0">
                <a:solidFill>
                  <a:srgbClr val="FFFFFF"/>
                </a:solidFill>
                <a:latin typeface="Calibri" pitchFamily="34" charset="0"/>
                <a:ea typeface="Calibri" pitchFamily="34" charset="-122"/>
                <a:cs typeface="Calibri" pitchFamily="34" charset="-120"/>
              </a:rPr>
              <a:t>69%</a:t>
            </a:r>
            <a:endParaRPr lang="en-US" sz="3733" dirty="0"/>
          </a:p>
        </p:txBody>
      </p:sp>
      <p:sp>
        <p:nvSpPr>
          <p:cNvPr id="16" name="Text 14"/>
          <p:cNvSpPr/>
          <p:nvPr/>
        </p:nvSpPr>
        <p:spPr>
          <a:xfrm>
            <a:off x="4230624" y="2200657"/>
            <a:ext cx="3596640" cy="50962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FFFFFF"/>
                </a:solidFill>
                <a:latin typeface="Calibri" pitchFamily="34" charset="0"/>
                <a:ea typeface="Calibri" pitchFamily="34" charset="-122"/>
                <a:cs typeface="Calibri" pitchFamily="34" charset="-120"/>
              </a:rPr>
              <a:t>Avg. Feedback Quality Rating</a:t>
            </a:r>
            <a:endParaRPr lang="en-US" sz="1333" dirty="0"/>
          </a:p>
        </p:txBody>
      </p:sp>
      <p:sp>
        <p:nvSpPr>
          <p:cNvPr id="17" name="Shape 15"/>
          <p:cNvSpPr/>
          <p:nvPr/>
        </p:nvSpPr>
        <p:spPr>
          <a:xfrm>
            <a:off x="4230624" y="2865120"/>
            <a:ext cx="3596640" cy="3535680"/>
          </a:xfrm>
          <a:prstGeom prst="rect">
            <a:avLst/>
          </a:prstGeom>
          <a:solidFill>
            <a:srgbClr val="FFFFFF"/>
          </a:solidFill>
          <a:ln w="12700">
            <a:solidFill>
              <a:srgbClr val="2A6496"/>
            </a:solidFill>
            <a:prstDash val="solid"/>
          </a:ln>
        </p:spPr>
      </p:sp>
      <p:sp>
        <p:nvSpPr>
          <p:cNvPr id="18" name="Text 16"/>
          <p:cNvSpPr/>
          <p:nvPr/>
        </p:nvSpPr>
        <p:spPr>
          <a:xfrm>
            <a:off x="4352544" y="2950464"/>
            <a:ext cx="33528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2A6496"/>
                </a:solidFill>
                <a:latin typeface="Calibri" pitchFamily="34" charset="0"/>
                <a:ea typeface="Calibri" pitchFamily="34" charset="-122"/>
                <a:cs typeface="Calibri" pitchFamily="34" charset="-120"/>
              </a:rPr>
              <a:t>Peer Feedback</a:t>
            </a:r>
            <a:endParaRPr lang="en-US" sz="1600" dirty="0"/>
          </a:p>
        </p:txBody>
      </p:sp>
      <p:sp>
        <p:nvSpPr>
          <p:cNvPr id="19" name="Text 17"/>
          <p:cNvSpPr/>
          <p:nvPr/>
        </p:nvSpPr>
        <p:spPr>
          <a:xfrm>
            <a:off x="4352544" y="3364992"/>
            <a:ext cx="3438144" cy="29260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Social &amp; collaborative process</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Builds metalinguistic awareness</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Quality is highly variable</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Culturally familiar framing</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Risk of shared errors propagating</a:t>
            </a:r>
            <a:endParaRPr lang="en-US" sz="1333" dirty="0"/>
          </a:p>
        </p:txBody>
      </p:sp>
      <p:sp>
        <p:nvSpPr>
          <p:cNvPr id="20" name="Shape 18"/>
          <p:cNvSpPr/>
          <p:nvPr/>
        </p:nvSpPr>
        <p:spPr>
          <a:xfrm>
            <a:off x="8095488" y="1463040"/>
            <a:ext cx="3596640" cy="1341120"/>
          </a:xfrm>
          <a:prstGeom prst="rect">
            <a:avLst/>
          </a:prstGeom>
          <a:solidFill>
            <a:srgbClr val="1A2744"/>
          </a:solidFill>
          <a:ln w="12700">
            <a:solidFill>
              <a:srgbClr val="1A2744"/>
            </a:solidFill>
            <a:prstDash val="solid"/>
          </a:ln>
          <a:effectLst>
            <a:outerShdw blurRad="63500" dist="25400" dir="8100000" algn="bl" rotWithShape="0">
              <a:srgbClr val="000000">
                <a:alpha val="10000"/>
              </a:srgbClr>
            </a:outerShdw>
          </a:effectLst>
        </p:spPr>
      </p:sp>
      <p:sp>
        <p:nvSpPr>
          <p:cNvPr id="21" name="Text 19"/>
          <p:cNvSpPr/>
          <p:nvPr/>
        </p:nvSpPr>
        <p:spPr>
          <a:xfrm>
            <a:off x="8095488" y="1584960"/>
            <a:ext cx="3596640" cy="737616"/>
          </a:xfrm>
          <a:prstGeom prst="rect">
            <a:avLst/>
          </a:prstGeom>
          <a:noFill/>
          <a:ln/>
        </p:spPr>
        <p:txBody>
          <a:bodyPr wrap="square" lIns="0" tIns="0" rIns="0" bIns="0" rtlCol="0" anchor="b"/>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733" b="1" dirty="0">
                <a:solidFill>
                  <a:srgbClr val="FFFFFF"/>
                </a:solidFill>
                <a:latin typeface="Calibri" pitchFamily="34" charset="0"/>
                <a:ea typeface="Calibri" pitchFamily="34" charset="-122"/>
                <a:cs typeface="Calibri" pitchFamily="34" charset="-120"/>
              </a:rPr>
              <a:t>88%</a:t>
            </a:r>
            <a:endParaRPr lang="en-US" sz="3733" dirty="0"/>
          </a:p>
        </p:txBody>
      </p:sp>
      <p:sp>
        <p:nvSpPr>
          <p:cNvPr id="22" name="Text 20"/>
          <p:cNvSpPr/>
          <p:nvPr/>
        </p:nvSpPr>
        <p:spPr>
          <a:xfrm>
            <a:off x="8095488" y="2200657"/>
            <a:ext cx="3596640" cy="509625"/>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FFFFFF"/>
                </a:solidFill>
                <a:latin typeface="Calibri" pitchFamily="34" charset="0"/>
                <a:ea typeface="Calibri" pitchFamily="34" charset="-122"/>
                <a:cs typeface="Calibri" pitchFamily="34" charset="-120"/>
              </a:rPr>
              <a:t>Avg. Feedback Quality Rating</a:t>
            </a:r>
            <a:endParaRPr lang="en-US" sz="1333" dirty="0"/>
          </a:p>
        </p:txBody>
      </p:sp>
      <p:sp>
        <p:nvSpPr>
          <p:cNvPr id="23" name="Shape 21"/>
          <p:cNvSpPr/>
          <p:nvPr/>
        </p:nvSpPr>
        <p:spPr>
          <a:xfrm>
            <a:off x="8095488" y="2865120"/>
            <a:ext cx="3596640" cy="3535680"/>
          </a:xfrm>
          <a:prstGeom prst="rect">
            <a:avLst/>
          </a:prstGeom>
          <a:solidFill>
            <a:srgbClr val="FFFFFF"/>
          </a:solidFill>
          <a:ln w="12700">
            <a:solidFill>
              <a:srgbClr val="1A2744"/>
            </a:solidFill>
            <a:prstDash val="solid"/>
          </a:ln>
        </p:spPr>
      </p:sp>
      <p:sp>
        <p:nvSpPr>
          <p:cNvPr id="24" name="Text 22"/>
          <p:cNvSpPr/>
          <p:nvPr/>
        </p:nvSpPr>
        <p:spPr>
          <a:xfrm>
            <a:off x="8217408" y="2950464"/>
            <a:ext cx="33528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1A2744"/>
                </a:solidFill>
                <a:latin typeface="Calibri" pitchFamily="34" charset="0"/>
                <a:ea typeface="Calibri" pitchFamily="34" charset="-122"/>
                <a:cs typeface="Calibri" pitchFamily="34" charset="-120"/>
              </a:rPr>
              <a:t>Expert Human</a:t>
            </a:r>
            <a:endParaRPr lang="en-US" sz="1600" dirty="0"/>
          </a:p>
        </p:txBody>
      </p:sp>
      <p:sp>
        <p:nvSpPr>
          <p:cNvPr id="25" name="Text 23"/>
          <p:cNvSpPr/>
          <p:nvPr/>
        </p:nvSpPr>
        <p:spPr>
          <a:xfrm>
            <a:off x="8217408" y="3364992"/>
            <a:ext cx="3438144" cy="29260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Highest quality across all dimensions</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Culturally &amp; rhetorically aware</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Motivationally attuned to learner</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Scalability is the key limitation</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Provides dialogic, interactive support</a:t>
            </a:r>
            <a:endParaRPr lang="en-US" sz="1333" dirty="0"/>
          </a:p>
        </p:txBody>
      </p:sp>
      <p:sp>
        <p:nvSpPr>
          <p:cNvPr id="26" name="Text 24"/>
          <p:cNvSpPr/>
          <p:nvPr/>
        </p:nvSpPr>
        <p:spPr>
          <a:xfrm>
            <a:off x="426720" y="6400800"/>
            <a:ext cx="6096000" cy="21945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i="1" dirty="0">
                <a:solidFill>
                  <a:srgbClr val="718096"/>
                </a:solidFill>
                <a:latin typeface="Calibri" pitchFamily="34" charset="0"/>
                <a:ea typeface="Calibri" pitchFamily="34" charset="-122"/>
                <a:cs typeface="Calibri" pitchFamily="34" charset="-120"/>
              </a:rPr>
              <a:t>Source: Guo &amp; Chen (2024)</a:t>
            </a:r>
            <a:endParaRPr lang="en-US" sz="1133" dirty="0"/>
          </a:p>
        </p:txBody>
      </p:sp>
    </p:spTree>
    <p:extLst>
      <p:ext uri="{BB962C8B-B14F-4D97-AF65-F5344CB8AC3E}">
        <p14:creationId xmlns:p14="http://schemas.microsoft.com/office/powerpoint/2010/main" val="1345684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1 · PERFORMANCE</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The 'Crutch' Effect: Dependency Risk Over Time</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7 / 19</a:t>
            </a:r>
            <a:endParaRPr lang="en-US" sz="1067" dirty="0"/>
          </a:p>
        </p:txBody>
      </p:sp>
      <p:graphicFrame>
        <p:nvGraphicFramePr>
          <p:cNvPr id="7" name="Chart 0"/>
          <p:cNvGraphicFramePr/>
          <p:nvPr/>
        </p:nvGraphicFramePr>
        <p:xfrm>
          <a:off x="365760" y="1072896"/>
          <a:ext cx="70713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620000" y="1072896"/>
            <a:ext cx="4206240" cy="1828800"/>
          </a:xfrm>
          <a:prstGeom prst="rect">
            <a:avLst/>
          </a:prstGeom>
          <a:solidFill>
            <a:srgbClr val="E76F51">
              <a:alpha val="12000"/>
            </a:srgbClr>
          </a:solidFill>
          <a:ln w="15240">
            <a:solidFill>
              <a:srgbClr val="E76F51"/>
            </a:solidFill>
            <a:prstDash val="solid"/>
          </a:ln>
        </p:spPr>
      </p:sp>
      <p:sp>
        <p:nvSpPr>
          <p:cNvPr id="9" name="Shape 6"/>
          <p:cNvSpPr/>
          <p:nvPr/>
        </p:nvSpPr>
        <p:spPr>
          <a:xfrm>
            <a:off x="7620000" y="1072896"/>
            <a:ext cx="97536" cy="1828800"/>
          </a:xfrm>
          <a:prstGeom prst="rect">
            <a:avLst/>
          </a:prstGeom>
          <a:solidFill>
            <a:srgbClr val="E76F51"/>
          </a:solidFill>
          <a:ln w="12700">
            <a:solidFill>
              <a:srgbClr val="E76F51"/>
            </a:solidFill>
            <a:prstDash val="solid"/>
          </a:ln>
        </p:spPr>
      </p:sp>
      <p:sp>
        <p:nvSpPr>
          <p:cNvPr id="10" name="Text 7"/>
          <p:cNvSpPr/>
          <p:nvPr/>
        </p:nvSpPr>
        <p:spPr>
          <a:xfrm>
            <a:off x="7802880" y="1146048"/>
            <a:ext cx="390144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133" dirty="0">
                <a:solidFill>
                  <a:srgbClr val="E76F51"/>
                </a:solidFill>
                <a:latin typeface="Calibri" pitchFamily="34" charset="0"/>
                <a:ea typeface="Calibri" pitchFamily="34" charset="-122"/>
                <a:cs typeface="Calibri" pitchFamily="34" charset="-120"/>
              </a:rPr>
              <a:t>⚠  KEY OBSERVATION</a:t>
            </a:r>
            <a:endParaRPr lang="en-US" sz="1200" dirty="0"/>
          </a:p>
        </p:txBody>
      </p:sp>
      <p:sp>
        <p:nvSpPr>
          <p:cNvPr id="11" name="Text 8"/>
          <p:cNvSpPr/>
          <p:nvPr/>
        </p:nvSpPr>
        <p:spPr>
          <a:xfrm>
            <a:off x="7802880" y="1487424"/>
            <a:ext cx="3901440" cy="12192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The AI-assisted group peaks at Week 4 then declines — while the control group shows a steady rise. This 'crossover' pattern suggests early gains may be masking growing dependency.</a:t>
            </a:r>
            <a:endParaRPr lang="en-US" sz="1333" dirty="0"/>
          </a:p>
        </p:txBody>
      </p:sp>
      <p:sp>
        <p:nvSpPr>
          <p:cNvPr id="12" name="Shape 9"/>
          <p:cNvSpPr/>
          <p:nvPr/>
        </p:nvSpPr>
        <p:spPr>
          <a:xfrm>
            <a:off x="7620000" y="3145536"/>
            <a:ext cx="4206240" cy="914400"/>
          </a:xfrm>
          <a:prstGeom prst="rect">
            <a:avLst/>
          </a:prstGeom>
          <a:solidFill>
            <a:srgbClr val="FFFFFF"/>
          </a:solidFill>
          <a:ln w="12700">
            <a:solidFill>
              <a:srgbClr val="EEF2F6"/>
            </a:solidFill>
            <a:prstDash val="solid"/>
          </a:ln>
        </p:spPr>
      </p:sp>
      <p:sp>
        <p:nvSpPr>
          <p:cNvPr id="13" name="Shape 10"/>
          <p:cNvSpPr/>
          <p:nvPr/>
        </p:nvSpPr>
        <p:spPr>
          <a:xfrm>
            <a:off x="7620000" y="3145536"/>
            <a:ext cx="97536" cy="914400"/>
          </a:xfrm>
          <a:prstGeom prst="rect">
            <a:avLst/>
          </a:prstGeom>
          <a:solidFill>
            <a:srgbClr val="E9C46A"/>
          </a:solidFill>
          <a:ln w="12700">
            <a:solidFill>
              <a:srgbClr val="E9C46A"/>
            </a:solidFill>
            <a:prstDash val="solid"/>
          </a:ln>
        </p:spPr>
      </p:sp>
      <p:sp>
        <p:nvSpPr>
          <p:cNvPr id="14" name="Text 11"/>
          <p:cNvSpPr/>
          <p:nvPr/>
        </p:nvSpPr>
        <p:spPr>
          <a:xfrm>
            <a:off x="7827264" y="3218688"/>
            <a:ext cx="384048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A2744"/>
                </a:solidFill>
                <a:latin typeface="Calibri" pitchFamily="34" charset="0"/>
                <a:ea typeface="Calibri" pitchFamily="34" charset="-122"/>
                <a:cs typeface="Calibri" pitchFamily="34" charset="-120"/>
              </a:rPr>
              <a:t>Reduced Revision Effort</a:t>
            </a:r>
            <a:endParaRPr lang="en-US" sz="1333" dirty="0"/>
          </a:p>
        </p:txBody>
      </p:sp>
      <p:sp>
        <p:nvSpPr>
          <p:cNvPr id="15" name="Text 12"/>
          <p:cNvSpPr/>
          <p:nvPr/>
        </p:nvSpPr>
        <p:spPr>
          <a:xfrm>
            <a:off x="7827264" y="3486912"/>
            <a:ext cx="3840480" cy="51206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Learners increasingly accepted AI suggestions without critical evaluation</a:t>
            </a:r>
            <a:endParaRPr lang="en-US" sz="1267" dirty="0"/>
          </a:p>
        </p:txBody>
      </p:sp>
      <p:sp>
        <p:nvSpPr>
          <p:cNvPr id="16" name="Shape 13"/>
          <p:cNvSpPr/>
          <p:nvPr/>
        </p:nvSpPr>
        <p:spPr>
          <a:xfrm>
            <a:off x="7620000" y="4181856"/>
            <a:ext cx="4206240" cy="914400"/>
          </a:xfrm>
          <a:prstGeom prst="rect">
            <a:avLst/>
          </a:prstGeom>
          <a:solidFill>
            <a:srgbClr val="FFFFFF"/>
          </a:solidFill>
          <a:ln w="12700">
            <a:solidFill>
              <a:srgbClr val="EEF2F6"/>
            </a:solidFill>
            <a:prstDash val="solid"/>
          </a:ln>
        </p:spPr>
      </p:sp>
      <p:sp>
        <p:nvSpPr>
          <p:cNvPr id="17" name="Shape 14"/>
          <p:cNvSpPr/>
          <p:nvPr/>
        </p:nvSpPr>
        <p:spPr>
          <a:xfrm>
            <a:off x="7620000" y="4181856"/>
            <a:ext cx="97536" cy="914400"/>
          </a:xfrm>
          <a:prstGeom prst="rect">
            <a:avLst/>
          </a:prstGeom>
          <a:solidFill>
            <a:srgbClr val="E9C46A"/>
          </a:solidFill>
          <a:ln w="12700">
            <a:solidFill>
              <a:srgbClr val="E9C46A"/>
            </a:solidFill>
            <a:prstDash val="solid"/>
          </a:ln>
        </p:spPr>
      </p:sp>
      <p:sp>
        <p:nvSpPr>
          <p:cNvPr id="18" name="Text 15"/>
          <p:cNvSpPr/>
          <p:nvPr/>
        </p:nvSpPr>
        <p:spPr>
          <a:xfrm>
            <a:off x="7827264" y="4255008"/>
            <a:ext cx="384048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A2744"/>
                </a:solidFill>
                <a:latin typeface="Calibri" pitchFamily="34" charset="0"/>
                <a:ea typeface="Calibri" pitchFamily="34" charset="-122"/>
                <a:cs typeface="Calibri" pitchFamily="34" charset="-120"/>
              </a:rPr>
              <a:t>Atrophied Self-Correction</a:t>
            </a:r>
            <a:endParaRPr lang="en-US" sz="1333" dirty="0"/>
          </a:p>
        </p:txBody>
      </p:sp>
      <p:sp>
        <p:nvSpPr>
          <p:cNvPr id="19" name="Text 16"/>
          <p:cNvSpPr/>
          <p:nvPr/>
        </p:nvSpPr>
        <p:spPr>
          <a:xfrm>
            <a:off x="7827264" y="4523232"/>
            <a:ext cx="3840480" cy="51206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Independent error detection declined significantly by Week 8</a:t>
            </a:r>
            <a:endParaRPr lang="en-US" sz="1267" dirty="0"/>
          </a:p>
        </p:txBody>
      </p:sp>
      <p:sp>
        <p:nvSpPr>
          <p:cNvPr id="20" name="Shape 17"/>
          <p:cNvSpPr/>
          <p:nvPr/>
        </p:nvSpPr>
        <p:spPr>
          <a:xfrm>
            <a:off x="7620000" y="5218176"/>
            <a:ext cx="4206240" cy="914400"/>
          </a:xfrm>
          <a:prstGeom prst="rect">
            <a:avLst/>
          </a:prstGeom>
          <a:solidFill>
            <a:srgbClr val="FFFFFF"/>
          </a:solidFill>
          <a:ln w="12700">
            <a:solidFill>
              <a:srgbClr val="EEF2F6"/>
            </a:solidFill>
            <a:prstDash val="solid"/>
          </a:ln>
        </p:spPr>
      </p:sp>
      <p:sp>
        <p:nvSpPr>
          <p:cNvPr id="21" name="Shape 18"/>
          <p:cNvSpPr/>
          <p:nvPr/>
        </p:nvSpPr>
        <p:spPr>
          <a:xfrm>
            <a:off x="7620000" y="5218176"/>
            <a:ext cx="97536" cy="914400"/>
          </a:xfrm>
          <a:prstGeom prst="rect">
            <a:avLst/>
          </a:prstGeom>
          <a:solidFill>
            <a:srgbClr val="E9C46A"/>
          </a:solidFill>
          <a:ln w="12700">
            <a:solidFill>
              <a:srgbClr val="E9C46A"/>
            </a:solidFill>
            <a:prstDash val="solid"/>
          </a:ln>
        </p:spPr>
      </p:sp>
      <p:sp>
        <p:nvSpPr>
          <p:cNvPr id="22" name="Text 19"/>
          <p:cNvSpPr/>
          <p:nvPr/>
        </p:nvSpPr>
        <p:spPr>
          <a:xfrm>
            <a:off x="7827264" y="5291328"/>
            <a:ext cx="384048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A2744"/>
                </a:solidFill>
                <a:latin typeface="Calibri" pitchFamily="34" charset="0"/>
                <a:ea typeface="Calibri" pitchFamily="34" charset="-122"/>
                <a:cs typeface="Calibri" pitchFamily="34" charset="-120"/>
              </a:rPr>
              <a:t>Motivational Shift</a:t>
            </a:r>
            <a:endParaRPr lang="en-US" sz="1333" dirty="0"/>
          </a:p>
        </p:txBody>
      </p:sp>
      <p:sp>
        <p:nvSpPr>
          <p:cNvPr id="23" name="Text 20"/>
          <p:cNvSpPr/>
          <p:nvPr/>
        </p:nvSpPr>
        <p:spPr>
          <a:xfrm>
            <a:off x="7827264" y="5559552"/>
            <a:ext cx="3840480" cy="51206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4A5568"/>
                </a:solidFill>
                <a:latin typeface="Calibri" pitchFamily="34" charset="0"/>
                <a:ea typeface="Calibri" pitchFamily="34" charset="-122"/>
                <a:cs typeface="Calibri" pitchFamily="34" charset="-120"/>
              </a:rPr>
              <a:t>Task completion motivation replaced mastery orientation in AI group</a:t>
            </a:r>
            <a:endParaRPr lang="en-US" sz="1267" dirty="0"/>
          </a:p>
        </p:txBody>
      </p:sp>
      <p:sp>
        <p:nvSpPr>
          <p:cNvPr id="24" name="Text 21"/>
          <p:cNvSpPr/>
          <p:nvPr/>
        </p:nvSpPr>
        <p:spPr>
          <a:xfrm>
            <a:off x="426720" y="6400800"/>
            <a:ext cx="6096000" cy="21945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i="1" dirty="0">
                <a:solidFill>
                  <a:srgbClr val="718096"/>
                </a:solidFill>
                <a:latin typeface="Calibri" pitchFamily="34" charset="0"/>
                <a:ea typeface="Calibri" pitchFamily="34" charset="-122"/>
                <a:cs typeface="Calibri" pitchFamily="34" charset="-120"/>
              </a:rPr>
              <a:t>Source: Kim &amp; Park (2024)</a:t>
            </a:r>
            <a:endParaRPr lang="en-US" sz="1133" dirty="0"/>
          </a:p>
        </p:txBody>
      </p:sp>
    </p:spTree>
    <p:extLst>
      <p:ext uri="{BB962C8B-B14F-4D97-AF65-F5344CB8AC3E}">
        <p14:creationId xmlns:p14="http://schemas.microsoft.com/office/powerpoint/2010/main" val="2988287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38" name="Shape 16">
            <a:extLst>
              <a:ext uri="{FF2B5EF4-FFF2-40B4-BE49-F238E27FC236}">
                <a16:creationId xmlns:a16="http://schemas.microsoft.com/office/drawing/2014/main" id="{1D5839D7-8449-5012-43D4-E466201584B1}"/>
              </a:ext>
            </a:extLst>
          </p:cNvPr>
          <p:cNvSpPr/>
          <p:nvPr/>
        </p:nvSpPr>
        <p:spPr>
          <a:xfrm>
            <a:off x="3900221" y="1828959"/>
            <a:ext cx="1219" cy="915619"/>
          </a:xfrm>
          <a:prstGeom prst="line">
            <a:avLst/>
          </a:prstGeom>
          <a:noFill/>
          <a:ln w="19050">
            <a:solidFill>
              <a:schemeClr val="tx1"/>
            </a:solidFill>
            <a:prstDash val="dash"/>
          </a:ln>
        </p:spPr>
      </p:sp>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2 · COGNITION &amp; MOTIVATION</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How AI Shapes Cognitive Processes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8 / 19</a:t>
            </a:r>
            <a:endParaRPr lang="en-US" sz="1067" dirty="0"/>
          </a:p>
        </p:txBody>
      </p:sp>
      <p:sp>
        <p:nvSpPr>
          <p:cNvPr id="7" name="Text 5"/>
          <p:cNvSpPr/>
          <p:nvPr/>
        </p:nvSpPr>
        <p:spPr>
          <a:xfrm>
            <a:off x="426720" y="999744"/>
            <a:ext cx="6888480" cy="54864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AI reshapes — not just supplements — how learners think, self-regulate, and stay motivated.</a:t>
            </a:r>
            <a:endParaRPr lang="en-US" sz="1600" dirty="0"/>
          </a:p>
        </p:txBody>
      </p:sp>
      <p:sp>
        <p:nvSpPr>
          <p:cNvPr id="8" name="Shape 6"/>
          <p:cNvSpPr/>
          <p:nvPr/>
        </p:nvSpPr>
        <p:spPr>
          <a:xfrm>
            <a:off x="3169920" y="3230880"/>
            <a:ext cx="1463040" cy="853440"/>
          </a:xfrm>
          <a:prstGeom prst="ellipse">
            <a:avLst/>
          </a:prstGeom>
          <a:solidFill>
            <a:srgbClr val="EEF2F6"/>
          </a:solidFill>
          <a:ln w="12700">
            <a:solidFill>
              <a:srgbClr val="EEF2F6"/>
            </a:solidFill>
            <a:prstDash val="solid"/>
          </a:ln>
        </p:spPr>
      </p:sp>
      <p:sp>
        <p:nvSpPr>
          <p:cNvPr id="9" name="Text 7"/>
          <p:cNvSpPr/>
          <p:nvPr/>
        </p:nvSpPr>
        <p:spPr>
          <a:xfrm>
            <a:off x="3169920" y="3230880"/>
            <a:ext cx="1463040" cy="85344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b="1" dirty="0">
                <a:solidFill>
                  <a:srgbClr val="4A5568"/>
                </a:solidFill>
                <a:latin typeface="Calibri" pitchFamily="34" charset="0"/>
                <a:ea typeface="Calibri" pitchFamily="34" charset="-122"/>
                <a:cs typeface="Calibri" pitchFamily="34" charset="-120"/>
              </a:rPr>
              <a:t>Cognitive</a:t>
            </a:r>
            <a:endParaRPr lang="en-US" sz="1067" dirty="0"/>
          </a:p>
          <a:p>
            <a:pPr marL="0" indent="0" algn="ctr">
              <a:buNone/>
            </a:pPr>
            <a:r>
              <a:rPr lang="en-US" sz="1067" b="1" dirty="0">
                <a:solidFill>
                  <a:srgbClr val="4A5568"/>
                </a:solidFill>
                <a:latin typeface="Calibri" pitchFamily="34" charset="0"/>
                <a:ea typeface="Calibri" pitchFamily="34" charset="-122"/>
                <a:cs typeface="Calibri" pitchFamily="34" charset="-120"/>
              </a:rPr>
              <a:t>Cycle</a:t>
            </a:r>
            <a:endParaRPr lang="en-US" sz="1067" dirty="0"/>
          </a:p>
        </p:txBody>
      </p:sp>
      <p:sp>
        <p:nvSpPr>
          <p:cNvPr id="10" name="Shape 8"/>
          <p:cNvSpPr/>
          <p:nvPr/>
        </p:nvSpPr>
        <p:spPr>
          <a:xfrm>
            <a:off x="3023616" y="1280160"/>
            <a:ext cx="1755648" cy="1097280"/>
          </a:xfrm>
          <a:prstGeom prst="ellipse">
            <a:avLst/>
          </a:prstGeom>
          <a:solidFill>
            <a:srgbClr val="1A2744"/>
          </a:solidFill>
          <a:ln w="12700">
            <a:solidFill>
              <a:srgbClr val="1A2744"/>
            </a:solidFill>
            <a:prstDash val="solid"/>
          </a:ln>
        </p:spPr>
      </p:sp>
      <p:sp>
        <p:nvSpPr>
          <p:cNvPr id="11" name="Text 9"/>
          <p:cNvSpPr/>
          <p:nvPr/>
        </p:nvSpPr>
        <p:spPr>
          <a:xfrm>
            <a:off x="3023616" y="1280160"/>
            <a:ext cx="1755648" cy="10972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dirty="0">
                <a:solidFill>
                  <a:srgbClr val="FFFFFF"/>
                </a:solidFill>
                <a:latin typeface="Calibri" pitchFamily="34" charset="0"/>
                <a:ea typeface="Calibri" pitchFamily="34" charset="-122"/>
                <a:cs typeface="Calibri" pitchFamily="34" charset="-120"/>
              </a:rPr>
              <a:t>Exposure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&amp; Noticing</a:t>
            </a:r>
            <a:endParaRPr lang="en-US" sz="1200" dirty="0"/>
          </a:p>
        </p:txBody>
      </p:sp>
      <p:sp>
        <p:nvSpPr>
          <p:cNvPr id="12" name="Shape 10"/>
          <p:cNvSpPr/>
          <p:nvPr/>
        </p:nvSpPr>
        <p:spPr>
          <a:xfrm>
            <a:off x="3901440" y="2743200"/>
            <a:ext cx="1219" cy="0"/>
          </a:xfrm>
          <a:prstGeom prst="line">
            <a:avLst/>
          </a:prstGeom>
          <a:noFill/>
          <a:ln w="19050">
            <a:solidFill>
              <a:srgbClr val="1A2744"/>
            </a:solidFill>
            <a:prstDash val="dash"/>
          </a:ln>
        </p:spPr>
      </p:sp>
      <p:sp>
        <p:nvSpPr>
          <p:cNvPr id="13" name="Shape 11"/>
          <p:cNvSpPr/>
          <p:nvPr/>
        </p:nvSpPr>
        <p:spPr>
          <a:xfrm>
            <a:off x="4852416" y="3108960"/>
            <a:ext cx="1755648" cy="1097280"/>
          </a:xfrm>
          <a:prstGeom prst="ellipse">
            <a:avLst/>
          </a:prstGeom>
          <a:solidFill>
            <a:srgbClr val="2A6496"/>
          </a:solidFill>
          <a:ln w="12700">
            <a:solidFill>
              <a:srgbClr val="2A6496"/>
            </a:solidFill>
            <a:prstDash val="solid"/>
          </a:ln>
        </p:spPr>
      </p:sp>
      <p:sp>
        <p:nvSpPr>
          <p:cNvPr id="14" name="Text 12"/>
          <p:cNvSpPr/>
          <p:nvPr/>
        </p:nvSpPr>
        <p:spPr>
          <a:xfrm>
            <a:off x="4852416" y="3108960"/>
            <a:ext cx="1755648" cy="10972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dirty="0">
                <a:solidFill>
                  <a:srgbClr val="FFFFFF"/>
                </a:solidFill>
                <a:latin typeface="Calibri" pitchFamily="34" charset="0"/>
                <a:ea typeface="Calibri" pitchFamily="34" charset="-122"/>
                <a:cs typeface="Calibri" pitchFamily="34" charset="-120"/>
              </a:rPr>
              <a:t>AI-Mediated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Processing</a:t>
            </a:r>
            <a:endParaRPr lang="en-US" sz="1200" dirty="0"/>
          </a:p>
        </p:txBody>
      </p:sp>
      <p:sp>
        <p:nvSpPr>
          <p:cNvPr id="15" name="Shape 13"/>
          <p:cNvSpPr/>
          <p:nvPr/>
        </p:nvSpPr>
        <p:spPr>
          <a:xfrm>
            <a:off x="4815840" y="3657600"/>
            <a:ext cx="915619" cy="1219"/>
          </a:xfrm>
          <a:prstGeom prst="line">
            <a:avLst/>
          </a:prstGeom>
          <a:noFill/>
          <a:ln w="19050">
            <a:solidFill>
              <a:srgbClr val="2A6496"/>
            </a:solidFill>
            <a:prstDash val="dash"/>
          </a:ln>
        </p:spPr>
      </p:sp>
      <p:sp>
        <p:nvSpPr>
          <p:cNvPr id="16" name="Shape 14"/>
          <p:cNvSpPr/>
          <p:nvPr/>
        </p:nvSpPr>
        <p:spPr>
          <a:xfrm>
            <a:off x="3023616" y="4937760"/>
            <a:ext cx="1755648" cy="1097280"/>
          </a:xfrm>
          <a:prstGeom prst="ellipse">
            <a:avLst/>
          </a:prstGeom>
          <a:solidFill>
            <a:srgbClr val="2A9D8F"/>
          </a:solidFill>
          <a:ln w="12700">
            <a:solidFill>
              <a:srgbClr val="2A9D8F"/>
            </a:solidFill>
            <a:prstDash val="solid"/>
          </a:ln>
        </p:spPr>
      </p:sp>
      <p:sp>
        <p:nvSpPr>
          <p:cNvPr id="17" name="Text 15"/>
          <p:cNvSpPr/>
          <p:nvPr/>
        </p:nvSpPr>
        <p:spPr>
          <a:xfrm>
            <a:off x="3023616" y="4937760"/>
            <a:ext cx="1755648" cy="10972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dirty="0">
                <a:solidFill>
                  <a:srgbClr val="FFFFFF"/>
                </a:solidFill>
                <a:latin typeface="Calibri" pitchFamily="34" charset="0"/>
                <a:ea typeface="Calibri" pitchFamily="34" charset="-122"/>
                <a:cs typeface="Calibri" pitchFamily="34" charset="-120"/>
              </a:rPr>
              <a:t>Metacognitive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Reflection</a:t>
            </a:r>
            <a:endParaRPr lang="en-US" sz="1200" dirty="0"/>
          </a:p>
        </p:txBody>
      </p:sp>
      <p:sp>
        <p:nvSpPr>
          <p:cNvPr id="18" name="Shape 16"/>
          <p:cNvSpPr/>
          <p:nvPr/>
        </p:nvSpPr>
        <p:spPr>
          <a:xfrm>
            <a:off x="3901440" y="4572000"/>
            <a:ext cx="1219" cy="915619"/>
          </a:xfrm>
          <a:prstGeom prst="line">
            <a:avLst/>
          </a:prstGeom>
          <a:noFill/>
          <a:ln w="19050">
            <a:solidFill>
              <a:srgbClr val="2A9D8F"/>
            </a:solidFill>
            <a:prstDash val="dash"/>
          </a:ln>
        </p:spPr>
      </p:sp>
      <p:sp>
        <p:nvSpPr>
          <p:cNvPr id="19" name="Shape 17"/>
          <p:cNvSpPr/>
          <p:nvPr/>
        </p:nvSpPr>
        <p:spPr>
          <a:xfrm>
            <a:off x="1194816" y="3108960"/>
            <a:ext cx="1755648" cy="1097280"/>
          </a:xfrm>
          <a:prstGeom prst="ellipse">
            <a:avLst/>
          </a:prstGeom>
          <a:solidFill>
            <a:srgbClr val="52B788"/>
          </a:solidFill>
          <a:ln w="12700">
            <a:solidFill>
              <a:srgbClr val="52B788"/>
            </a:solidFill>
            <a:prstDash val="solid"/>
          </a:ln>
        </p:spPr>
      </p:sp>
      <p:sp>
        <p:nvSpPr>
          <p:cNvPr id="20" name="Text 18"/>
          <p:cNvSpPr/>
          <p:nvPr/>
        </p:nvSpPr>
        <p:spPr>
          <a:xfrm>
            <a:off x="1194816" y="3108960"/>
            <a:ext cx="1755648" cy="10972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&amp; Output</a:t>
            </a:r>
            <a:endParaRPr lang="en-US" sz="1200" dirty="0"/>
          </a:p>
        </p:txBody>
      </p:sp>
      <p:sp>
        <p:nvSpPr>
          <p:cNvPr id="21" name="Shape 19"/>
          <p:cNvSpPr/>
          <p:nvPr/>
        </p:nvSpPr>
        <p:spPr>
          <a:xfrm>
            <a:off x="2987040" y="3657600"/>
            <a:ext cx="0" cy="1219"/>
          </a:xfrm>
          <a:prstGeom prst="line">
            <a:avLst/>
          </a:prstGeom>
          <a:noFill/>
          <a:ln w="19050">
            <a:solidFill>
              <a:srgbClr val="52B788"/>
            </a:solidFill>
            <a:prstDash val="dash"/>
          </a:ln>
        </p:spPr>
      </p:sp>
      <p:sp>
        <p:nvSpPr>
          <p:cNvPr id="22" name="Shape 20"/>
          <p:cNvSpPr/>
          <p:nvPr/>
        </p:nvSpPr>
        <p:spPr>
          <a:xfrm>
            <a:off x="7498080" y="1072896"/>
            <a:ext cx="4328160" cy="1194816"/>
          </a:xfrm>
          <a:prstGeom prst="rect">
            <a:avLst/>
          </a:prstGeom>
          <a:solidFill>
            <a:srgbClr val="FFFFFF"/>
          </a:solidFill>
          <a:ln w="12700">
            <a:solidFill>
              <a:srgbClr val="1A2744"/>
            </a:solidFill>
            <a:prstDash val="solid"/>
          </a:ln>
          <a:effectLst>
            <a:outerShdw blurRad="38100" dist="12700" dir="8100000" algn="bl" rotWithShape="0">
              <a:srgbClr val="000000">
                <a:alpha val="6000"/>
              </a:srgbClr>
            </a:outerShdw>
          </a:effectLst>
        </p:spPr>
      </p:sp>
      <p:sp>
        <p:nvSpPr>
          <p:cNvPr id="23" name="Shape 21"/>
          <p:cNvSpPr/>
          <p:nvPr/>
        </p:nvSpPr>
        <p:spPr>
          <a:xfrm>
            <a:off x="7498080" y="1072896"/>
            <a:ext cx="85344" cy="1194816"/>
          </a:xfrm>
          <a:prstGeom prst="rect">
            <a:avLst/>
          </a:prstGeom>
          <a:solidFill>
            <a:srgbClr val="1A2744"/>
          </a:solidFill>
          <a:ln w="12700">
            <a:solidFill>
              <a:srgbClr val="1A2744"/>
            </a:solidFill>
            <a:prstDash val="solid"/>
          </a:ln>
        </p:spPr>
      </p:sp>
      <p:sp>
        <p:nvSpPr>
          <p:cNvPr id="24" name="Text 22"/>
          <p:cNvSpPr/>
          <p:nvPr/>
        </p:nvSpPr>
        <p:spPr>
          <a:xfrm>
            <a:off x="7680960" y="1158240"/>
            <a:ext cx="402336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1A2744"/>
                </a:solidFill>
                <a:latin typeface="Calibri" pitchFamily="34" charset="0"/>
                <a:ea typeface="Calibri" pitchFamily="34" charset="-122"/>
                <a:cs typeface="Calibri" pitchFamily="34" charset="-120"/>
              </a:rPr>
              <a:t>Self-Regulated Learning  ·  EMERGING</a:t>
            </a:r>
            <a:endParaRPr lang="en-US" sz="1200" dirty="0"/>
          </a:p>
        </p:txBody>
      </p:sp>
      <p:sp>
        <p:nvSpPr>
          <p:cNvPr id="25" name="Text 23"/>
          <p:cNvSpPr/>
          <p:nvPr/>
        </p:nvSpPr>
        <p:spPr>
          <a:xfrm>
            <a:off x="7680960" y="1450848"/>
            <a:ext cx="4023360" cy="76809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AI provides scaffolding that enables goal-setting and progress monitoring — but only when learners are explicitly taught to use it strategically (Zhang et al., 2023).</a:t>
            </a:r>
            <a:endParaRPr lang="en-US" sz="1267" dirty="0"/>
          </a:p>
        </p:txBody>
      </p:sp>
      <p:sp>
        <p:nvSpPr>
          <p:cNvPr id="26" name="Shape 24"/>
          <p:cNvSpPr/>
          <p:nvPr/>
        </p:nvSpPr>
        <p:spPr>
          <a:xfrm>
            <a:off x="7498080" y="2414016"/>
            <a:ext cx="4328160" cy="1194816"/>
          </a:xfrm>
          <a:prstGeom prst="rect">
            <a:avLst/>
          </a:prstGeom>
          <a:solidFill>
            <a:srgbClr val="FFFFFF"/>
          </a:solidFill>
          <a:ln w="12700">
            <a:solidFill>
              <a:srgbClr val="2A6496"/>
            </a:solidFill>
            <a:prstDash val="solid"/>
          </a:ln>
          <a:effectLst>
            <a:outerShdw blurRad="38100" dist="12700" dir="8100000" algn="bl" rotWithShape="0">
              <a:srgbClr val="000000">
                <a:alpha val="6000"/>
              </a:srgbClr>
            </a:outerShdw>
          </a:effectLst>
        </p:spPr>
      </p:sp>
      <p:sp>
        <p:nvSpPr>
          <p:cNvPr id="27" name="Shape 25"/>
          <p:cNvSpPr/>
          <p:nvPr/>
        </p:nvSpPr>
        <p:spPr>
          <a:xfrm>
            <a:off x="7498080" y="2414016"/>
            <a:ext cx="85344" cy="1194816"/>
          </a:xfrm>
          <a:prstGeom prst="rect">
            <a:avLst/>
          </a:prstGeom>
          <a:solidFill>
            <a:srgbClr val="2A6496"/>
          </a:solidFill>
          <a:ln w="12700">
            <a:solidFill>
              <a:srgbClr val="2A6496"/>
            </a:solidFill>
            <a:prstDash val="solid"/>
          </a:ln>
        </p:spPr>
      </p:sp>
      <p:sp>
        <p:nvSpPr>
          <p:cNvPr id="28" name="Text 26"/>
          <p:cNvSpPr/>
          <p:nvPr/>
        </p:nvSpPr>
        <p:spPr>
          <a:xfrm>
            <a:off x="7680960" y="2499360"/>
            <a:ext cx="402336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2A6496"/>
                </a:solidFill>
                <a:latin typeface="Calibri" pitchFamily="34" charset="0"/>
                <a:ea typeface="Calibri" pitchFamily="34" charset="-122"/>
                <a:cs typeface="Calibri" pitchFamily="34" charset="-120"/>
              </a:rPr>
              <a:t>Cognitive Load  ·  SUPPORTED</a:t>
            </a:r>
            <a:endParaRPr lang="en-US" sz="1200" dirty="0"/>
          </a:p>
        </p:txBody>
      </p:sp>
      <p:sp>
        <p:nvSpPr>
          <p:cNvPr id="29" name="Text 27"/>
          <p:cNvSpPr/>
          <p:nvPr/>
        </p:nvSpPr>
        <p:spPr>
          <a:xfrm>
            <a:off x="7680960" y="2791968"/>
            <a:ext cx="4023360" cy="76809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Immediate AI feedback reduces extraneous cognitive load on surface errors, freeing working memory for higher-order writing decisions (Guo &amp; Chen, 2024).</a:t>
            </a:r>
            <a:endParaRPr lang="en-US" sz="1267" dirty="0"/>
          </a:p>
        </p:txBody>
      </p:sp>
      <p:sp>
        <p:nvSpPr>
          <p:cNvPr id="30" name="Shape 28"/>
          <p:cNvSpPr/>
          <p:nvPr/>
        </p:nvSpPr>
        <p:spPr>
          <a:xfrm>
            <a:off x="7498080" y="3755136"/>
            <a:ext cx="4328160" cy="1194816"/>
          </a:xfrm>
          <a:prstGeom prst="rect">
            <a:avLst/>
          </a:prstGeom>
          <a:solidFill>
            <a:srgbClr val="FFFFFF"/>
          </a:solidFill>
          <a:ln w="12700">
            <a:solidFill>
              <a:srgbClr val="2A9D8F"/>
            </a:solidFill>
            <a:prstDash val="solid"/>
          </a:ln>
          <a:effectLst>
            <a:outerShdw blurRad="38100" dist="12700" dir="8100000" algn="bl" rotWithShape="0">
              <a:srgbClr val="000000">
                <a:alpha val="6000"/>
              </a:srgbClr>
            </a:outerShdw>
          </a:effectLst>
        </p:spPr>
      </p:sp>
      <p:sp>
        <p:nvSpPr>
          <p:cNvPr id="31" name="Shape 29"/>
          <p:cNvSpPr/>
          <p:nvPr/>
        </p:nvSpPr>
        <p:spPr>
          <a:xfrm>
            <a:off x="7498080" y="3755136"/>
            <a:ext cx="85344" cy="1194816"/>
          </a:xfrm>
          <a:prstGeom prst="rect">
            <a:avLst/>
          </a:prstGeom>
          <a:solidFill>
            <a:srgbClr val="2A9D8F"/>
          </a:solidFill>
          <a:ln w="12700">
            <a:solidFill>
              <a:srgbClr val="2A9D8F"/>
            </a:solidFill>
            <a:prstDash val="solid"/>
          </a:ln>
        </p:spPr>
      </p:sp>
      <p:sp>
        <p:nvSpPr>
          <p:cNvPr id="32" name="Text 30"/>
          <p:cNvSpPr/>
          <p:nvPr/>
        </p:nvSpPr>
        <p:spPr>
          <a:xfrm>
            <a:off x="7680960" y="3840480"/>
            <a:ext cx="402336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2A9D8F"/>
                </a:solidFill>
                <a:latin typeface="Calibri" pitchFamily="34" charset="0"/>
                <a:ea typeface="Calibri" pitchFamily="34" charset="-122"/>
                <a:cs typeface="Calibri" pitchFamily="34" charset="-120"/>
              </a:rPr>
              <a:t>Intrinsic Motivation  ·  EMERGING</a:t>
            </a:r>
            <a:endParaRPr lang="en-US" sz="1200" dirty="0"/>
          </a:p>
        </p:txBody>
      </p:sp>
      <p:sp>
        <p:nvSpPr>
          <p:cNvPr id="33" name="Text 31"/>
          <p:cNvSpPr/>
          <p:nvPr/>
        </p:nvSpPr>
        <p:spPr>
          <a:xfrm>
            <a:off x="7680960" y="4133088"/>
            <a:ext cx="4023360" cy="76809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Higher engagement reported in first 4 weeks; driven by novelty effect. Sustained motivation requires task design that maintains challenge (Kim &amp; Park, 2024).</a:t>
            </a:r>
            <a:endParaRPr lang="en-US" sz="1267" dirty="0"/>
          </a:p>
        </p:txBody>
      </p:sp>
      <p:sp>
        <p:nvSpPr>
          <p:cNvPr id="34" name="Shape 32"/>
          <p:cNvSpPr/>
          <p:nvPr/>
        </p:nvSpPr>
        <p:spPr>
          <a:xfrm>
            <a:off x="7498080" y="5096256"/>
            <a:ext cx="4328160" cy="1194816"/>
          </a:xfrm>
          <a:prstGeom prst="rect">
            <a:avLst/>
          </a:prstGeom>
          <a:solidFill>
            <a:srgbClr val="FFFFFF"/>
          </a:solidFill>
          <a:ln w="12700">
            <a:solidFill>
              <a:srgbClr val="52B788"/>
            </a:solidFill>
            <a:prstDash val="solid"/>
          </a:ln>
          <a:effectLst>
            <a:outerShdw blurRad="38100" dist="12700" dir="8100000" algn="bl" rotWithShape="0">
              <a:srgbClr val="000000">
                <a:alpha val="6000"/>
              </a:srgbClr>
            </a:outerShdw>
          </a:effectLst>
        </p:spPr>
      </p:sp>
      <p:sp>
        <p:nvSpPr>
          <p:cNvPr id="35" name="Shape 33"/>
          <p:cNvSpPr/>
          <p:nvPr/>
        </p:nvSpPr>
        <p:spPr>
          <a:xfrm>
            <a:off x="7498080" y="5096256"/>
            <a:ext cx="85344" cy="1194816"/>
          </a:xfrm>
          <a:prstGeom prst="rect">
            <a:avLst/>
          </a:prstGeom>
          <a:solidFill>
            <a:srgbClr val="52B788"/>
          </a:solidFill>
          <a:ln w="12700">
            <a:solidFill>
              <a:srgbClr val="52B788"/>
            </a:solidFill>
            <a:prstDash val="solid"/>
          </a:ln>
        </p:spPr>
      </p:sp>
      <p:sp>
        <p:nvSpPr>
          <p:cNvPr id="36" name="Text 34"/>
          <p:cNvSpPr/>
          <p:nvPr/>
        </p:nvSpPr>
        <p:spPr>
          <a:xfrm>
            <a:off x="7680960" y="5181600"/>
            <a:ext cx="402336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52B788"/>
                </a:solidFill>
                <a:latin typeface="Calibri" pitchFamily="34" charset="0"/>
                <a:ea typeface="Calibri" pitchFamily="34" charset="-122"/>
                <a:cs typeface="Calibri" pitchFamily="34" charset="-120"/>
              </a:rPr>
              <a:t>Identity &amp; Agency  ·  SPECULATIVE</a:t>
            </a:r>
            <a:endParaRPr lang="en-US" sz="1200" dirty="0"/>
          </a:p>
        </p:txBody>
      </p:sp>
      <p:sp>
        <p:nvSpPr>
          <p:cNvPr id="37" name="Text 35"/>
          <p:cNvSpPr/>
          <p:nvPr/>
        </p:nvSpPr>
        <p:spPr>
          <a:xfrm>
            <a:off x="7680960" y="5474208"/>
            <a:ext cx="4023360" cy="76809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Repeated AI correction may subtly shift learners' sense of linguistic ownership — valuing AI-approved forms over their own voice (Lee &amp; Thompson, 2024).</a:t>
            </a:r>
            <a:endParaRPr lang="en-US" sz="1267" dirty="0"/>
          </a:p>
        </p:txBody>
      </p:sp>
    </p:spTree>
    <p:extLst>
      <p:ext uri="{BB962C8B-B14F-4D97-AF65-F5344CB8AC3E}">
        <p14:creationId xmlns:p14="http://schemas.microsoft.com/office/powerpoint/2010/main" val="2022681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2 · COGNITION &amp; MOTIVATION</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Metacognitive Strategies: What Works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9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AI is a cognitive tool — its effectiveness depends on HOW learners engage with it.</a:t>
            </a:r>
            <a:endParaRPr lang="en-US" sz="1600" dirty="0"/>
          </a:p>
        </p:txBody>
      </p:sp>
      <p:sp>
        <p:nvSpPr>
          <p:cNvPr id="8" name="Shape 6"/>
          <p:cNvSpPr/>
          <p:nvPr/>
        </p:nvSpPr>
        <p:spPr>
          <a:xfrm>
            <a:off x="365760" y="1487424"/>
            <a:ext cx="5730240" cy="4876800"/>
          </a:xfrm>
          <a:prstGeom prst="rect">
            <a:avLst/>
          </a:prstGeom>
          <a:solidFill>
            <a:srgbClr val="FFFFFF"/>
          </a:solidFill>
          <a:ln w="15240">
            <a:solidFill>
              <a:srgbClr val="2A9D8F"/>
            </a:solidFill>
            <a:prstDash val="solid"/>
          </a:ln>
        </p:spPr>
      </p:sp>
      <p:sp>
        <p:nvSpPr>
          <p:cNvPr id="9" name="Shape 7"/>
          <p:cNvSpPr/>
          <p:nvPr/>
        </p:nvSpPr>
        <p:spPr>
          <a:xfrm>
            <a:off x="365760" y="1487424"/>
            <a:ext cx="5730240" cy="438912"/>
          </a:xfrm>
          <a:prstGeom prst="rect">
            <a:avLst/>
          </a:prstGeom>
          <a:solidFill>
            <a:srgbClr val="2A9D8F"/>
          </a:solidFill>
          <a:ln w="12700">
            <a:solidFill>
              <a:srgbClr val="2A9D8F"/>
            </a:solidFill>
            <a:prstDash val="solid"/>
          </a:ln>
        </p:spPr>
      </p:sp>
      <p:sp>
        <p:nvSpPr>
          <p:cNvPr id="10" name="Text 8"/>
          <p:cNvSpPr/>
          <p:nvPr/>
        </p:nvSpPr>
        <p:spPr>
          <a:xfrm>
            <a:off x="512064" y="1524000"/>
            <a:ext cx="54864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b="1" dirty="0">
                <a:solidFill>
                  <a:srgbClr val="FFFFFF"/>
                </a:solidFill>
                <a:latin typeface="Calibri" pitchFamily="34" charset="0"/>
                <a:ea typeface="Calibri" pitchFamily="34" charset="-122"/>
                <a:cs typeface="Calibri" pitchFamily="34" charset="-120"/>
              </a:rPr>
              <a:t>High Self-Regulation Learners</a:t>
            </a:r>
            <a:endParaRPr lang="en-US" sz="1533" dirty="0"/>
          </a:p>
        </p:txBody>
      </p:sp>
      <p:sp>
        <p:nvSpPr>
          <p:cNvPr id="11" name="Text 9"/>
          <p:cNvSpPr/>
          <p:nvPr/>
        </p:nvSpPr>
        <p:spPr>
          <a:xfrm>
            <a:off x="548640" y="1999488"/>
            <a:ext cx="5364480" cy="42062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Set specific language goals before each AI session</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Critically evaluate AI suggestions before accepting</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Use AI feedback to update personal error logs</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Alternate between AI and independent drafting</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Seek explanation for AI corrections, not just the correction</a:t>
            </a:r>
            <a:endParaRPr lang="en-US" sz="1467" dirty="0"/>
          </a:p>
          <a:p>
            <a:pPr marL="0" indent="0">
              <a:buNone/>
            </a:pPr>
            <a:r>
              <a:rPr lang="en-US" sz="1467" b="1" dirty="0">
                <a:solidFill>
                  <a:srgbClr val="2A9D8F"/>
                </a:solidFill>
                <a:latin typeface="Calibri" pitchFamily="34" charset="0"/>
                <a:ea typeface="Calibri" pitchFamily="34" charset="-122"/>
                <a:cs typeface="Calibri" pitchFamily="34" charset="-120"/>
              </a:rPr>
              <a:t>Outcome: Sustained gains beyond the AI interaction</a:t>
            </a:r>
            <a:endParaRPr lang="en-US" sz="1467" dirty="0"/>
          </a:p>
        </p:txBody>
      </p:sp>
      <p:sp>
        <p:nvSpPr>
          <p:cNvPr id="12" name="Shape 10"/>
          <p:cNvSpPr/>
          <p:nvPr/>
        </p:nvSpPr>
        <p:spPr>
          <a:xfrm>
            <a:off x="6303264" y="1487424"/>
            <a:ext cx="5730240" cy="4876800"/>
          </a:xfrm>
          <a:prstGeom prst="rect">
            <a:avLst/>
          </a:prstGeom>
          <a:solidFill>
            <a:srgbClr val="FFFFFF"/>
          </a:solidFill>
          <a:ln w="15240">
            <a:solidFill>
              <a:srgbClr val="E76F51"/>
            </a:solidFill>
            <a:prstDash val="solid"/>
          </a:ln>
        </p:spPr>
      </p:sp>
      <p:sp>
        <p:nvSpPr>
          <p:cNvPr id="13" name="Shape 11"/>
          <p:cNvSpPr/>
          <p:nvPr/>
        </p:nvSpPr>
        <p:spPr>
          <a:xfrm>
            <a:off x="6303264" y="1487424"/>
            <a:ext cx="5730240" cy="438912"/>
          </a:xfrm>
          <a:prstGeom prst="rect">
            <a:avLst/>
          </a:prstGeom>
          <a:solidFill>
            <a:srgbClr val="E76F51"/>
          </a:solidFill>
          <a:ln w="12700">
            <a:solidFill>
              <a:srgbClr val="E76F51"/>
            </a:solidFill>
            <a:prstDash val="solid"/>
          </a:ln>
        </p:spPr>
      </p:sp>
      <p:sp>
        <p:nvSpPr>
          <p:cNvPr id="14" name="Text 12"/>
          <p:cNvSpPr/>
          <p:nvPr/>
        </p:nvSpPr>
        <p:spPr>
          <a:xfrm>
            <a:off x="6449568" y="1524000"/>
            <a:ext cx="548640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533" b="1" dirty="0">
                <a:solidFill>
                  <a:srgbClr val="FFFFFF"/>
                </a:solidFill>
                <a:latin typeface="Calibri" pitchFamily="34" charset="0"/>
                <a:ea typeface="Calibri" pitchFamily="34" charset="-122"/>
                <a:cs typeface="Calibri" pitchFamily="34" charset="-120"/>
              </a:rPr>
              <a:t>Low Self-Regulation Learners</a:t>
            </a:r>
            <a:endParaRPr lang="en-US" sz="1533" dirty="0"/>
          </a:p>
        </p:txBody>
      </p:sp>
      <p:sp>
        <p:nvSpPr>
          <p:cNvPr id="15" name="Text 13"/>
          <p:cNvSpPr/>
          <p:nvPr/>
        </p:nvSpPr>
        <p:spPr>
          <a:xfrm>
            <a:off x="6486144" y="1999488"/>
            <a:ext cx="5364480" cy="42062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Open ChatGPT with no specific learning target</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Accept AI output with minimal review</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Copy-paste improved text without reflection</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Increasingly outsource editing to AI over time</a:t>
            </a:r>
            <a:endParaRPr lang="en-US" sz="1467" dirty="0"/>
          </a:p>
          <a:p>
            <a:pPr marL="457189" indent="-457189">
              <a:spcAft>
                <a:spcPts val="800"/>
              </a:spcAft>
              <a:buSzPct val="100000"/>
              <a:buChar char="•"/>
            </a:pPr>
            <a:r>
              <a:rPr lang="en-US" sz="1467" dirty="0">
                <a:solidFill>
                  <a:srgbClr val="1A2744"/>
                </a:solidFill>
                <a:latin typeface="Calibri" pitchFamily="34" charset="0"/>
                <a:ea typeface="Calibri" pitchFamily="34" charset="-122"/>
                <a:cs typeface="Calibri" pitchFamily="34" charset="-120"/>
              </a:rPr>
              <a:t>Show declining independent revision attempts</a:t>
            </a:r>
            <a:endParaRPr lang="en-US" sz="1467" dirty="0"/>
          </a:p>
          <a:p>
            <a:pPr marL="0" indent="0">
              <a:buNone/>
            </a:pPr>
            <a:r>
              <a:rPr lang="en-US" sz="1467" b="1" dirty="0">
                <a:solidFill>
                  <a:srgbClr val="E76F51"/>
                </a:solidFill>
                <a:latin typeface="Calibri" pitchFamily="34" charset="0"/>
                <a:ea typeface="Calibri" pitchFamily="34" charset="-122"/>
                <a:cs typeface="Calibri" pitchFamily="34" charset="-120"/>
              </a:rPr>
              <a:t>Outcome: Crutch effect — gains fade without AI</a:t>
            </a:r>
            <a:endParaRPr lang="en-US" sz="1467" dirty="0"/>
          </a:p>
        </p:txBody>
      </p:sp>
    </p:spTree>
    <p:extLst>
      <p:ext uri="{BB962C8B-B14F-4D97-AF65-F5344CB8AC3E}">
        <p14:creationId xmlns:p14="http://schemas.microsoft.com/office/powerpoint/2010/main" val="924928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3 · SOCIOLINGUISTICS &amp; EQUITY</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Sociolinguistic Equity: Who Benefits?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10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Performance gains do not distribute equally across linguistic backgrounds.</a:t>
            </a:r>
            <a:endParaRPr lang="en-US" sz="1600" dirty="0"/>
          </a:p>
        </p:txBody>
      </p:sp>
      <p:graphicFrame>
        <p:nvGraphicFramePr>
          <p:cNvPr id="8" name="Chart 0"/>
          <p:cNvGraphicFramePr/>
          <p:nvPr/>
        </p:nvGraphicFramePr>
        <p:xfrm>
          <a:off x="365760" y="1438656"/>
          <a:ext cx="6705600" cy="4267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315200" y="1438656"/>
            <a:ext cx="4511040" cy="1024128"/>
          </a:xfrm>
          <a:prstGeom prst="rect">
            <a:avLst/>
          </a:prstGeom>
          <a:solidFill>
            <a:srgbClr val="FFFFFF"/>
          </a:solidFill>
          <a:ln w="12700">
            <a:solidFill>
              <a:srgbClr val="1A2744"/>
            </a:solidFill>
            <a:prstDash val="solid"/>
          </a:ln>
          <a:effectLst>
            <a:outerShdw blurRad="38100" dist="12700" dir="8100000" algn="bl" rotWithShape="0">
              <a:srgbClr val="000000">
                <a:alpha val="7000"/>
              </a:srgbClr>
            </a:outerShdw>
          </a:effectLst>
        </p:spPr>
      </p:sp>
      <p:sp>
        <p:nvSpPr>
          <p:cNvPr id="10" name="Shape 7"/>
          <p:cNvSpPr/>
          <p:nvPr/>
        </p:nvSpPr>
        <p:spPr>
          <a:xfrm>
            <a:off x="7315200" y="1438656"/>
            <a:ext cx="85344" cy="1024128"/>
          </a:xfrm>
          <a:prstGeom prst="rect">
            <a:avLst/>
          </a:prstGeom>
          <a:solidFill>
            <a:srgbClr val="1A2744"/>
          </a:solidFill>
          <a:ln w="12700">
            <a:solidFill>
              <a:srgbClr val="1A2744"/>
            </a:solidFill>
            <a:prstDash val="solid"/>
          </a:ln>
        </p:spPr>
      </p:sp>
      <p:sp>
        <p:nvSpPr>
          <p:cNvPr id="11" name="Text 8"/>
          <p:cNvSpPr/>
          <p:nvPr/>
        </p:nvSpPr>
        <p:spPr>
          <a:xfrm>
            <a:off x="7498080" y="1524000"/>
            <a:ext cx="420624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A2744"/>
                </a:solidFill>
                <a:latin typeface="Calibri" pitchFamily="34" charset="0"/>
                <a:ea typeface="Calibri" pitchFamily="34" charset="-122"/>
                <a:cs typeface="Calibri" pitchFamily="34" charset="-120"/>
              </a:rPr>
              <a:t>Digital Access Gap</a:t>
            </a:r>
            <a:endParaRPr lang="en-US" sz="1333" dirty="0"/>
          </a:p>
        </p:txBody>
      </p:sp>
      <p:sp>
        <p:nvSpPr>
          <p:cNvPr id="12" name="Text 9"/>
          <p:cNvSpPr/>
          <p:nvPr/>
        </p:nvSpPr>
        <p:spPr>
          <a:xfrm>
            <a:off x="7498080" y="1804416"/>
            <a:ext cx="420624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Only 61% of Title I school students had consistent home broadband — limiting equitable AI access (Warschauer et al., 2023).</a:t>
            </a:r>
            <a:endParaRPr lang="en-US" sz="1267" dirty="0"/>
          </a:p>
        </p:txBody>
      </p:sp>
      <p:sp>
        <p:nvSpPr>
          <p:cNvPr id="13" name="Shape 10"/>
          <p:cNvSpPr/>
          <p:nvPr/>
        </p:nvSpPr>
        <p:spPr>
          <a:xfrm>
            <a:off x="7315200" y="2584704"/>
            <a:ext cx="4511040" cy="1024128"/>
          </a:xfrm>
          <a:prstGeom prst="rect">
            <a:avLst/>
          </a:prstGeom>
          <a:solidFill>
            <a:srgbClr val="FFFFFF"/>
          </a:solidFill>
          <a:ln w="12700">
            <a:solidFill>
              <a:srgbClr val="E76F51"/>
            </a:solidFill>
            <a:prstDash val="solid"/>
          </a:ln>
          <a:effectLst>
            <a:outerShdw blurRad="38100" dist="12700" dir="8100000" algn="bl" rotWithShape="0">
              <a:srgbClr val="000000">
                <a:alpha val="7000"/>
              </a:srgbClr>
            </a:outerShdw>
          </a:effectLst>
        </p:spPr>
      </p:sp>
      <p:sp>
        <p:nvSpPr>
          <p:cNvPr id="14" name="Shape 11"/>
          <p:cNvSpPr/>
          <p:nvPr/>
        </p:nvSpPr>
        <p:spPr>
          <a:xfrm>
            <a:off x="7315200" y="2584704"/>
            <a:ext cx="85344" cy="1024128"/>
          </a:xfrm>
          <a:prstGeom prst="rect">
            <a:avLst/>
          </a:prstGeom>
          <a:solidFill>
            <a:srgbClr val="E76F51"/>
          </a:solidFill>
          <a:ln w="12700">
            <a:solidFill>
              <a:srgbClr val="E76F51"/>
            </a:solidFill>
            <a:prstDash val="solid"/>
          </a:ln>
        </p:spPr>
      </p:sp>
      <p:sp>
        <p:nvSpPr>
          <p:cNvPr id="15" name="Text 12"/>
          <p:cNvSpPr/>
          <p:nvPr/>
        </p:nvSpPr>
        <p:spPr>
          <a:xfrm>
            <a:off x="7498080" y="2670048"/>
            <a:ext cx="420624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76F51"/>
                </a:solidFill>
                <a:latin typeface="Calibri" pitchFamily="34" charset="0"/>
                <a:ea typeface="Calibri" pitchFamily="34" charset="-122"/>
                <a:cs typeface="Calibri" pitchFamily="34" charset="-120"/>
              </a:rPr>
              <a:t>Standard Language Bias</a:t>
            </a:r>
            <a:endParaRPr lang="en-US" sz="1333" dirty="0"/>
          </a:p>
        </p:txBody>
      </p:sp>
      <p:sp>
        <p:nvSpPr>
          <p:cNvPr id="16" name="Text 13"/>
          <p:cNvSpPr/>
          <p:nvPr/>
        </p:nvSpPr>
        <p:spPr>
          <a:xfrm>
            <a:off x="7498080" y="2950464"/>
            <a:ext cx="420624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ChatGPT's training data skews toward prestige varieties. AAVE and dialect speakers receive disproportionately high 'error' flags.</a:t>
            </a:r>
            <a:endParaRPr lang="en-US" sz="1267" dirty="0"/>
          </a:p>
        </p:txBody>
      </p:sp>
      <p:sp>
        <p:nvSpPr>
          <p:cNvPr id="17" name="Shape 14"/>
          <p:cNvSpPr/>
          <p:nvPr/>
        </p:nvSpPr>
        <p:spPr>
          <a:xfrm>
            <a:off x="7315200" y="3730752"/>
            <a:ext cx="4511040" cy="1024128"/>
          </a:xfrm>
          <a:prstGeom prst="rect">
            <a:avLst/>
          </a:prstGeom>
          <a:solidFill>
            <a:srgbClr val="FFFFFF"/>
          </a:solidFill>
          <a:ln w="12700">
            <a:solidFill>
              <a:srgbClr val="E9C46A"/>
            </a:solidFill>
            <a:prstDash val="solid"/>
          </a:ln>
          <a:effectLst>
            <a:outerShdw blurRad="38100" dist="12700" dir="8100000" algn="bl" rotWithShape="0">
              <a:srgbClr val="000000">
                <a:alpha val="7000"/>
              </a:srgbClr>
            </a:outerShdw>
          </a:effectLst>
        </p:spPr>
      </p:sp>
      <p:sp>
        <p:nvSpPr>
          <p:cNvPr id="18" name="Shape 15"/>
          <p:cNvSpPr/>
          <p:nvPr/>
        </p:nvSpPr>
        <p:spPr>
          <a:xfrm>
            <a:off x="7315200" y="3730752"/>
            <a:ext cx="85344" cy="1024128"/>
          </a:xfrm>
          <a:prstGeom prst="rect">
            <a:avLst/>
          </a:prstGeom>
          <a:solidFill>
            <a:srgbClr val="E9C46A"/>
          </a:solidFill>
          <a:ln w="12700">
            <a:solidFill>
              <a:srgbClr val="E9C46A"/>
            </a:solidFill>
            <a:prstDash val="solid"/>
          </a:ln>
        </p:spPr>
      </p:sp>
      <p:sp>
        <p:nvSpPr>
          <p:cNvPr id="19" name="Text 16"/>
          <p:cNvSpPr/>
          <p:nvPr/>
        </p:nvSpPr>
        <p:spPr>
          <a:xfrm>
            <a:off x="7498080" y="3816096"/>
            <a:ext cx="420624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9C46A"/>
                </a:solidFill>
                <a:latin typeface="Calibri" pitchFamily="34" charset="0"/>
                <a:ea typeface="Calibri" pitchFamily="34" charset="-122"/>
                <a:cs typeface="Calibri" pitchFamily="34" charset="-120"/>
              </a:rPr>
              <a:t>Translanguaging Erasure</a:t>
            </a:r>
            <a:endParaRPr lang="en-US" sz="1333" dirty="0"/>
          </a:p>
        </p:txBody>
      </p:sp>
      <p:sp>
        <p:nvSpPr>
          <p:cNvPr id="20" name="Text 17"/>
          <p:cNvSpPr/>
          <p:nvPr/>
        </p:nvSpPr>
        <p:spPr>
          <a:xfrm>
            <a:off x="7498080" y="4096512"/>
            <a:ext cx="420624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Multilingual learners' use of L1 as a cognitive resource is not recognized or supported by AI tools.</a:t>
            </a:r>
            <a:endParaRPr lang="en-US" sz="1267" dirty="0"/>
          </a:p>
        </p:txBody>
      </p:sp>
      <p:sp>
        <p:nvSpPr>
          <p:cNvPr id="21" name="Shape 18"/>
          <p:cNvSpPr/>
          <p:nvPr/>
        </p:nvSpPr>
        <p:spPr>
          <a:xfrm>
            <a:off x="7315200" y="4876800"/>
            <a:ext cx="4511040" cy="1024128"/>
          </a:xfrm>
          <a:prstGeom prst="rect">
            <a:avLst/>
          </a:prstGeom>
          <a:solidFill>
            <a:srgbClr val="FFFFFF"/>
          </a:solidFill>
          <a:ln w="12700">
            <a:solidFill>
              <a:srgbClr val="2A9D8F"/>
            </a:solidFill>
            <a:prstDash val="solid"/>
          </a:ln>
          <a:effectLst>
            <a:outerShdw blurRad="38100" dist="12700" dir="8100000" algn="bl" rotWithShape="0">
              <a:srgbClr val="000000">
                <a:alpha val="7000"/>
              </a:srgbClr>
            </a:outerShdw>
          </a:effectLst>
        </p:spPr>
      </p:sp>
      <p:sp>
        <p:nvSpPr>
          <p:cNvPr id="22" name="Shape 19"/>
          <p:cNvSpPr/>
          <p:nvPr/>
        </p:nvSpPr>
        <p:spPr>
          <a:xfrm>
            <a:off x="7315200" y="4876800"/>
            <a:ext cx="85344" cy="1024128"/>
          </a:xfrm>
          <a:prstGeom prst="rect">
            <a:avLst/>
          </a:prstGeom>
          <a:solidFill>
            <a:srgbClr val="2A9D8F"/>
          </a:solidFill>
          <a:ln w="12700">
            <a:solidFill>
              <a:srgbClr val="2A9D8F"/>
            </a:solidFill>
            <a:prstDash val="solid"/>
          </a:ln>
        </p:spPr>
      </p:sp>
      <p:sp>
        <p:nvSpPr>
          <p:cNvPr id="23" name="Text 20"/>
          <p:cNvSpPr/>
          <p:nvPr/>
        </p:nvSpPr>
        <p:spPr>
          <a:xfrm>
            <a:off x="7498080" y="4962144"/>
            <a:ext cx="420624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2A9D8F"/>
                </a:solidFill>
                <a:latin typeface="Calibri" pitchFamily="34" charset="0"/>
                <a:ea typeface="Calibri" pitchFamily="34" charset="-122"/>
                <a:cs typeface="Calibri" pitchFamily="34" charset="-120"/>
              </a:rPr>
              <a:t>Intercultural Blind Spots</a:t>
            </a:r>
            <a:endParaRPr lang="en-US" sz="1333" dirty="0"/>
          </a:p>
        </p:txBody>
      </p:sp>
      <p:sp>
        <p:nvSpPr>
          <p:cNvPr id="24" name="Text 21"/>
          <p:cNvSpPr/>
          <p:nvPr/>
        </p:nvSpPr>
        <p:spPr>
          <a:xfrm>
            <a:off x="7498080" y="5242560"/>
            <a:ext cx="4206240" cy="6096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AI feedback rarely engages with culture-specific rhetorical conventions, defaulting to Western academic norms.</a:t>
            </a:r>
            <a:endParaRPr lang="en-US" sz="1267" dirty="0"/>
          </a:p>
        </p:txBody>
      </p:sp>
    </p:spTree>
    <p:extLst>
      <p:ext uri="{BB962C8B-B14F-4D97-AF65-F5344CB8AC3E}">
        <p14:creationId xmlns:p14="http://schemas.microsoft.com/office/powerpoint/2010/main" val="976930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3 · SOCIOLINGUISTICS &amp; EQUITY</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The Standardization Trap: Language Ideology in AI</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11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ChatGPT doesn't just teach language — it teaches a particular ideology of language.</a:t>
            </a:r>
            <a:endParaRPr lang="en-US" sz="1600" dirty="0"/>
          </a:p>
        </p:txBody>
      </p:sp>
      <p:sp>
        <p:nvSpPr>
          <p:cNvPr id="8" name="Shape 6"/>
          <p:cNvSpPr/>
          <p:nvPr/>
        </p:nvSpPr>
        <p:spPr>
          <a:xfrm>
            <a:off x="365760" y="1463040"/>
            <a:ext cx="6339840" cy="792480"/>
          </a:xfrm>
          <a:prstGeom prst="rect">
            <a:avLst/>
          </a:prstGeom>
          <a:solidFill>
            <a:srgbClr val="1A2744"/>
          </a:solidFill>
          <a:ln w="12700">
            <a:solidFill>
              <a:srgbClr val="1A2744"/>
            </a:solidFill>
            <a:prstDash val="solid"/>
          </a:ln>
        </p:spPr>
      </p:sp>
      <p:sp>
        <p:nvSpPr>
          <p:cNvPr id="9" name="Text 7"/>
          <p:cNvSpPr/>
          <p:nvPr/>
        </p:nvSpPr>
        <p:spPr>
          <a:xfrm>
            <a:off x="426720" y="1463040"/>
            <a:ext cx="621792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Learner Input (diverse varieties)</a:t>
            </a:r>
            <a:endParaRPr lang="en-US" sz="1333" dirty="0"/>
          </a:p>
        </p:txBody>
      </p:sp>
      <p:sp>
        <p:nvSpPr>
          <p:cNvPr id="10" name="Text 8"/>
          <p:cNvSpPr/>
          <p:nvPr/>
        </p:nvSpPr>
        <p:spPr>
          <a:xfrm>
            <a:off x="3352800" y="2255520"/>
            <a:ext cx="365760" cy="14630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dirty="0">
                <a:solidFill>
                  <a:srgbClr val="1A2744"/>
                </a:solidFill>
                <a:latin typeface="Calibri" pitchFamily="34" charset="0"/>
                <a:ea typeface="Calibri" pitchFamily="34" charset="-122"/>
                <a:cs typeface="Calibri" pitchFamily="34" charset="-120"/>
              </a:rPr>
              <a:t>▼</a:t>
            </a:r>
            <a:endParaRPr lang="en-US" sz="1067" dirty="0"/>
          </a:p>
        </p:txBody>
      </p:sp>
      <p:sp>
        <p:nvSpPr>
          <p:cNvPr id="11" name="Shape 9"/>
          <p:cNvSpPr/>
          <p:nvPr/>
        </p:nvSpPr>
        <p:spPr>
          <a:xfrm>
            <a:off x="975360" y="2401824"/>
            <a:ext cx="5120640" cy="792480"/>
          </a:xfrm>
          <a:prstGeom prst="rect">
            <a:avLst/>
          </a:prstGeom>
          <a:solidFill>
            <a:srgbClr val="2A6496"/>
          </a:solidFill>
          <a:ln w="12700">
            <a:solidFill>
              <a:srgbClr val="2A6496"/>
            </a:solidFill>
            <a:prstDash val="solid"/>
          </a:ln>
        </p:spPr>
      </p:sp>
      <p:sp>
        <p:nvSpPr>
          <p:cNvPr id="12" name="Text 10"/>
          <p:cNvSpPr/>
          <p:nvPr/>
        </p:nvSpPr>
        <p:spPr>
          <a:xfrm>
            <a:off x="1036320" y="2401824"/>
            <a:ext cx="499872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AI Processing (prestige variety training data)</a:t>
            </a:r>
            <a:endParaRPr lang="en-US" sz="1333" dirty="0"/>
          </a:p>
        </p:txBody>
      </p:sp>
      <p:sp>
        <p:nvSpPr>
          <p:cNvPr id="13" name="Text 11"/>
          <p:cNvSpPr/>
          <p:nvPr/>
        </p:nvSpPr>
        <p:spPr>
          <a:xfrm>
            <a:off x="3352800" y="3194304"/>
            <a:ext cx="365760" cy="14630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dirty="0">
                <a:solidFill>
                  <a:srgbClr val="2A6496"/>
                </a:solidFill>
                <a:latin typeface="Calibri" pitchFamily="34" charset="0"/>
                <a:ea typeface="Calibri" pitchFamily="34" charset="-122"/>
                <a:cs typeface="Calibri" pitchFamily="34" charset="-120"/>
              </a:rPr>
              <a:t>▼</a:t>
            </a:r>
            <a:endParaRPr lang="en-US" sz="1067" dirty="0"/>
          </a:p>
        </p:txBody>
      </p:sp>
      <p:sp>
        <p:nvSpPr>
          <p:cNvPr id="14" name="Shape 12"/>
          <p:cNvSpPr/>
          <p:nvPr/>
        </p:nvSpPr>
        <p:spPr>
          <a:xfrm>
            <a:off x="1584960" y="3340608"/>
            <a:ext cx="3901440" cy="792480"/>
          </a:xfrm>
          <a:prstGeom prst="rect">
            <a:avLst/>
          </a:prstGeom>
          <a:solidFill>
            <a:srgbClr val="2A9D8F"/>
          </a:solidFill>
          <a:ln w="12700">
            <a:solidFill>
              <a:srgbClr val="2A9D8F"/>
            </a:solidFill>
            <a:prstDash val="solid"/>
          </a:ln>
        </p:spPr>
      </p:sp>
      <p:sp>
        <p:nvSpPr>
          <p:cNvPr id="15" name="Text 13"/>
          <p:cNvSpPr/>
          <p:nvPr/>
        </p:nvSpPr>
        <p:spPr>
          <a:xfrm>
            <a:off x="1645920" y="3340608"/>
            <a:ext cx="377952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'Corrected' Output (narrow standard)</a:t>
            </a:r>
            <a:endParaRPr lang="en-US" sz="1333" dirty="0"/>
          </a:p>
        </p:txBody>
      </p:sp>
      <p:sp>
        <p:nvSpPr>
          <p:cNvPr id="16" name="Text 14"/>
          <p:cNvSpPr/>
          <p:nvPr/>
        </p:nvSpPr>
        <p:spPr>
          <a:xfrm>
            <a:off x="3352800" y="4133088"/>
            <a:ext cx="365760" cy="14630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067" dirty="0">
                <a:solidFill>
                  <a:srgbClr val="2A9D8F"/>
                </a:solidFill>
                <a:latin typeface="Calibri" pitchFamily="34" charset="0"/>
                <a:ea typeface="Calibri" pitchFamily="34" charset="-122"/>
                <a:cs typeface="Calibri" pitchFamily="34" charset="-120"/>
              </a:rPr>
              <a:t>▼</a:t>
            </a:r>
            <a:endParaRPr lang="en-US" sz="1067" dirty="0"/>
          </a:p>
        </p:txBody>
      </p:sp>
      <p:sp>
        <p:nvSpPr>
          <p:cNvPr id="17" name="Shape 15"/>
          <p:cNvSpPr/>
          <p:nvPr/>
        </p:nvSpPr>
        <p:spPr>
          <a:xfrm>
            <a:off x="2194560" y="4279392"/>
            <a:ext cx="2682240" cy="792480"/>
          </a:xfrm>
          <a:prstGeom prst="rect">
            <a:avLst/>
          </a:prstGeom>
          <a:solidFill>
            <a:srgbClr val="E76F51"/>
          </a:solidFill>
          <a:ln w="12700">
            <a:solidFill>
              <a:srgbClr val="E76F51"/>
            </a:solidFill>
            <a:prstDash val="solid"/>
          </a:ln>
        </p:spPr>
      </p:sp>
      <p:sp>
        <p:nvSpPr>
          <p:cNvPr id="18" name="Text 16"/>
          <p:cNvSpPr/>
          <p:nvPr/>
        </p:nvSpPr>
        <p:spPr>
          <a:xfrm>
            <a:off x="2255520" y="4279392"/>
            <a:ext cx="256032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latin typeface="Calibri" pitchFamily="34" charset="0"/>
                <a:ea typeface="Calibri" pitchFamily="34" charset="-122"/>
                <a:cs typeface="Calibri" pitchFamily="34" charset="-120"/>
              </a:rPr>
              <a:t>Learner Internalizes Standard Norm</a:t>
            </a:r>
            <a:endParaRPr lang="en-US" sz="1333" dirty="0"/>
          </a:p>
        </p:txBody>
      </p:sp>
      <p:sp>
        <p:nvSpPr>
          <p:cNvPr id="19" name="Text 17"/>
          <p:cNvSpPr/>
          <p:nvPr/>
        </p:nvSpPr>
        <p:spPr>
          <a:xfrm>
            <a:off x="7132320" y="1280160"/>
            <a:ext cx="4754880" cy="3048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b="1" kern="0" spc="200" dirty="0">
                <a:solidFill>
                  <a:srgbClr val="4A5568"/>
                </a:solidFill>
                <a:latin typeface="Calibri" pitchFamily="34" charset="0"/>
                <a:ea typeface="Calibri" pitchFamily="34" charset="-122"/>
                <a:cs typeface="Calibri" pitchFamily="34" charset="-120"/>
              </a:rPr>
              <a:t>STANDARD LANGUAGE IDEOLOGY SPECTRUM</a:t>
            </a:r>
            <a:endParaRPr lang="en-US" sz="1133" dirty="0"/>
          </a:p>
        </p:txBody>
      </p:sp>
      <p:sp>
        <p:nvSpPr>
          <p:cNvPr id="20" name="Shape 18"/>
          <p:cNvSpPr/>
          <p:nvPr/>
        </p:nvSpPr>
        <p:spPr>
          <a:xfrm>
            <a:off x="7132320" y="1682496"/>
            <a:ext cx="4754880" cy="707136"/>
          </a:xfrm>
          <a:prstGeom prst="rect">
            <a:avLst/>
          </a:prstGeom>
          <a:solidFill>
            <a:srgbClr val="E76F51">
              <a:alpha val="20000"/>
            </a:srgbClr>
          </a:solidFill>
          <a:ln w="12700">
            <a:solidFill>
              <a:srgbClr val="E76F51"/>
            </a:solidFill>
            <a:prstDash val="solid"/>
          </a:ln>
        </p:spPr>
      </p:sp>
      <p:sp>
        <p:nvSpPr>
          <p:cNvPr id="21" name="Shape 19"/>
          <p:cNvSpPr/>
          <p:nvPr/>
        </p:nvSpPr>
        <p:spPr>
          <a:xfrm>
            <a:off x="7132320" y="1682496"/>
            <a:ext cx="85344" cy="707136"/>
          </a:xfrm>
          <a:prstGeom prst="rect">
            <a:avLst/>
          </a:prstGeom>
          <a:solidFill>
            <a:srgbClr val="E76F51"/>
          </a:solidFill>
          <a:ln w="12700">
            <a:solidFill>
              <a:srgbClr val="E76F51"/>
            </a:solidFill>
            <a:prstDash val="solid"/>
          </a:ln>
        </p:spPr>
      </p:sp>
      <p:sp>
        <p:nvSpPr>
          <p:cNvPr id="22" name="Text 20"/>
          <p:cNvSpPr/>
          <p:nvPr/>
        </p:nvSpPr>
        <p:spPr>
          <a:xfrm>
            <a:off x="7315200" y="1743456"/>
            <a:ext cx="43891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76F51"/>
                </a:solidFill>
                <a:latin typeface="Calibri" pitchFamily="34" charset="0"/>
                <a:ea typeface="Calibri" pitchFamily="34" charset="-122"/>
                <a:cs typeface="Calibri" pitchFamily="34" charset="-120"/>
              </a:rPr>
              <a:t>"Correct" English</a:t>
            </a:r>
            <a:endParaRPr lang="en-US" sz="1333" dirty="0"/>
          </a:p>
        </p:txBody>
      </p:sp>
      <p:sp>
        <p:nvSpPr>
          <p:cNvPr id="23" name="Text 21"/>
          <p:cNvSpPr/>
          <p:nvPr/>
        </p:nvSpPr>
        <p:spPr>
          <a:xfrm>
            <a:off x="7315200" y="2011680"/>
            <a:ext cx="43891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AI confidently flags as error</a:t>
            </a:r>
            <a:endParaRPr lang="en-US" sz="1267" dirty="0"/>
          </a:p>
        </p:txBody>
      </p:sp>
      <p:sp>
        <p:nvSpPr>
          <p:cNvPr id="24" name="Shape 22"/>
          <p:cNvSpPr/>
          <p:nvPr/>
        </p:nvSpPr>
        <p:spPr>
          <a:xfrm>
            <a:off x="7132320" y="2511552"/>
            <a:ext cx="4754880" cy="707136"/>
          </a:xfrm>
          <a:prstGeom prst="rect">
            <a:avLst/>
          </a:prstGeom>
          <a:solidFill>
            <a:srgbClr val="E76F51">
              <a:alpha val="20000"/>
            </a:srgbClr>
          </a:solidFill>
          <a:ln w="12700">
            <a:solidFill>
              <a:srgbClr val="E76F51"/>
            </a:solidFill>
            <a:prstDash val="solid"/>
          </a:ln>
        </p:spPr>
      </p:sp>
      <p:sp>
        <p:nvSpPr>
          <p:cNvPr id="25" name="Shape 23"/>
          <p:cNvSpPr/>
          <p:nvPr/>
        </p:nvSpPr>
        <p:spPr>
          <a:xfrm>
            <a:off x="7132320" y="2511552"/>
            <a:ext cx="85344" cy="707136"/>
          </a:xfrm>
          <a:prstGeom prst="rect">
            <a:avLst/>
          </a:prstGeom>
          <a:solidFill>
            <a:srgbClr val="E76F51"/>
          </a:solidFill>
          <a:ln w="12700">
            <a:solidFill>
              <a:srgbClr val="E76F51"/>
            </a:solidFill>
            <a:prstDash val="solid"/>
          </a:ln>
        </p:spPr>
      </p:sp>
      <p:sp>
        <p:nvSpPr>
          <p:cNvPr id="26" name="Text 24"/>
          <p:cNvSpPr/>
          <p:nvPr/>
        </p:nvSpPr>
        <p:spPr>
          <a:xfrm>
            <a:off x="7315200" y="2572512"/>
            <a:ext cx="43891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76F51"/>
                </a:solidFill>
                <a:latin typeface="Calibri" pitchFamily="34" charset="0"/>
                <a:ea typeface="Calibri" pitchFamily="34" charset="-122"/>
                <a:cs typeface="Calibri" pitchFamily="34" charset="-120"/>
              </a:rPr>
              <a:t>Dialect Features (AAVE)</a:t>
            </a:r>
            <a:endParaRPr lang="en-US" sz="1333" dirty="0"/>
          </a:p>
        </p:txBody>
      </p:sp>
      <p:sp>
        <p:nvSpPr>
          <p:cNvPr id="27" name="Text 25"/>
          <p:cNvSpPr/>
          <p:nvPr/>
        </p:nvSpPr>
        <p:spPr>
          <a:xfrm>
            <a:off x="7315200" y="2840736"/>
            <a:ext cx="43891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Marked as non-standard; penalized in scoring</a:t>
            </a:r>
            <a:endParaRPr lang="en-US" sz="1267" dirty="0"/>
          </a:p>
        </p:txBody>
      </p:sp>
      <p:sp>
        <p:nvSpPr>
          <p:cNvPr id="28" name="Shape 26"/>
          <p:cNvSpPr/>
          <p:nvPr/>
        </p:nvSpPr>
        <p:spPr>
          <a:xfrm>
            <a:off x="7132320" y="3340608"/>
            <a:ext cx="4754880" cy="707136"/>
          </a:xfrm>
          <a:prstGeom prst="rect">
            <a:avLst/>
          </a:prstGeom>
          <a:solidFill>
            <a:srgbClr val="E9C46A">
              <a:alpha val="20000"/>
            </a:srgbClr>
          </a:solidFill>
          <a:ln w="12700">
            <a:solidFill>
              <a:srgbClr val="E9C46A"/>
            </a:solidFill>
            <a:prstDash val="solid"/>
          </a:ln>
        </p:spPr>
      </p:sp>
      <p:sp>
        <p:nvSpPr>
          <p:cNvPr id="29" name="Shape 27"/>
          <p:cNvSpPr/>
          <p:nvPr/>
        </p:nvSpPr>
        <p:spPr>
          <a:xfrm>
            <a:off x="7132320" y="3340608"/>
            <a:ext cx="85344" cy="707136"/>
          </a:xfrm>
          <a:prstGeom prst="rect">
            <a:avLst/>
          </a:prstGeom>
          <a:solidFill>
            <a:srgbClr val="E9C46A"/>
          </a:solidFill>
          <a:ln w="12700">
            <a:solidFill>
              <a:srgbClr val="E9C46A"/>
            </a:solidFill>
            <a:prstDash val="solid"/>
          </a:ln>
        </p:spPr>
      </p:sp>
      <p:sp>
        <p:nvSpPr>
          <p:cNvPr id="30" name="Text 28"/>
          <p:cNvSpPr/>
          <p:nvPr/>
        </p:nvSpPr>
        <p:spPr>
          <a:xfrm>
            <a:off x="7315200" y="3401568"/>
            <a:ext cx="43891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9C46A"/>
                </a:solidFill>
                <a:latin typeface="Calibri" pitchFamily="34" charset="0"/>
                <a:ea typeface="Calibri" pitchFamily="34" charset="-122"/>
                <a:cs typeface="Calibri" pitchFamily="34" charset="-120"/>
              </a:rPr>
              <a:t>Code-Switching</a:t>
            </a:r>
            <a:endParaRPr lang="en-US" sz="1333" dirty="0"/>
          </a:p>
        </p:txBody>
      </p:sp>
      <p:sp>
        <p:nvSpPr>
          <p:cNvPr id="31" name="Text 29"/>
          <p:cNvSpPr/>
          <p:nvPr/>
        </p:nvSpPr>
        <p:spPr>
          <a:xfrm>
            <a:off x="7315200" y="3669792"/>
            <a:ext cx="43891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Typically removed or "corrected" by AI</a:t>
            </a:r>
            <a:endParaRPr lang="en-US" sz="1267" dirty="0"/>
          </a:p>
        </p:txBody>
      </p:sp>
      <p:sp>
        <p:nvSpPr>
          <p:cNvPr id="32" name="Shape 30"/>
          <p:cNvSpPr/>
          <p:nvPr/>
        </p:nvSpPr>
        <p:spPr>
          <a:xfrm>
            <a:off x="7132320" y="4169664"/>
            <a:ext cx="4754880" cy="707136"/>
          </a:xfrm>
          <a:prstGeom prst="rect">
            <a:avLst/>
          </a:prstGeom>
          <a:solidFill>
            <a:srgbClr val="E9C46A">
              <a:alpha val="20000"/>
            </a:srgbClr>
          </a:solidFill>
          <a:ln w="12700">
            <a:solidFill>
              <a:srgbClr val="E9C46A"/>
            </a:solidFill>
            <a:prstDash val="solid"/>
          </a:ln>
        </p:spPr>
      </p:sp>
      <p:sp>
        <p:nvSpPr>
          <p:cNvPr id="33" name="Shape 31"/>
          <p:cNvSpPr/>
          <p:nvPr/>
        </p:nvSpPr>
        <p:spPr>
          <a:xfrm>
            <a:off x="7132320" y="4169664"/>
            <a:ext cx="85344" cy="707136"/>
          </a:xfrm>
          <a:prstGeom prst="rect">
            <a:avLst/>
          </a:prstGeom>
          <a:solidFill>
            <a:srgbClr val="E9C46A"/>
          </a:solidFill>
          <a:ln w="12700">
            <a:solidFill>
              <a:srgbClr val="E9C46A"/>
            </a:solidFill>
            <a:prstDash val="solid"/>
          </a:ln>
        </p:spPr>
      </p:sp>
      <p:sp>
        <p:nvSpPr>
          <p:cNvPr id="34" name="Text 32"/>
          <p:cNvSpPr/>
          <p:nvPr/>
        </p:nvSpPr>
        <p:spPr>
          <a:xfrm>
            <a:off x="7315200" y="4230624"/>
            <a:ext cx="43891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9C46A"/>
                </a:solidFill>
                <a:latin typeface="Calibri" pitchFamily="34" charset="0"/>
                <a:ea typeface="Calibri" pitchFamily="34" charset="-122"/>
                <a:cs typeface="Calibri" pitchFamily="34" charset="-120"/>
              </a:rPr>
              <a:t>L1 Influence Patterns</a:t>
            </a:r>
            <a:endParaRPr lang="en-US" sz="1333" dirty="0"/>
          </a:p>
        </p:txBody>
      </p:sp>
      <p:sp>
        <p:nvSpPr>
          <p:cNvPr id="35" name="Text 33"/>
          <p:cNvSpPr/>
          <p:nvPr/>
        </p:nvSpPr>
        <p:spPr>
          <a:xfrm>
            <a:off x="7315200" y="4498848"/>
            <a:ext cx="43891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Treated as errors, not as identity markers</a:t>
            </a:r>
            <a:endParaRPr lang="en-US" sz="1267" dirty="0"/>
          </a:p>
        </p:txBody>
      </p:sp>
      <p:sp>
        <p:nvSpPr>
          <p:cNvPr id="36" name="Shape 34"/>
          <p:cNvSpPr/>
          <p:nvPr/>
        </p:nvSpPr>
        <p:spPr>
          <a:xfrm>
            <a:off x="7132320" y="4998720"/>
            <a:ext cx="4754880" cy="707136"/>
          </a:xfrm>
          <a:prstGeom prst="rect">
            <a:avLst/>
          </a:prstGeom>
          <a:solidFill>
            <a:srgbClr val="52B788">
              <a:alpha val="20000"/>
            </a:srgbClr>
          </a:solidFill>
          <a:ln w="12700">
            <a:solidFill>
              <a:srgbClr val="52B788"/>
            </a:solidFill>
            <a:prstDash val="solid"/>
          </a:ln>
        </p:spPr>
      </p:sp>
      <p:sp>
        <p:nvSpPr>
          <p:cNvPr id="37" name="Shape 35"/>
          <p:cNvSpPr/>
          <p:nvPr/>
        </p:nvSpPr>
        <p:spPr>
          <a:xfrm>
            <a:off x="7132320" y="4998720"/>
            <a:ext cx="85344" cy="707136"/>
          </a:xfrm>
          <a:prstGeom prst="rect">
            <a:avLst/>
          </a:prstGeom>
          <a:solidFill>
            <a:srgbClr val="52B788"/>
          </a:solidFill>
          <a:ln w="12700">
            <a:solidFill>
              <a:srgbClr val="52B788"/>
            </a:solidFill>
            <a:prstDash val="solid"/>
          </a:ln>
        </p:spPr>
      </p:sp>
      <p:sp>
        <p:nvSpPr>
          <p:cNvPr id="38" name="Text 36"/>
          <p:cNvSpPr/>
          <p:nvPr/>
        </p:nvSpPr>
        <p:spPr>
          <a:xfrm>
            <a:off x="7315200" y="5059680"/>
            <a:ext cx="438912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52B788"/>
                </a:solidFill>
                <a:latin typeface="Calibri" pitchFamily="34" charset="0"/>
                <a:ea typeface="Calibri" pitchFamily="34" charset="-122"/>
                <a:cs typeface="Calibri" pitchFamily="34" charset="-120"/>
              </a:rPr>
              <a:t>Academic Register</a:t>
            </a:r>
            <a:endParaRPr lang="en-US" sz="1333" dirty="0"/>
          </a:p>
        </p:txBody>
      </p:sp>
      <p:sp>
        <p:nvSpPr>
          <p:cNvPr id="39" name="Text 37"/>
          <p:cNvSpPr/>
          <p:nvPr/>
        </p:nvSpPr>
        <p:spPr>
          <a:xfrm>
            <a:off x="7315200" y="5327904"/>
            <a:ext cx="43891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AI performs best; least bias detected</a:t>
            </a:r>
            <a:endParaRPr lang="en-US" sz="126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3 · CRITICAL RISKS</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The Misinformation Loop: A Critical Risk</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12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AI hallucination in language education contexts creates compounding risks for learners.</a:t>
            </a:r>
            <a:endParaRPr lang="en-US" sz="1600" dirty="0"/>
          </a:p>
        </p:txBody>
      </p:sp>
      <p:sp>
        <p:nvSpPr>
          <p:cNvPr id="8" name="Shape 6"/>
          <p:cNvSpPr/>
          <p:nvPr/>
        </p:nvSpPr>
        <p:spPr>
          <a:xfrm>
            <a:off x="1341120" y="1828800"/>
            <a:ext cx="3048000" cy="1341120"/>
          </a:xfrm>
          <a:prstGeom prst="rect">
            <a:avLst/>
          </a:prstGeom>
          <a:solidFill>
            <a:srgbClr val="E76F51">
              <a:alpha val="90000"/>
            </a:srgbClr>
          </a:solidFill>
          <a:ln w="19050">
            <a:solidFill>
              <a:srgbClr val="E76F51"/>
            </a:solidFill>
            <a:prstDash val="solid"/>
          </a:ln>
        </p:spPr>
      </p:sp>
      <p:sp>
        <p:nvSpPr>
          <p:cNvPr id="9" name="Text 7"/>
          <p:cNvSpPr/>
          <p:nvPr/>
        </p:nvSpPr>
        <p:spPr>
          <a:xfrm>
            <a:off x="1463040" y="1828800"/>
            <a:ext cx="2804160" cy="13411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dirty="0">
                <a:solidFill>
                  <a:srgbClr val="FFFFFF"/>
                </a:solidFill>
                <a:latin typeface="Calibri" pitchFamily="34" charset="0"/>
                <a:ea typeface="Calibri" pitchFamily="34" charset="-122"/>
                <a:cs typeface="Calibri" pitchFamily="34" charset="-120"/>
              </a:rPr>
              <a:t>AI generates</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plausible but</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incorrect rule</a:t>
            </a:r>
            <a:endParaRPr lang="en-US" sz="1467" dirty="0"/>
          </a:p>
        </p:txBody>
      </p:sp>
      <p:sp>
        <p:nvSpPr>
          <p:cNvPr id="10" name="Shape 8"/>
          <p:cNvSpPr/>
          <p:nvPr/>
        </p:nvSpPr>
        <p:spPr>
          <a:xfrm>
            <a:off x="5364480" y="1828800"/>
            <a:ext cx="3048000" cy="1341120"/>
          </a:xfrm>
          <a:prstGeom prst="rect">
            <a:avLst/>
          </a:prstGeom>
          <a:solidFill>
            <a:srgbClr val="E9C46A">
              <a:alpha val="90000"/>
            </a:srgbClr>
          </a:solidFill>
          <a:ln w="19050">
            <a:solidFill>
              <a:srgbClr val="E9C46A"/>
            </a:solidFill>
            <a:prstDash val="solid"/>
          </a:ln>
        </p:spPr>
      </p:sp>
      <p:sp>
        <p:nvSpPr>
          <p:cNvPr id="11" name="Text 9"/>
          <p:cNvSpPr/>
          <p:nvPr/>
        </p:nvSpPr>
        <p:spPr>
          <a:xfrm>
            <a:off x="5486400" y="1828800"/>
            <a:ext cx="2804160" cy="13411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dirty="0">
                <a:solidFill>
                  <a:srgbClr val="FFFFFF"/>
                </a:solidFill>
                <a:latin typeface="Calibri" pitchFamily="34" charset="0"/>
                <a:ea typeface="Calibri" pitchFamily="34" charset="-122"/>
                <a:cs typeface="Calibri" pitchFamily="34" charset="-120"/>
              </a:rPr>
              <a:t>Learner accepts</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without critical</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evaluation</a:t>
            </a:r>
            <a:endParaRPr lang="en-US" sz="1467" dirty="0"/>
          </a:p>
        </p:txBody>
      </p:sp>
      <p:sp>
        <p:nvSpPr>
          <p:cNvPr id="12" name="Shape 10"/>
          <p:cNvSpPr/>
          <p:nvPr/>
        </p:nvSpPr>
        <p:spPr>
          <a:xfrm>
            <a:off x="5364480" y="4023360"/>
            <a:ext cx="3048000" cy="1341120"/>
          </a:xfrm>
          <a:prstGeom prst="rect">
            <a:avLst/>
          </a:prstGeom>
          <a:solidFill>
            <a:srgbClr val="1A2744">
              <a:alpha val="90000"/>
            </a:srgbClr>
          </a:solidFill>
          <a:ln w="19050">
            <a:solidFill>
              <a:srgbClr val="1A2744"/>
            </a:solidFill>
            <a:prstDash val="solid"/>
          </a:ln>
        </p:spPr>
      </p:sp>
      <p:sp>
        <p:nvSpPr>
          <p:cNvPr id="13" name="Text 11"/>
          <p:cNvSpPr/>
          <p:nvPr/>
        </p:nvSpPr>
        <p:spPr>
          <a:xfrm>
            <a:off x="5486400" y="4023360"/>
            <a:ext cx="2804160" cy="13411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dirty="0">
                <a:solidFill>
                  <a:srgbClr val="FFFFFF"/>
                </a:solidFill>
                <a:latin typeface="Calibri" pitchFamily="34" charset="0"/>
                <a:ea typeface="Calibri" pitchFamily="34" charset="-122"/>
                <a:cs typeface="Calibri" pitchFamily="34" charset="-120"/>
              </a:rPr>
              <a:t>Incorrect rule</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applied in</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production</a:t>
            </a:r>
            <a:endParaRPr lang="en-US" sz="1467" dirty="0"/>
          </a:p>
        </p:txBody>
      </p:sp>
      <p:sp>
        <p:nvSpPr>
          <p:cNvPr id="14" name="Shape 12"/>
          <p:cNvSpPr/>
          <p:nvPr/>
        </p:nvSpPr>
        <p:spPr>
          <a:xfrm>
            <a:off x="1341120" y="4023360"/>
            <a:ext cx="3048000" cy="1341120"/>
          </a:xfrm>
          <a:prstGeom prst="rect">
            <a:avLst/>
          </a:prstGeom>
          <a:solidFill>
            <a:srgbClr val="2A6496">
              <a:alpha val="90000"/>
            </a:srgbClr>
          </a:solidFill>
          <a:ln w="19050">
            <a:solidFill>
              <a:srgbClr val="2A6496"/>
            </a:solidFill>
            <a:prstDash val="solid"/>
          </a:ln>
        </p:spPr>
      </p:sp>
      <p:sp>
        <p:nvSpPr>
          <p:cNvPr id="15" name="Text 13"/>
          <p:cNvSpPr/>
          <p:nvPr/>
        </p:nvSpPr>
        <p:spPr>
          <a:xfrm>
            <a:off x="1463040" y="4023360"/>
            <a:ext cx="2804160" cy="134112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dirty="0">
                <a:solidFill>
                  <a:srgbClr val="FFFFFF"/>
                </a:solidFill>
                <a:latin typeface="Calibri" pitchFamily="34" charset="0"/>
                <a:ea typeface="Calibri" pitchFamily="34" charset="-122"/>
                <a:cs typeface="Calibri" pitchFamily="34" charset="-120"/>
              </a:rPr>
              <a:t>Teacher/AI</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reinforces error</a:t>
            </a:r>
            <a:endParaRPr lang="en-US" sz="1467" dirty="0"/>
          </a:p>
          <a:p>
            <a:pPr marL="0" indent="0" algn="ctr">
              <a:buNone/>
            </a:pPr>
            <a:r>
              <a:rPr lang="en-US" sz="1467" b="1" dirty="0">
                <a:solidFill>
                  <a:srgbClr val="FFFFFF"/>
                </a:solidFill>
                <a:latin typeface="Calibri" pitchFamily="34" charset="0"/>
                <a:ea typeface="Calibri" pitchFamily="34" charset="-122"/>
                <a:cs typeface="Calibri" pitchFamily="34" charset="-120"/>
              </a:rPr>
              <a:t>or misses it</a:t>
            </a:r>
            <a:endParaRPr lang="en-US" sz="1467" dirty="0"/>
          </a:p>
        </p:txBody>
      </p:sp>
      <p:sp>
        <p:nvSpPr>
          <p:cNvPr id="16" name="Shape 14"/>
          <p:cNvSpPr/>
          <p:nvPr/>
        </p:nvSpPr>
        <p:spPr>
          <a:xfrm>
            <a:off x="4389120" y="2438400"/>
            <a:ext cx="976579" cy="1219"/>
          </a:xfrm>
          <a:prstGeom prst="line">
            <a:avLst/>
          </a:prstGeom>
          <a:noFill/>
          <a:ln w="19050">
            <a:solidFill>
              <a:srgbClr val="4A5568"/>
            </a:solidFill>
            <a:prstDash val="solid"/>
            <a:tailEnd type="triangle"/>
          </a:ln>
        </p:spPr>
      </p:sp>
      <p:sp>
        <p:nvSpPr>
          <p:cNvPr id="17" name="Shape 15"/>
          <p:cNvSpPr/>
          <p:nvPr/>
        </p:nvSpPr>
        <p:spPr>
          <a:xfrm>
            <a:off x="6949440" y="3169920"/>
            <a:ext cx="1219" cy="854659"/>
          </a:xfrm>
          <a:prstGeom prst="line">
            <a:avLst/>
          </a:prstGeom>
          <a:noFill/>
          <a:ln w="19050">
            <a:solidFill>
              <a:srgbClr val="4A5568"/>
            </a:solidFill>
            <a:prstDash val="solid"/>
            <a:tailEnd type="triangle"/>
          </a:ln>
        </p:spPr>
      </p:sp>
      <p:sp>
        <p:nvSpPr>
          <p:cNvPr id="18" name="Shape 16"/>
          <p:cNvSpPr/>
          <p:nvPr/>
        </p:nvSpPr>
        <p:spPr>
          <a:xfrm>
            <a:off x="5364480" y="4693920"/>
            <a:ext cx="0" cy="1219"/>
          </a:xfrm>
          <a:prstGeom prst="line">
            <a:avLst/>
          </a:prstGeom>
          <a:noFill/>
          <a:ln w="19050">
            <a:solidFill>
              <a:srgbClr val="4A5568"/>
            </a:solidFill>
            <a:prstDash val="solid"/>
            <a:tailEnd type="triangle"/>
          </a:ln>
        </p:spPr>
      </p:sp>
      <p:sp>
        <p:nvSpPr>
          <p:cNvPr id="19" name="Shape 17"/>
          <p:cNvSpPr/>
          <p:nvPr/>
        </p:nvSpPr>
        <p:spPr>
          <a:xfrm>
            <a:off x="1341120" y="4023360"/>
            <a:ext cx="1219" cy="0"/>
          </a:xfrm>
          <a:prstGeom prst="line">
            <a:avLst/>
          </a:prstGeom>
          <a:noFill/>
          <a:ln w="19050">
            <a:solidFill>
              <a:srgbClr val="4A5568"/>
            </a:solidFill>
            <a:prstDash val="solid"/>
            <a:tailEnd type="triangle"/>
          </a:ln>
        </p:spPr>
      </p:sp>
      <p:sp>
        <p:nvSpPr>
          <p:cNvPr id="20" name="Text 18"/>
          <p:cNvSpPr/>
          <p:nvPr/>
        </p:nvSpPr>
        <p:spPr>
          <a:xfrm>
            <a:off x="3413760" y="3048000"/>
            <a:ext cx="2804160" cy="6096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E76F51"/>
                </a:solidFill>
                <a:latin typeface="Calibri" pitchFamily="34" charset="0"/>
                <a:ea typeface="Calibri" pitchFamily="34" charset="-122"/>
                <a:cs typeface="Calibri" pitchFamily="34" charset="-120"/>
              </a:rPr>
              <a:t>LOOP</a:t>
            </a:r>
            <a:endParaRPr lang="en-US" sz="2400" dirty="0"/>
          </a:p>
        </p:txBody>
      </p:sp>
      <p:sp>
        <p:nvSpPr>
          <p:cNvPr id="21" name="Shape 19"/>
          <p:cNvSpPr/>
          <p:nvPr/>
        </p:nvSpPr>
        <p:spPr>
          <a:xfrm>
            <a:off x="8595360" y="1438656"/>
            <a:ext cx="3291840" cy="4876800"/>
          </a:xfrm>
          <a:prstGeom prst="rect">
            <a:avLst/>
          </a:prstGeom>
          <a:solidFill>
            <a:srgbClr val="FFFFFF"/>
          </a:solidFill>
          <a:ln w="12700">
            <a:solidFill>
              <a:srgbClr val="EEF2F6"/>
            </a:solidFill>
            <a:prstDash val="solid"/>
          </a:ln>
        </p:spPr>
      </p:sp>
      <p:sp>
        <p:nvSpPr>
          <p:cNvPr id="22" name="Text 20"/>
          <p:cNvSpPr/>
          <p:nvPr/>
        </p:nvSpPr>
        <p:spPr>
          <a:xfrm>
            <a:off x="8717280" y="1536192"/>
            <a:ext cx="30480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133" b="1" kern="0" spc="200" dirty="0">
                <a:solidFill>
                  <a:srgbClr val="4A5568"/>
                </a:solidFill>
                <a:latin typeface="Calibri" pitchFamily="34" charset="0"/>
                <a:ea typeface="Calibri" pitchFamily="34" charset="-122"/>
                <a:cs typeface="Calibri" pitchFamily="34" charset="-120"/>
              </a:rPr>
              <a:t>DOCUMENTED CASES</a:t>
            </a:r>
            <a:endParaRPr lang="en-US" sz="1133" dirty="0"/>
          </a:p>
        </p:txBody>
      </p:sp>
      <p:sp>
        <p:nvSpPr>
          <p:cNvPr id="23" name="Text 21"/>
          <p:cNvSpPr/>
          <p:nvPr/>
        </p:nvSpPr>
        <p:spPr>
          <a:xfrm>
            <a:off x="8717280" y="1889760"/>
            <a:ext cx="304800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76F51"/>
                </a:solidFill>
                <a:latin typeface="Calibri" pitchFamily="34" charset="0"/>
                <a:ea typeface="Calibri" pitchFamily="34" charset="-122"/>
                <a:cs typeface="Calibri" pitchFamily="34" charset="-120"/>
              </a:rPr>
              <a:t>Grammar Hallucination</a:t>
            </a:r>
            <a:endParaRPr lang="en-US" sz="1333" dirty="0"/>
          </a:p>
        </p:txBody>
      </p:sp>
      <p:sp>
        <p:nvSpPr>
          <p:cNvPr id="24" name="Text 22"/>
          <p:cNvSpPr/>
          <p:nvPr/>
        </p:nvSpPr>
        <p:spPr>
          <a:xfrm>
            <a:off x="8717280" y="2218944"/>
            <a:ext cx="304800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ChatGPT confidently stated a false grammar rule about English passive voice — adopted by 43% of learners without verification.</a:t>
            </a:r>
            <a:endParaRPr lang="en-US" sz="1267" dirty="0"/>
          </a:p>
        </p:txBody>
      </p:sp>
      <p:sp>
        <p:nvSpPr>
          <p:cNvPr id="25" name="Text 23"/>
          <p:cNvSpPr/>
          <p:nvPr/>
        </p:nvSpPr>
        <p:spPr>
          <a:xfrm>
            <a:off x="8717280" y="3352800"/>
            <a:ext cx="304800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76F51"/>
                </a:solidFill>
                <a:latin typeface="Calibri" pitchFamily="34" charset="0"/>
                <a:ea typeface="Calibri" pitchFamily="34" charset="-122"/>
                <a:cs typeface="Calibri" pitchFamily="34" charset="-120"/>
              </a:rPr>
              <a:t>False Cognates</a:t>
            </a:r>
            <a:endParaRPr lang="en-US" sz="1333" dirty="0"/>
          </a:p>
        </p:txBody>
      </p:sp>
      <p:sp>
        <p:nvSpPr>
          <p:cNvPr id="26" name="Text 24"/>
          <p:cNvSpPr/>
          <p:nvPr/>
        </p:nvSpPr>
        <p:spPr>
          <a:xfrm>
            <a:off x="8717280" y="3681984"/>
            <a:ext cx="304800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AI failed to flag L1 false cognates in 31% of cases, reinforcing learner errors rather than correcting them.</a:t>
            </a:r>
            <a:endParaRPr lang="en-US" sz="1267" dirty="0"/>
          </a:p>
        </p:txBody>
      </p:sp>
      <p:sp>
        <p:nvSpPr>
          <p:cNvPr id="27" name="Text 25"/>
          <p:cNvSpPr/>
          <p:nvPr/>
        </p:nvSpPr>
        <p:spPr>
          <a:xfrm>
            <a:off x="8717280" y="4815840"/>
            <a:ext cx="304800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E76F51"/>
                </a:solidFill>
                <a:latin typeface="Calibri" pitchFamily="34" charset="0"/>
                <a:ea typeface="Calibri" pitchFamily="34" charset="-122"/>
                <a:cs typeface="Calibri" pitchFamily="34" charset="-120"/>
              </a:rPr>
              <a:t>Cultural Misinformation</a:t>
            </a:r>
            <a:endParaRPr lang="en-US" sz="1333" dirty="0"/>
          </a:p>
        </p:txBody>
      </p:sp>
      <p:sp>
        <p:nvSpPr>
          <p:cNvPr id="28" name="Text 26"/>
          <p:cNvSpPr/>
          <p:nvPr/>
        </p:nvSpPr>
        <p:spPr>
          <a:xfrm>
            <a:off x="8717280" y="5145024"/>
            <a:ext cx="304800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AI provided historically inaccurate cultural context for idiomatic expressions across 4 documented instances.</a:t>
            </a:r>
            <a:endParaRPr lang="en-US" sz="1267" dirty="0"/>
          </a:p>
        </p:txBody>
      </p:sp>
      <p:sp>
        <p:nvSpPr>
          <p:cNvPr id="31" name="Shape 15">
            <a:extLst>
              <a:ext uri="{FF2B5EF4-FFF2-40B4-BE49-F238E27FC236}">
                <a16:creationId xmlns:a16="http://schemas.microsoft.com/office/drawing/2014/main" id="{0FA248BE-4815-B8F7-25C4-31ED2975DF6C}"/>
              </a:ext>
            </a:extLst>
          </p:cNvPr>
          <p:cNvSpPr/>
          <p:nvPr/>
        </p:nvSpPr>
        <p:spPr>
          <a:xfrm flipH="1">
            <a:off x="4387901" y="4693920"/>
            <a:ext cx="976577" cy="0"/>
          </a:xfrm>
          <a:prstGeom prst="line">
            <a:avLst/>
          </a:prstGeom>
          <a:noFill/>
          <a:ln w="19050">
            <a:solidFill>
              <a:srgbClr val="4A5568"/>
            </a:solidFill>
            <a:prstDash val="solid"/>
            <a:tailEnd type="triangle"/>
          </a:ln>
        </p:spPr>
      </p:sp>
      <p:sp>
        <p:nvSpPr>
          <p:cNvPr id="32" name="Shape 15">
            <a:extLst>
              <a:ext uri="{FF2B5EF4-FFF2-40B4-BE49-F238E27FC236}">
                <a16:creationId xmlns:a16="http://schemas.microsoft.com/office/drawing/2014/main" id="{AB0FA3AF-46F5-48E8-B71E-7126E06E3AE2}"/>
              </a:ext>
            </a:extLst>
          </p:cNvPr>
          <p:cNvSpPr/>
          <p:nvPr/>
        </p:nvSpPr>
        <p:spPr>
          <a:xfrm flipH="1" flipV="1">
            <a:off x="2753872" y="3168700"/>
            <a:ext cx="1219" cy="854659"/>
          </a:xfrm>
          <a:prstGeom prst="line">
            <a:avLst/>
          </a:prstGeom>
          <a:noFill/>
          <a:ln w="19050">
            <a:solidFill>
              <a:srgbClr val="4A5568"/>
            </a:solidFill>
            <a:prstDash val="solid"/>
            <a:tailEnd type="triangle"/>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LAYER 3 · SOCIOLINGUISTICS &amp; EQUITY</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The Intercultural Competence Gap</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13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AI can simulate culturally appropriate language — but cannot develop genuine intercultural competence.</a:t>
            </a:r>
            <a:endParaRPr lang="en-US" sz="1600" dirty="0"/>
          </a:p>
        </p:txBody>
      </p:sp>
      <p:sp>
        <p:nvSpPr>
          <p:cNvPr id="8" name="Shape 6"/>
          <p:cNvSpPr/>
          <p:nvPr/>
        </p:nvSpPr>
        <p:spPr>
          <a:xfrm>
            <a:off x="365760" y="1402080"/>
            <a:ext cx="6705600" cy="731520"/>
          </a:xfrm>
          <a:prstGeom prst="rect">
            <a:avLst/>
          </a:prstGeom>
          <a:solidFill>
            <a:srgbClr val="D4E8F7"/>
          </a:solidFill>
          <a:ln w="12700">
            <a:solidFill>
              <a:srgbClr val="D4E8F7"/>
            </a:solidFill>
            <a:prstDash val="solid"/>
          </a:ln>
        </p:spPr>
      </p:sp>
      <p:sp>
        <p:nvSpPr>
          <p:cNvPr id="9" name="Text 7"/>
          <p:cNvSpPr/>
          <p:nvPr/>
        </p:nvSpPr>
        <p:spPr>
          <a:xfrm>
            <a:off x="487680" y="1438656"/>
            <a:ext cx="646176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200" dirty="0">
                <a:solidFill>
                  <a:srgbClr val="2A6496"/>
                </a:solidFill>
                <a:latin typeface="Calibri" pitchFamily="34" charset="0"/>
                <a:ea typeface="Calibri" pitchFamily="34" charset="-122"/>
                <a:cs typeface="Calibri" pitchFamily="34" charset="-120"/>
              </a:rPr>
              <a:t>SURFACE  (AI-Visible)</a:t>
            </a:r>
            <a:endParaRPr lang="en-US" sz="1200" dirty="0"/>
          </a:p>
        </p:txBody>
      </p:sp>
      <p:sp>
        <p:nvSpPr>
          <p:cNvPr id="10" name="Text 8"/>
          <p:cNvSpPr/>
          <p:nvPr/>
        </p:nvSpPr>
        <p:spPr>
          <a:xfrm>
            <a:off x="487680" y="1755648"/>
            <a:ext cx="646176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1A2744"/>
                </a:solidFill>
                <a:latin typeface="Calibri" pitchFamily="34" charset="0"/>
                <a:ea typeface="Calibri" pitchFamily="34" charset="-122"/>
                <a:cs typeface="Calibri" pitchFamily="34" charset="-120"/>
              </a:rPr>
              <a:t>Vocabulary ·  Register ·  Politeness markers ·  Idiomatic phrases</a:t>
            </a:r>
            <a:endParaRPr lang="en-US" sz="1267" dirty="0"/>
          </a:p>
        </p:txBody>
      </p:sp>
      <p:sp>
        <p:nvSpPr>
          <p:cNvPr id="11" name="Shape 9"/>
          <p:cNvSpPr/>
          <p:nvPr/>
        </p:nvSpPr>
        <p:spPr>
          <a:xfrm>
            <a:off x="365760" y="2170176"/>
            <a:ext cx="6705600" cy="0"/>
          </a:xfrm>
          <a:prstGeom prst="line">
            <a:avLst/>
          </a:prstGeom>
          <a:noFill/>
          <a:ln w="25400">
            <a:solidFill>
              <a:srgbClr val="2A6496"/>
            </a:solidFill>
            <a:prstDash val="dash"/>
          </a:ln>
        </p:spPr>
      </p:sp>
      <p:sp>
        <p:nvSpPr>
          <p:cNvPr id="12" name="Text 10"/>
          <p:cNvSpPr/>
          <p:nvPr/>
        </p:nvSpPr>
        <p:spPr>
          <a:xfrm>
            <a:off x="4632960" y="2072640"/>
            <a:ext cx="2194560" cy="24384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1000" dirty="0"/>
          </a:p>
        </p:txBody>
      </p:sp>
      <p:sp>
        <p:nvSpPr>
          <p:cNvPr id="13" name="Shape 11"/>
          <p:cNvSpPr/>
          <p:nvPr/>
        </p:nvSpPr>
        <p:spPr>
          <a:xfrm>
            <a:off x="365760" y="2206753"/>
            <a:ext cx="6705600" cy="3657600"/>
          </a:xfrm>
          <a:prstGeom prst="rect">
            <a:avLst/>
          </a:prstGeom>
          <a:solidFill>
            <a:srgbClr val="1A2744">
              <a:alpha val="15000"/>
            </a:srgbClr>
          </a:solidFill>
          <a:ln w="12700">
            <a:solidFill>
              <a:srgbClr val="1A2744"/>
            </a:solidFill>
            <a:prstDash val="solid"/>
          </a:ln>
        </p:spPr>
      </p:sp>
      <p:sp>
        <p:nvSpPr>
          <p:cNvPr id="14" name="Text 12"/>
          <p:cNvSpPr/>
          <p:nvPr/>
        </p:nvSpPr>
        <p:spPr>
          <a:xfrm>
            <a:off x="487680" y="2255520"/>
            <a:ext cx="646176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200" dirty="0">
                <a:solidFill>
                  <a:srgbClr val="1A2744"/>
                </a:solidFill>
                <a:latin typeface="Calibri" pitchFamily="34" charset="0"/>
                <a:ea typeface="Calibri" pitchFamily="34" charset="-122"/>
                <a:cs typeface="Calibri" pitchFamily="34" charset="-120"/>
              </a:rPr>
              <a:t>DEEP CULTURE  (AI-Invisible)</a:t>
            </a:r>
            <a:endParaRPr lang="en-US" sz="1200" dirty="0"/>
          </a:p>
        </p:txBody>
      </p:sp>
      <p:sp>
        <p:nvSpPr>
          <p:cNvPr id="15" name="Text 13"/>
          <p:cNvSpPr/>
          <p:nvPr/>
        </p:nvSpPr>
        <p:spPr>
          <a:xfrm>
            <a:off x="548640" y="2645664"/>
            <a:ext cx="6339840" cy="30480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Values, beliefs, worldviews — what counts as appropriate communication</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Power dynamics and face-saving across cultures</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Non-verbal communication and paralinguistic norms</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Historical and political context shaping discourse</a:t>
            </a:r>
            <a:endParaRPr lang="en-US" sz="1333" dirty="0"/>
          </a:p>
          <a:p>
            <a:pPr marL="457189" indent="-457189">
              <a:spcAft>
                <a:spcPts val="667"/>
              </a:spcAft>
              <a:buSzPct val="100000"/>
              <a:buChar char="•"/>
            </a:pPr>
            <a:r>
              <a:rPr lang="en-US" sz="1333" dirty="0">
                <a:solidFill>
                  <a:srgbClr val="1A2744"/>
                </a:solidFill>
                <a:latin typeface="Calibri" pitchFamily="34" charset="0"/>
                <a:ea typeface="Calibri" pitchFamily="34" charset="-122"/>
                <a:cs typeface="Calibri" pitchFamily="34" charset="-120"/>
              </a:rPr>
              <a:t>Identity negotiation in intercultural encounters</a:t>
            </a:r>
            <a:endParaRPr lang="en-US" sz="1333" dirty="0"/>
          </a:p>
        </p:txBody>
      </p:sp>
      <p:sp>
        <p:nvSpPr>
          <p:cNvPr id="16" name="Shape 14"/>
          <p:cNvSpPr/>
          <p:nvPr/>
        </p:nvSpPr>
        <p:spPr>
          <a:xfrm>
            <a:off x="7315200" y="1402080"/>
            <a:ext cx="2218944" cy="4450080"/>
          </a:xfrm>
          <a:prstGeom prst="rect">
            <a:avLst/>
          </a:prstGeom>
          <a:solidFill>
            <a:srgbClr val="FFFFFF"/>
          </a:solidFill>
          <a:ln w="12700">
            <a:solidFill>
              <a:srgbClr val="2A9D8F"/>
            </a:solidFill>
            <a:prstDash val="solid"/>
          </a:ln>
        </p:spPr>
      </p:sp>
      <p:sp>
        <p:nvSpPr>
          <p:cNvPr id="17" name="Shape 15"/>
          <p:cNvSpPr/>
          <p:nvPr/>
        </p:nvSpPr>
        <p:spPr>
          <a:xfrm>
            <a:off x="7315200" y="1402080"/>
            <a:ext cx="2218944" cy="390144"/>
          </a:xfrm>
          <a:prstGeom prst="rect">
            <a:avLst/>
          </a:prstGeom>
          <a:solidFill>
            <a:srgbClr val="2A9D8F"/>
          </a:solidFill>
          <a:ln w="12700">
            <a:solidFill>
              <a:srgbClr val="2A9D8F"/>
            </a:solidFill>
            <a:prstDash val="solid"/>
          </a:ln>
        </p:spPr>
      </p:sp>
      <p:sp>
        <p:nvSpPr>
          <p:cNvPr id="18" name="Text 16"/>
          <p:cNvSpPr/>
          <p:nvPr/>
        </p:nvSpPr>
        <p:spPr>
          <a:xfrm>
            <a:off x="7400544" y="1438656"/>
            <a:ext cx="20726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dirty="0">
                <a:solidFill>
                  <a:srgbClr val="FFFFFF"/>
                </a:solidFill>
                <a:latin typeface="Calibri" pitchFamily="34" charset="0"/>
                <a:ea typeface="Calibri" pitchFamily="34" charset="-122"/>
                <a:cs typeface="Calibri" pitchFamily="34" charset="-120"/>
              </a:rPr>
              <a:t>What AI Can Do</a:t>
            </a:r>
            <a:endParaRPr lang="en-US" sz="1267" dirty="0"/>
          </a:p>
        </p:txBody>
      </p:sp>
      <p:sp>
        <p:nvSpPr>
          <p:cNvPr id="19" name="Text 17"/>
          <p:cNvSpPr/>
          <p:nvPr/>
        </p:nvSpPr>
        <p:spPr>
          <a:xfrm>
            <a:off x="7400544" y="1853184"/>
            <a:ext cx="2097024" cy="3901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Model surface-level cultural formulae</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Suggest register-appropriate phrasing</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Provide cultural vocabulary glossaries</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Flag explicit cultural faux pas</a:t>
            </a:r>
            <a:endParaRPr lang="en-US" sz="1267" dirty="0"/>
          </a:p>
        </p:txBody>
      </p:sp>
      <p:sp>
        <p:nvSpPr>
          <p:cNvPr id="20" name="Shape 18"/>
          <p:cNvSpPr/>
          <p:nvPr/>
        </p:nvSpPr>
        <p:spPr>
          <a:xfrm>
            <a:off x="9656064" y="1402080"/>
            <a:ext cx="2218944" cy="4450080"/>
          </a:xfrm>
          <a:prstGeom prst="rect">
            <a:avLst/>
          </a:prstGeom>
          <a:solidFill>
            <a:srgbClr val="FFFFFF"/>
          </a:solidFill>
          <a:ln w="12700">
            <a:solidFill>
              <a:srgbClr val="E76F51"/>
            </a:solidFill>
            <a:prstDash val="solid"/>
          </a:ln>
        </p:spPr>
      </p:sp>
      <p:sp>
        <p:nvSpPr>
          <p:cNvPr id="21" name="Shape 19"/>
          <p:cNvSpPr/>
          <p:nvPr/>
        </p:nvSpPr>
        <p:spPr>
          <a:xfrm>
            <a:off x="9656064" y="1402080"/>
            <a:ext cx="2218944" cy="390144"/>
          </a:xfrm>
          <a:prstGeom prst="rect">
            <a:avLst/>
          </a:prstGeom>
          <a:solidFill>
            <a:srgbClr val="E76F51"/>
          </a:solidFill>
          <a:ln w="12700">
            <a:solidFill>
              <a:srgbClr val="E76F51"/>
            </a:solidFill>
            <a:prstDash val="solid"/>
          </a:ln>
        </p:spPr>
      </p:sp>
      <p:sp>
        <p:nvSpPr>
          <p:cNvPr id="22" name="Text 20"/>
          <p:cNvSpPr/>
          <p:nvPr/>
        </p:nvSpPr>
        <p:spPr>
          <a:xfrm>
            <a:off x="9741408" y="1438656"/>
            <a:ext cx="20726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dirty="0">
                <a:solidFill>
                  <a:srgbClr val="FFFFFF"/>
                </a:solidFill>
                <a:latin typeface="Calibri" pitchFamily="34" charset="0"/>
                <a:ea typeface="Calibri" pitchFamily="34" charset="-122"/>
                <a:cs typeface="Calibri" pitchFamily="34" charset="-120"/>
              </a:rPr>
              <a:t>What AI Cannot Do</a:t>
            </a:r>
            <a:endParaRPr lang="en-US" sz="1267" dirty="0"/>
          </a:p>
        </p:txBody>
      </p:sp>
      <p:sp>
        <p:nvSpPr>
          <p:cNvPr id="23" name="Text 21"/>
          <p:cNvSpPr/>
          <p:nvPr/>
        </p:nvSpPr>
        <p:spPr>
          <a:xfrm>
            <a:off x="9741408" y="1853184"/>
            <a:ext cx="2097024" cy="390144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Build empathy across cultural difference</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Teach context-sensitive face-saving</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Navigate identity in real encounters</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Develop critical cultural consciousness</a:t>
            </a:r>
            <a:endParaRPr lang="en-US" sz="1267" dirty="0"/>
          </a:p>
        </p:txBody>
      </p:sp>
    </p:spTree>
    <p:extLst>
      <p:ext uri="{BB962C8B-B14F-4D97-AF65-F5344CB8AC3E}">
        <p14:creationId xmlns:p14="http://schemas.microsoft.com/office/powerpoint/2010/main" val="385379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SYNTHESIS</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Three Central Tensions in AI-Assisted Language Learning</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14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The literature does not present clean answers — it reveals productive tensions that educators must navigate.</a:t>
            </a:r>
            <a:endParaRPr lang="en-US" sz="1600" dirty="0"/>
          </a:p>
        </p:txBody>
      </p:sp>
      <p:sp>
        <p:nvSpPr>
          <p:cNvPr id="8" name="Shape 6"/>
          <p:cNvSpPr/>
          <p:nvPr/>
        </p:nvSpPr>
        <p:spPr>
          <a:xfrm>
            <a:off x="365760" y="1487424"/>
            <a:ext cx="2194560" cy="1402080"/>
          </a:xfrm>
          <a:prstGeom prst="rect">
            <a:avLst/>
          </a:prstGeom>
          <a:solidFill>
            <a:srgbClr val="1A2744"/>
          </a:solidFill>
          <a:ln w="12700">
            <a:solidFill>
              <a:srgbClr val="1A2744"/>
            </a:solidFill>
            <a:prstDash val="solid"/>
          </a:ln>
        </p:spPr>
      </p:sp>
      <p:sp>
        <p:nvSpPr>
          <p:cNvPr id="9" name="Text 7"/>
          <p:cNvSpPr/>
          <p:nvPr/>
        </p:nvSpPr>
        <p:spPr>
          <a:xfrm>
            <a:off x="365760" y="1487424"/>
            <a:ext cx="2194560" cy="1402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FFFFFF"/>
                </a:solidFill>
                <a:latin typeface="Calibri" pitchFamily="34" charset="0"/>
                <a:ea typeface="Calibri" pitchFamily="34" charset="-122"/>
                <a:cs typeface="Calibri" pitchFamily="34" charset="-120"/>
              </a:rPr>
              <a:t>Efficiency</a:t>
            </a:r>
            <a:endParaRPr lang="en-US" sz="2400" dirty="0"/>
          </a:p>
        </p:txBody>
      </p:sp>
      <p:sp>
        <p:nvSpPr>
          <p:cNvPr id="10" name="Text 8"/>
          <p:cNvSpPr/>
          <p:nvPr/>
        </p:nvSpPr>
        <p:spPr>
          <a:xfrm>
            <a:off x="2621280" y="1853184"/>
            <a:ext cx="7315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933" dirty="0">
                <a:solidFill>
                  <a:srgbClr val="1A2744"/>
                </a:solidFill>
                <a:latin typeface="Calibri" pitchFamily="34" charset="0"/>
                <a:ea typeface="Calibri" pitchFamily="34" charset="-122"/>
                <a:cs typeface="Calibri" pitchFamily="34" charset="-120"/>
              </a:rPr>
              <a:t>⟺</a:t>
            </a:r>
            <a:endParaRPr lang="en-US" sz="2933" dirty="0"/>
          </a:p>
        </p:txBody>
      </p:sp>
      <p:sp>
        <p:nvSpPr>
          <p:cNvPr id="11" name="Shape 9"/>
          <p:cNvSpPr/>
          <p:nvPr/>
        </p:nvSpPr>
        <p:spPr>
          <a:xfrm>
            <a:off x="3413760" y="1487424"/>
            <a:ext cx="2194560" cy="1402080"/>
          </a:xfrm>
          <a:prstGeom prst="rect">
            <a:avLst/>
          </a:prstGeom>
          <a:solidFill>
            <a:srgbClr val="1A2744">
              <a:alpha val="30000"/>
            </a:srgbClr>
          </a:solidFill>
          <a:ln w="19050">
            <a:solidFill>
              <a:srgbClr val="1A2744"/>
            </a:solidFill>
            <a:prstDash val="solid"/>
          </a:ln>
        </p:spPr>
      </p:sp>
      <p:sp>
        <p:nvSpPr>
          <p:cNvPr id="12" name="Text 10"/>
          <p:cNvSpPr/>
          <p:nvPr/>
        </p:nvSpPr>
        <p:spPr>
          <a:xfrm>
            <a:off x="3413760" y="1487424"/>
            <a:ext cx="2194560" cy="1402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1A2744"/>
                </a:solidFill>
                <a:latin typeface="Calibri" pitchFamily="34" charset="0"/>
                <a:ea typeface="Calibri" pitchFamily="34" charset="-122"/>
                <a:cs typeface="Calibri" pitchFamily="34" charset="-120"/>
              </a:rPr>
              <a:t>Depth</a:t>
            </a:r>
            <a:endParaRPr lang="en-US" sz="2400" dirty="0"/>
          </a:p>
        </p:txBody>
      </p:sp>
      <p:sp>
        <p:nvSpPr>
          <p:cNvPr id="13" name="Shape 11"/>
          <p:cNvSpPr/>
          <p:nvPr/>
        </p:nvSpPr>
        <p:spPr>
          <a:xfrm>
            <a:off x="5791200" y="1487424"/>
            <a:ext cx="6096000" cy="1402080"/>
          </a:xfrm>
          <a:prstGeom prst="rect">
            <a:avLst/>
          </a:prstGeom>
          <a:solidFill>
            <a:srgbClr val="FFFFFF"/>
          </a:solidFill>
          <a:ln w="9525">
            <a:solidFill>
              <a:srgbClr val="1A2744"/>
            </a:solidFill>
            <a:prstDash val="solid"/>
          </a:ln>
        </p:spPr>
      </p:sp>
      <p:sp>
        <p:nvSpPr>
          <p:cNvPr id="14" name="Shape 12"/>
          <p:cNvSpPr/>
          <p:nvPr/>
        </p:nvSpPr>
        <p:spPr>
          <a:xfrm>
            <a:off x="5791200" y="1487424"/>
            <a:ext cx="85344" cy="1402080"/>
          </a:xfrm>
          <a:prstGeom prst="rect">
            <a:avLst/>
          </a:prstGeom>
          <a:solidFill>
            <a:srgbClr val="1A2744"/>
          </a:solidFill>
          <a:ln w="12700">
            <a:solidFill>
              <a:srgbClr val="1A2744"/>
            </a:solidFill>
            <a:prstDash val="solid"/>
          </a:ln>
        </p:spPr>
      </p:sp>
      <p:sp>
        <p:nvSpPr>
          <p:cNvPr id="15" name="Text 13"/>
          <p:cNvSpPr/>
          <p:nvPr/>
        </p:nvSpPr>
        <p:spPr>
          <a:xfrm>
            <a:off x="5974080" y="1670304"/>
            <a:ext cx="5791200" cy="10363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dirty="0">
                <a:solidFill>
                  <a:srgbClr val="1A2744"/>
                </a:solidFill>
                <a:latin typeface="Calibri" pitchFamily="34" charset="0"/>
                <a:ea typeface="Calibri" pitchFamily="34" charset="-122"/>
                <a:cs typeface="Calibri" pitchFamily="34" charset="-120"/>
              </a:rPr>
              <a:t>AI accelerates feedback cycles and reduces surface errors — but may discourage the slower, messier cognitive work that produces deep learning.</a:t>
            </a:r>
            <a:endParaRPr lang="en-US" sz="1467" dirty="0"/>
          </a:p>
        </p:txBody>
      </p:sp>
      <p:sp>
        <p:nvSpPr>
          <p:cNvPr id="16" name="Shape 14"/>
          <p:cNvSpPr/>
          <p:nvPr/>
        </p:nvSpPr>
        <p:spPr>
          <a:xfrm>
            <a:off x="365760" y="3133344"/>
            <a:ext cx="2194560" cy="1402080"/>
          </a:xfrm>
          <a:prstGeom prst="rect">
            <a:avLst/>
          </a:prstGeom>
          <a:solidFill>
            <a:srgbClr val="2A9D8F"/>
          </a:solidFill>
          <a:ln w="12700">
            <a:solidFill>
              <a:srgbClr val="2A9D8F"/>
            </a:solidFill>
            <a:prstDash val="solid"/>
          </a:ln>
        </p:spPr>
      </p:sp>
      <p:sp>
        <p:nvSpPr>
          <p:cNvPr id="17" name="Text 15"/>
          <p:cNvSpPr/>
          <p:nvPr/>
        </p:nvSpPr>
        <p:spPr>
          <a:xfrm>
            <a:off x="365760" y="3133344"/>
            <a:ext cx="2194560" cy="1402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FFFFFF"/>
                </a:solidFill>
                <a:latin typeface="Calibri" pitchFamily="34" charset="0"/>
                <a:ea typeface="Calibri" pitchFamily="34" charset="-122"/>
                <a:cs typeface="Calibri" pitchFamily="34" charset="-120"/>
              </a:rPr>
              <a:t>Access</a:t>
            </a:r>
            <a:endParaRPr lang="en-US" sz="2400" dirty="0"/>
          </a:p>
        </p:txBody>
      </p:sp>
      <p:sp>
        <p:nvSpPr>
          <p:cNvPr id="18" name="Text 16"/>
          <p:cNvSpPr/>
          <p:nvPr/>
        </p:nvSpPr>
        <p:spPr>
          <a:xfrm>
            <a:off x="2621280" y="3499104"/>
            <a:ext cx="7315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933" dirty="0">
                <a:solidFill>
                  <a:srgbClr val="2A9D8F"/>
                </a:solidFill>
                <a:latin typeface="Calibri" pitchFamily="34" charset="0"/>
                <a:ea typeface="Calibri" pitchFamily="34" charset="-122"/>
                <a:cs typeface="Calibri" pitchFamily="34" charset="-120"/>
              </a:rPr>
              <a:t>⟺</a:t>
            </a:r>
            <a:endParaRPr lang="en-US" sz="2933" dirty="0"/>
          </a:p>
        </p:txBody>
      </p:sp>
      <p:sp>
        <p:nvSpPr>
          <p:cNvPr id="19" name="Shape 17"/>
          <p:cNvSpPr/>
          <p:nvPr/>
        </p:nvSpPr>
        <p:spPr>
          <a:xfrm>
            <a:off x="3413760" y="3133344"/>
            <a:ext cx="2194560" cy="1402080"/>
          </a:xfrm>
          <a:prstGeom prst="rect">
            <a:avLst/>
          </a:prstGeom>
          <a:solidFill>
            <a:srgbClr val="2A9D8F">
              <a:alpha val="30000"/>
            </a:srgbClr>
          </a:solidFill>
          <a:ln w="19050">
            <a:solidFill>
              <a:srgbClr val="2A9D8F"/>
            </a:solidFill>
            <a:prstDash val="solid"/>
          </a:ln>
        </p:spPr>
      </p:sp>
      <p:sp>
        <p:nvSpPr>
          <p:cNvPr id="20" name="Text 18"/>
          <p:cNvSpPr/>
          <p:nvPr/>
        </p:nvSpPr>
        <p:spPr>
          <a:xfrm>
            <a:off x="3413760" y="3133344"/>
            <a:ext cx="2194560" cy="1402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2A9D8F"/>
                </a:solidFill>
                <a:latin typeface="Calibri" pitchFamily="34" charset="0"/>
                <a:ea typeface="Calibri" pitchFamily="34" charset="-122"/>
                <a:cs typeface="Calibri" pitchFamily="34" charset="-120"/>
              </a:rPr>
              <a:t>Equity</a:t>
            </a:r>
            <a:endParaRPr lang="en-US" sz="2400" dirty="0"/>
          </a:p>
        </p:txBody>
      </p:sp>
      <p:sp>
        <p:nvSpPr>
          <p:cNvPr id="21" name="Shape 19"/>
          <p:cNvSpPr/>
          <p:nvPr/>
        </p:nvSpPr>
        <p:spPr>
          <a:xfrm>
            <a:off x="5791200" y="3133344"/>
            <a:ext cx="6096000" cy="1402080"/>
          </a:xfrm>
          <a:prstGeom prst="rect">
            <a:avLst/>
          </a:prstGeom>
          <a:solidFill>
            <a:srgbClr val="FFFFFF"/>
          </a:solidFill>
          <a:ln w="9525">
            <a:solidFill>
              <a:srgbClr val="2A9D8F"/>
            </a:solidFill>
            <a:prstDash val="solid"/>
          </a:ln>
        </p:spPr>
      </p:sp>
      <p:sp>
        <p:nvSpPr>
          <p:cNvPr id="22" name="Shape 20"/>
          <p:cNvSpPr/>
          <p:nvPr/>
        </p:nvSpPr>
        <p:spPr>
          <a:xfrm>
            <a:off x="5791200" y="3133344"/>
            <a:ext cx="85344" cy="1402080"/>
          </a:xfrm>
          <a:prstGeom prst="rect">
            <a:avLst/>
          </a:prstGeom>
          <a:solidFill>
            <a:srgbClr val="2A9D8F"/>
          </a:solidFill>
          <a:ln w="12700">
            <a:solidFill>
              <a:srgbClr val="2A9D8F"/>
            </a:solidFill>
            <a:prstDash val="solid"/>
          </a:ln>
        </p:spPr>
      </p:sp>
      <p:sp>
        <p:nvSpPr>
          <p:cNvPr id="23" name="Text 21"/>
          <p:cNvSpPr/>
          <p:nvPr/>
        </p:nvSpPr>
        <p:spPr>
          <a:xfrm>
            <a:off x="5974080" y="3316224"/>
            <a:ext cx="5791200" cy="10363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dirty="0">
                <a:solidFill>
                  <a:srgbClr val="1A2744"/>
                </a:solidFill>
                <a:latin typeface="Calibri" pitchFamily="34" charset="0"/>
                <a:ea typeface="Calibri" pitchFamily="34" charset="-122"/>
                <a:cs typeface="Calibri" pitchFamily="34" charset="-120"/>
              </a:rPr>
              <a:t>AI democratizes access to 24/7 language support — but systematically benefits learners whose variety already resembles the training data.</a:t>
            </a:r>
            <a:endParaRPr lang="en-US" sz="1467" dirty="0"/>
          </a:p>
        </p:txBody>
      </p:sp>
      <p:sp>
        <p:nvSpPr>
          <p:cNvPr id="24" name="Shape 22"/>
          <p:cNvSpPr/>
          <p:nvPr/>
        </p:nvSpPr>
        <p:spPr>
          <a:xfrm>
            <a:off x="365760" y="4779264"/>
            <a:ext cx="2194560" cy="1402080"/>
          </a:xfrm>
          <a:prstGeom prst="rect">
            <a:avLst/>
          </a:prstGeom>
          <a:solidFill>
            <a:srgbClr val="2A6496"/>
          </a:solidFill>
          <a:ln w="12700">
            <a:solidFill>
              <a:srgbClr val="2A6496"/>
            </a:solidFill>
            <a:prstDash val="solid"/>
          </a:ln>
        </p:spPr>
      </p:sp>
      <p:sp>
        <p:nvSpPr>
          <p:cNvPr id="25" name="Text 23"/>
          <p:cNvSpPr/>
          <p:nvPr/>
        </p:nvSpPr>
        <p:spPr>
          <a:xfrm>
            <a:off x="365760" y="4779264"/>
            <a:ext cx="2194560" cy="1402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FFFFFF"/>
                </a:solidFill>
                <a:latin typeface="Calibri" pitchFamily="34" charset="0"/>
                <a:ea typeface="Calibri" pitchFamily="34" charset="-122"/>
                <a:cs typeface="Calibri" pitchFamily="34" charset="-120"/>
              </a:rPr>
              <a:t>Autonomy</a:t>
            </a:r>
            <a:endParaRPr lang="en-US" sz="2400" dirty="0"/>
          </a:p>
        </p:txBody>
      </p:sp>
      <p:sp>
        <p:nvSpPr>
          <p:cNvPr id="26" name="Text 24"/>
          <p:cNvSpPr/>
          <p:nvPr/>
        </p:nvSpPr>
        <p:spPr>
          <a:xfrm>
            <a:off x="2621280" y="5145024"/>
            <a:ext cx="731520" cy="6705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933" dirty="0">
                <a:solidFill>
                  <a:srgbClr val="2A6496"/>
                </a:solidFill>
                <a:latin typeface="Calibri" pitchFamily="34" charset="0"/>
                <a:ea typeface="Calibri" pitchFamily="34" charset="-122"/>
                <a:cs typeface="Calibri" pitchFamily="34" charset="-120"/>
              </a:rPr>
              <a:t>⟺</a:t>
            </a:r>
            <a:endParaRPr lang="en-US" sz="2933" dirty="0"/>
          </a:p>
        </p:txBody>
      </p:sp>
      <p:sp>
        <p:nvSpPr>
          <p:cNvPr id="27" name="Shape 25"/>
          <p:cNvSpPr/>
          <p:nvPr/>
        </p:nvSpPr>
        <p:spPr>
          <a:xfrm>
            <a:off x="3413760" y="4779264"/>
            <a:ext cx="2194560" cy="1402080"/>
          </a:xfrm>
          <a:prstGeom prst="rect">
            <a:avLst/>
          </a:prstGeom>
          <a:solidFill>
            <a:srgbClr val="2A6496">
              <a:alpha val="30000"/>
            </a:srgbClr>
          </a:solidFill>
          <a:ln w="19050">
            <a:solidFill>
              <a:srgbClr val="2A6496"/>
            </a:solidFill>
            <a:prstDash val="solid"/>
          </a:ln>
        </p:spPr>
      </p:sp>
      <p:sp>
        <p:nvSpPr>
          <p:cNvPr id="28" name="Text 26"/>
          <p:cNvSpPr/>
          <p:nvPr/>
        </p:nvSpPr>
        <p:spPr>
          <a:xfrm>
            <a:off x="3413760" y="4779264"/>
            <a:ext cx="2194560" cy="14020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400" b="1" dirty="0">
                <a:solidFill>
                  <a:srgbClr val="2A6496"/>
                </a:solidFill>
                <a:latin typeface="Calibri" pitchFamily="34" charset="0"/>
                <a:ea typeface="Calibri" pitchFamily="34" charset="-122"/>
                <a:cs typeface="Calibri" pitchFamily="34" charset="-120"/>
              </a:rPr>
              <a:t>Dependency</a:t>
            </a:r>
            <a:endParaRPr lang="en-US" sz="2400" dirty="0"/>
          </a:p>
        </p:txBody>
      </p:sp>
      <p:sp>
        <p:nvSpPr>
          <p:cNvPr id="29" name="Shape 27"/>
          <p:cNvSpPr/>
          <p:nvPr/>
        </p:nvSpPr>
        <p:spPr>
          <a:xfrm>
            <a:off x="5791200" y="4779264"/>
            <a:ext cx="6096000" cy="1402080"/>
          </a:xfrm>
          <a:prstGeom prst="rect">
            <a:avLst/>
          </a:prstGeom>
          <a:solidFill>
            <a:srgbClr val="FFFFFF"/>
          </a:solidFill>
          <a:ln w="9525">
            <a:solidFill>
              <a:srgbClr val="2A6496"/>
            </a:solidFill>
            <a:prstDash val="solid"/>
          </a:ln>
        </p:spPr>
      </p:sp>
      <p:sp>
        <p:nvSpPr>
          <p:cNvPr id="30" name="Shape 28"/>
          <p:cNvSpPr/>
          <p:nvPr/>
        </p:nvSpPr>
        <p:spPr>
          <a:xfrm>
            <a:off x="5791200" y="4779264"/>
            <a:ext cx="85344" cy="1402080"/>
          </a:xfrm>
          <a:prstGeom prst="rect">
            <a:avLst/>
          </a:prstGeom>
          <a:solidFill>
            <a:srgbClr val="2A6496"/>
          </a:solidFill>
          <a:ln w="12700">
            <a:solidFill>
              <a:srgbClr val="2A6496"/>
            </a:solidFill>
            <a:prstDash val="solid"/>
          </a:ln>
        </p:spPr>
      </p:sp>
      <p:sp>
        <p:nvSpPr>
          <p:cNvPr id="31" name="Text 29"/>
          <p:cNvSpPr/>
          <p:nvPr/>
        </p:nvSpPr>
        <p:spPr>
          <a:xfrm>
            <a:off x="5974080" y="4962144"/>
            <a:ext cx="5791200" cy="10363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dirty="0">
                <a:solidFill>
                  <a:srgbClr val="1A2744"/>
                </a:solidFill>
                <a:latin typeface="Calibri" pitchFamily="34" charset="0"/>
                <a:ea typeface="Calibri" pitchFamily="34" charset="-122"/>
                <a:cs typeface="Calibri" pitchFamily="34" charset="-120"/>
              </a:rPr>
              <a:t>AI can scaffold independent learning — but without intentional design, it creates dependency that erodes the very autonomy it was meant to build.</a:t>
            </a:r>
            <a:endParaRPr lang="en-US" sz="1467" dirty="0"/>
          </a:p>
        </p:txBody>
      </p:sp>
    </p:spTree>
    <p:extLst>
      <p:ext uri="{BB962C8B-B14F-4D97-AF65-F5344CB8AC3E}">
        <p14:creationId xmlns:p14="http://schemas.microsoft.com/office/powerpoint/2010/main" val="882589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SYNTHESIS</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Navigating the Tensions: A Research-Informed Spectrum</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15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Implementation choices exist on a spectrum — where institutions fall matters enormously.</a:t>
            </a:r>
            <a:endParaRPr lang="en-US" sz="1600" dirty="0"/>
          </a:p>
        </p:txBody>
      </p:sp>
      <p:sp>
        <p:nvSpPr>
          <p:cNvPr id="8" name="Text 6"/>
          <p:cNvSpPr/>
          <p:nvPr/>
        </p:nvSpPr>
        <p:spPr>
          <a:xfrm>
            <a:off x="365760" y="1487424"/>
            <a:ext cx="1828800" cy="9997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kern="0" spc="133" dirty="0">
                <a:solidFill>
                  <a:srgbClr val="4A5568"/>
                </a:solidFill>
                <a:latin typeface="Calibri" pitchFamily="34" charset="0"/>
                <a:ea typeface="Calibri" pitchFamily="34" charset="-122"/>
                <a:cs typeface="Calibri" pitchFamily="34" charset="-120"/>
              </a:rPr>
              <a:t>FEEDBACK ROLE</a:t>
            </a:r>
            <a:endParaRPr lang="en-US" sz="1200" dirty="0"/>
          </a:p>
        </p:txBody>
      </p:sp>
      <p:sp>
        <p:nvSpPr>
          <p:cNvPr id="9" name="Shape 7"/>
          <p:cNvSpPr/>
          <p:nvPr/>
        </p:nvSpPr>
        <p:spPr>
          <a:xfrm>
            <a:off x="2255520" y="1706880"/>
            <a:ext cx="3048000" cy="560832"/>
          </a:xfrm>
          <a:prstGeom prst="rect">
            <a:avLst/>
          </a:prstGeom>
          <a:solidFill>
            <a:srgbClr val="E76F51">
              <a:alpha val="85000"/>
            </a:srgbClr>
          </a:solidFill>
          <a:ln w="12700">
            <a:solidFill>
              <a:srgbClr val="E76F51"/>
            </a:solidFill>
            <a:prstDash val="solid"/>
          </a:ln>
        </p:spPr>
      </p:sp>
      <p:sp>
        <p:nvSpPr>
          <p:cNvPr id="10" name="Text 8"/>
          <p:cNvSpPr/>
          <p:nvPr/>
        </p:nvSpPr>
        <p:spPr>
          <a:xfrm>
            <a:off x="2316480" y="1706880"/>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AI as Primary Feedback Source</a:t>
            </a:r>
            <a:endParaRPr lang="en-US" sz="1267" dirty="0"/>
          </a:p>
        </p:txBody>
      </p:sp>
      <p:sp>
        <p:nvSpPr>
          <p:cNvPr id="11" name="Text 9"/>
          <p:cNvSpPr/>
          <p:nvPr/>
        </p:nvSpPr>
        <p:spPr>
          <a:xfrm>
            <a:off x="5364480" y="1706880"/>
            <a:ext cx="4876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dirty="0">
                <a:solidFill>
                  <a:srgbClr val="4A5568"/>
                </a:solidFill>
                <a:latin typeface="Calibri" pitchFamily="34" charset="0"/>
                <a:ea typeface="Calibri" pitchFamily="34" charset="-122"/>
                <a:cs typeface="Calibri" pitchFamily="34" charset="-120"/>
              </a:rPr>
              <a:t>→</a:t>
            </a:r>
            <a:endParaRPr lang="en-US" sz="1867" dirty="0"/>
          </a:p>
        </p:txBody>
      </p:sp>
      <p:sp>
        <p:nvSpPr>
          <p:cNvPr id="12" name="Shape 10"/>
          <p:cNvSpPr/>
          <p:nvPr/>
        </p:nvSpPr>
        <p:spPr>
          <a:xfrm>
            <a:off x="5913120" y="1706880"/>
            <a:ext cx="3048000" cy="560832"/>
          </a:xfrm>
          <a:prstGeom prst="rect">
            <a:avLst/>
          </a:prstGeom>
          <a:solidFill>
            <a:srgbClr val="52B788">
              <a:alpha val="85000"/>
            </a:srgbClr>
          </a:solidFill>
          <a:ln w="12700">
            <a:solidFill>
              <a:srgbClr val="52B788"/>
            </a:solidFill>
            <a:prstDash val="solid"/>
          </a:ln>
        </p:spPr>
      </p:sp>
      <p:sp>
        <p:nvSpPr>
          <p:cNvPr id="13" name="Text 11"/>
          <p:cNvSpPr/>
          <p:nvPr/>
        </p:nvSpPr>
        <p:spPr>
          <a:xfrm>
            <a:off x="5974080" y="1706880"/>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AI as Supplementary Tool</a:t>
            </a:r>
            <a:endParaRPr lang="en-US" sz="1267" dirty="0"/>
          </a:p>
        </p:txBody>
      </p:sp>
      <p:sp>
        <p:nvSpPr>
          <p:cNvPr id="14" name="Text 12"/>
          <p:cNvSpPr/>
          <p:nvPr/>
        </p:nvSpPr>
        <p:spPr>
          <a:xfrm>
            <a:off x="9083040" y="1548384"/>
            <a:ext cx="2743200" cy="9997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dirty="0">
                <a:solidFill>
                  <a:srgbClr val="4A5568"/>
                </a:solidFill>
                <a:latin typeface="Calibri" pitchFamily="34" charset="0"/>
                <a:ea typeface="Calibri" pitchFamily="34" charset="-122"/>
                <a:cs typeface="Calibri" pitchFamily="34" charset="-120"/>
              </a:rPr>
              <a:t>High-dependency end produces crutch effect; supplementary use preserves human judgment and relationships.</a:t>
            </a:r>
            <a:endParaRPr lang="en-US" sz="1200" dirty="0"/>
          </a:p>
        </p:txBody>
      </p:sp>
      <p:sp>
        <p:nvSpPr>
          <p:cNvPr id="15" name="Text 13"/>
          <p:cNvSpPr/>
          <p:nvPr/>
        </p:nvSpPr>
        <p:spPr>
          <a:xfrm>
            <a:off x="365760" y="2731008"/>
            <a:ext cx="1828800" cy="9997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kern="0" spc="133" dirty="0">
                <a:solidFill>
                  <a:srgbClr val="4A5568"/>
                </a:solidFill>
                <a:latin typeface="Calibri" pitchFamily="34" charset="0"/>
                <a:ea typeface="Calibri" pitchFamily="34" charset="-122"/>
                <a:cs typeface="Calibri" pitchFamily="34" charset="-120"/>
              </a:rPr>
              <a:t>LANGUAGE NORM</a:t>
            </a:r>
            <a:endParaRPr lang="en-US" sz="1200" dirty="0"/>
          </a:p>
        </p:txBody>
      </p:sp>
      <p:sp>
        <p:nvSpPr>
          <p:cNvPr id="16" name="Shape 14"/>
          <p:cNvSpPr/>
          <p:nvPr/>
        </p:nvSpPr>
        <p:spPr>
          <a:xfrm>
            <a:off x="2255520" y="2950464"/>
            <a:ext cx="3048000" cy="560832"/>
          </a:xfrm>
          <a:prstGeom prst="rect">
            <a:avLst/>
          </a:prstGeom>
          <a:solidFill>
            <a:srgbClr val="E76F51">
              <a:alpha val="85000"/>
            </a:srgbClr>
          </a:solidFill>
          <a:ln w="12700">
            <a:solidFill>
              <a:srgbClr val="E76F51"/>
            </a:solidFill>
            <a:prstDash val="solid"/>
          </a:ln>
        </p:spPr>
      </p:sp>
      <p:sp>
        <p:nvSpPr>
          <p:cNvPr id="17" name="Text 15"/>
          <p:cNvSpPr/>
          <p:nvPr/>
        </p:nvSpPr>
        <p:spPr>
          <a:xfrm>
            <a:off x="2316480" y="2950464"/>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Enforce Standard Only</a:t>
            </a:r>
            <a:endParaRPr lang="en-US" sz="1267" dirty="0"/>
          </a:p>
        </p:txBody>
      </p:sp>
      <p:sp>
        <p:nvSpPr>
          <p:cNvPr id="18" name="Text 16"/>
          <p:cNvSpPr/>
          <p:nvPr/>
        </p:nvSpPr>
        <p:spPr>
          <a:xfrm>
            <a:off x="5364480" y="2950464"/>
            <a:ext cx="4876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dirty="0">
                <a:solidFill>
                  <a:srgbClr val="4A5568"/>
                </a:solidFill>
                <a:latin typeface="Calibri" pitchFamily="34" charset="0"/>
                <a:ea typeface="Calibri" pitchFamily="34" charset="-122"/>
                <a:cs typeface="Calibri" pitchFamily="34" charset="-120"/>
              </a:rPr>
              <a:t>→</a:t>
            </a:r>
            <a:endParaRPr lang="en-US" sz="1867" dirty="0"/>
          </a:p>
        </p:txBody>
      </p:sp>
      <p:sp>
        <p:nvSpPr>
          <p:cNvPr id="19" name="Shape 17"/>
          <p:cNvSpPr/>
          <p:nvPr/>
        </p:nvSpPr>
        <p:spPr>
          <a:xfrm>
            <a:off x="5913120" y="2950464"/>
            <a:ext cx="3048000" cy="560832"/>
          </a:xfrm>
          <a:prstGeom prst="rect">
            <a:avLst/>
          </a:prstGeom>
          <a:solidFill>
            <a:srgbClr val="52B788">
              <a:alpha val="85000"/>
            </a:srgbClr>
          </a:solidFill>
          <a:ln w="12700">
            <a:solidFill>
              <a:srgbClr val="52B788"/>
            </a:solidFill>
            <a:prstDash val="solid"/>
          </a:ln>
        </p:spPr>
      </p:sp>
      <p:sp>
        <p:nvSpPr>
          <p:cNvPr id="20" name="Text 18"/>
          <p:cNvSpPr/>
          <p:nvPr/>
        </p:nvSpPr>
        <p:spPr>
          <a:xfrm>
            <a:off x="5974080" y="2950464"/>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Embrace Linguistic Diversity</a:t>
            </a:r>
            <a:endParaRPr lang="en-US" sz="1267" dirty="0"/>
          </a:p>
        </p:txBody>
      </p:sp>
      <p:sp>
        <p:nvSpPr>
          <p:cNvPr id="21" name="Text 19"/>
          <p:cNvSpPr/>
          <p:nvPr/>
        </p:nvSpPr>
        <p:spPr>
          <a:xfrm>
            <a:off x="9083040" y="2791968"/>
            <a:ext cx="2743200" cy="9997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dirty="0">
                <a:solidFill>
                  <a:srgbClr val="4A5568"/>
                </a:solidFill>
                <a:latin typeface="Calibri" pitchFamily="34" charset="0"/>
                <a:ea typeface="Calibri" pitchFamily="34" charset="-122"/>
                <a:cs typeface="Calibri" pitchFamily="34" charset="-120"/>
              </a:rPr>
              <a:t>Exclusive standard enforcement erases identity; diversity-affirming use validates all varieties.</a:t>
            </a:r>
            <a:endParaRPr lang="en-US" sz="1200" dirty="0"/>
          </a:p>
        </p:txBody>
      </p:sp>
      <p:sp>
        <p:nvSpPr>
          <p:cNvPr id="22" name="Text 20"/>
          <p:cNvSpPr/>
          <p:nvPr/>
        </p:nvSpPr>
        <p:spPr>
          <a:xfrm>
            <a:off x="365760" y="3974592"/>
            <a:ext cx="1828800" cy="9997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kern="0" spc="133" dirty="0">
                <a:solidFill>
                  <a:srgbClr val="4A5568"/>
                </a:solidFill>
                <a:latin typeface="Calibri" pitchFamily="34" charset="0"/>
                <a:ea typeface="Calibri" pitchFamily="34" charset="-122"/>
                <a:cs typeface="Calibri" pitchFamily="34" charset="-120"/>
              </a:rPr>
              <a:t>LEARNER AGENCY</a:t>
            </a:r>
            <a:endParaRPr lang="en-US" sz="1200" dirty="0"/>
          </a:p>
        </p:txBody>
      </p:sp>
      <p:sp>
        <p:nvSpPr>
          <p:cNvPr id="23" name="Shape 21"/>
          <p:cNvSpPr/>
          <p:nvPr/>
        </p:nvSpPr>
        <p:spPr>
          <a:xfrm>
            <a:off x="2255520" y="4194048"/>
            <a:ext cx="3048000" cy="560832"/>
          </a:xfrm>
          <a:prstGeom prst="rect">
            <a:avLst/>
          </a:prstGeom>
          <a:solidFill>
            <a:srgbClr val="E76F51">
              <a:alpha val="85000"/>
            </a:srgbClr>
          </a:solidFill>
          <a:ln w="12700">
            <a:solidFill>
              <a:srgbClr val="E76F51"/>
            </a:solidFill>
            <a:prstDash val="solid"/>
          </a:ln>
        </p:spPr>
      </p:sp>
      <p:sp>
        <p:nvSpPr>
          <p:cNvPr id="24" name="Text 22"/>
          <p:cNvSpPr/>
          <p:nvPr/>
        </p:nvSpPr>
        <p:spPr>
          <a:xfrm>
            <a:off x="2316480" y="4194048"/>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AI-Driven Correction</a:t>
            </a:r>
            <a:endParaRPr lang="en-US" sz="1267" dirty="0"/>
          </a:p>
        </p:txBody>
      </p:sp>
      <p:sp>
        <p:nvSpPr>
          <p:cNvPr id="25" name="Text 23"/>
          <p:cNvSpPr/>
          <p:nvPr/>
        </p:nvSpPr>
        <p:spPr>
          <a:xfrm>
            <a:off x="5364480" y="4194048"/>
            <a:ext cx="4876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dirty="0">
                <a:solidFill>
                  <a:srgbClr val="4A5568"/>
                </a:solidFill>
                <a:latin typeface="Calibri" pitchFamily="34" charset="0"/>
                <a:ea typeface="Calibri" pitchFamily="34" charset="-122"/>
                <a:cs typeface="Calibri" pitchFamily="34" charset="-120"/>
              </a:rPr>
              <a:t>→</a:t>
            </a:r>
            <a:endParaRPr lang="en-US" sz="1867" dirty="0"/>
          </a:p>
        </p:txBody>
      </p:sp>
      <p:sp>
        <p:nvSpPr>
          <p:cNvPr id="26" name="Shape 24"/>
          <p:cNvSpPr/>
          <p:nvPr/>
        </p:nvSpPr>
        <p:spPr>
          <a:xfrm>
            <a:off x="5913120" y="4194048"/>
            <a:ext cx="3048000" cy="560832"/>
          </a:xfrm>
          <a:prstGeom prst="rect">
            <a:avLst/>
          </a:prstGeom>
          <a:solidFill>
            <a:srgbClr val="52B788">
              <a:alpha val="85000"/>
            </a:srgbClr>
          </a:solidFill>
          <a:ln w="12700">
            <a:solidFill>
              <a:srgbClr val="52B788"/>
            </a:solidFill>
            <a:prstDash val="solid"/>
          </a:ln>
        </p:spPr>
      </p:sp>
      <p:sp>
        <p:nvSpPr>
          <p:cNvPr id="27" name="Text 25"/>
          <p:cNvSpPr/>
          <p:nvPr/>
        </p:nvSpPr>
        <p:spPr>
          <a:xfrm>
            <a:off x="5974080" y="4194048"/>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Learner Critical Evaluation</a:t>
            </a:r>
            <a:endParaRPr lang="en-US" sz="1267" dirty="0"/>
          </a:p>
        </p:txBody>
      </p:sp>
      <p:sp>
        <p:nvSpPr>
          <p:cNvPr id="28" name="Text 26"/>
          <p:cNvSpPr/>
          <p:nvPr/>
        </p:nvSpPr>
        <p:spPr>
          <a:xfrm>
            <a:off x="9083040" y="4035552"/>
            <a:ext cx="2743200" cy="9997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dirty="0">
                <a:solidFill>
                  <a:srgbClr val="4A5568"/>
                </a:solidFill>
                <a:latin typeface="Calibri" pitchFamily="34" charset="0"/>
                <a:ea typeface="Calibri" pitchFamily="34" charset="-122"/>
                <a:cs typeface="Calibri" pitchFamily="34" charset="-120"/>
              </a:rPr>
              <a:t>Passive acceptance builds dependency; critical evaluation builds metacognitive capacity.</a:t>
            </a:r>
            <a:endParaRPr lang="en-US" sz="1200" dirty="0"/>
          </a:p>
        </p:txBody>
      </p:sp>
      <p:sp>
        <p:nvSpPr>
          <p:cNvPr id="29" name="Text 27"/>
          <p:cNvSpPr/>
          <p:nvPr/>
        </p:nvSpPr>
        <p:spPr>
          <a:xfrm>
            <a:off x="365760" y="5218176"/>
            <a:ext cx="1828800" cy="999744"/>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kern="0" spc="133" dirty="0">
                <a:solidFill>
                  <a:srgbClr val="4A5568"/>
                </a:solidFill>
                <a:latin typeface="Calibri" pitchFamily="34" charset="0"/>
                <a:ea typeface="Calibri" pitchFamily="34" charset="-122"/>
                <a:cs typeface="Calibri" pitchFamily="34" charset="-120"/>
              </a:rPr>
              <a:t>CULTURAL CONTENT</a:t>
            </a:r>
            <a:endParaRPr lang="en-US" sz="1200" dirty="0"/>
          </a:p>
        </p:txBody>
      </p:sp>
      <p:sp>
        <p:nvSpPr>
          <p:cNvPr id="30" name="Shape 28"/>
          <p:cNvSpPr/>
          <p:nvPr/>
        </p:nvSpPr>
        <p:spPr>
          <a:xfrm>
            <a:off x="2255520" y="5437632"/>
            <a:ext cx="3048000" cy="560832"/>
          </a:xfrm>
          <a:prstGeom prst="rect">
            <a:avLst/>
          </a:prstGeom>
          <a:solidFill>
            <a:srgbClr val="E76F51">
              <a:alpha val="85000"/>
            </a:srgbClr>
          </a:solidFill>
          <a:ln w="12700">
            <a:solidFill>
              <a:srgbClr val="E76F51"/>
            </a:solidFill>
            <a:prstDash val="solid"/>
          </a:ln>
        </p:spPr>
      </p:sp>
      <p:sp>
        <p:nvSpPr>
          <p:cNvPr id="31" name="Text 29"/>
          <p:cNvSpPr/>
          <p:nvPr/>
        </p:nvSpPr>
        <p:spPr>
          <a:xfrm>
            <a:off x="2316480" y="5437632"/>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AI as Cultural Authority</a:t>
            </a:r>
            <a:endParaRPr lang="en-US" sz="1267" dirty="0"/>
          </a:p>
        </p:txBody>
      </p:sp>
      <p:sp>
        <p:nvSpPr>
          <p:cNvPr id="32" name="Text 30"/>
          <p:cNvSpPr/>
          <p:nvPr/>
        </p:nvSpPr>
        <p:spPr>
          <a:xfrm>
            <a:off x="5364480" y="5437632"/>
            <a:ext cx="4876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dirty="0">
                <a:solidFill>
                  <a:srgbClr val="4A5568"/>
                </a:solidFill>
                <a:latin typeface="Calibri" pitchFamily="34" charset="0"/>
                <a:ea typeface="Calibri" pitchFamily="34" charset="-122"/>
                <a:cs typeface="Calibri" pitchFamily="34" charset="-120"/>
              </a:rPr>
              <a:t>→</a:t>
            </a:r>
            <a:endParaRPr lang="en-US" sz="1867" dirty="0"/>
          </a:p>
        </p:txBody>
      </p:sp>
      <p:sp>
        <p:nvSpPr>
          <p:cNvPr id="33" name="Shape 31"/>
          <p:cNvSpPr/>
          <p:nvPr/>
        </p:nvSpPr>
        <p:spPr>
          <a:xfrm>
            <a:off x="5913120" y="5437632"/>
            <a:ext cx="3048000" cy="560832"/>
          </a:xfrm>
          <a:prstGeom prst="rect">
            <a:avLst/>
          </a:prstGeom>
          <a:solidFill>
            <a:srgbClr val="52B788">
              <a:alpha val="85000"/>
            </a:srgbClr>
          </a:solidFill>
          <a:ln w="12700">
            <a:solidFill>
              <a:srgbClr val="52B788"/>
            </a:solidFill>
            <a:prstDash val="solid"/>
          </a:ln>
        </p:spPr>
      </p:sp>
      <p:sp>
        <p:nvSpPr>
          <p:cNvPr id="34" name="Text 32"/>
          <p:cNvSpPr/>
          <p:nvPr/>
        </p:nvSpPr>
        <p:spPr>
          <a:xfrm>
            <a:off x="5974080" y="5437632"/>
            <a:ext cx="2926080" cy="560832"/>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67" b="1" dirty="0">
                <a:solidFill>
                  <a:srgbClr val="FFFFFF"/>
                </a:solidFill>
                <a:latin typeface="Calibri" pitchFamily="34" charset="0"/>
                <a:ea typeface="Calibri" pitchFamily="34" charset="-122"/>
                <a:cs typeface="Calibri" pitchFamily="34" charset="-120"/>
              </a:rPr>
              <a:t>AI + Human Cultural Mediation</a:t>
            </a:r>
            <a:endParaRPr lang="en-US" sz="1267" dirty="0"/>
          </a:p>
        </p:txBody>
      </p:sp>
      <p:sp>
        <p:nvSpPr>
          <p:cNvPr id="35" name="Text 33"/>
          <p:cNvSpPr/>
          <p:nvPr/>
        </p:nvSpPr>
        <p:spPr>
          <a:xfrm>
            <a:off x="9083040" y="5279136"/>
            <a:ext cx="2743200" cy="9997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dirty="0">
                <a:solidFill>
                  <a:srgbClr val="4A5568"/>
                </a:solidFill>
                <a:latin typeface="Calibri" pitchFamily="34" charset="0"/>
                <a:ea typeface="Calibri" pitchFamily="34" charset="-122"/>
                <a:cs typeface="Calibri" pitchFamily="34" charset="-120"/>
              </a:rPr>
              <a:t>AI alone cannot model intercultural competence; human mediation is irreplaceable.</a:t>
            </a:r>
            <a:endParaRPr lang="en-US" sz="1200" dirty="0"/>
          </a:p>
        </p:txBody>
      </p:sp>
    </p:spTree>
    <p:extLst>
      <p:ext uri="{BB962C8B-B14F-4D97-AF65-F5344CB8AC3E}">
        <p14:creationId xmlns:p14="http://schemas.microsoft.com/office/powerpoint/2010/main" val="2625335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PEDAGOGICAL STRATEGIES · I</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Strategy I: Technical Interventions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16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Purposeful prompt design and structured scaffolding can significantly mitigate documented risks.</a:t>
            </a:r>
            <a:endParaRPr lang="en-US" sz="1600" dirty="0"/>
          </a:p>
        </p:txBody>
      </p:sp>
      <p:sp>
        <p:nvSpPr>
          <p:cNvPr id="8" name="Shape 6"/>
          <p:cNvSpPr/>
          <p:nvPr/>
        </p:nvSpPr>
        <p:spPr>
          <a:xfrm>
            <a:off x="365760" y="1463040"/>
            <a:ext cx="11460480" cy="1158240"/>
          </a:xfrm>
          <a:prstGeom prst="rect">
            <a:avLst/>
          </a:prstGeom>
          <a:solidFill>
            <a:srgbClr val="FFFFFF"/>
          </a:solidFill>
          <a:ln w="12700">
            <a:solidFill>
              <a:srgbClr val="1A2744"/>
            </a:solidFill>
            <a:prstDash val="solid"/>
          </a:ln>
          <a:effectLst>
            <a:outerShdw blurRad="38100" dist="12700" dir="8100000" algn="bl" rotWithShape="0">
              <a:srgbClr val="000000">
                <a:alpha val="6000"/>
              </a:srgbClr>
            </a:outerShdw>
          </a:effectLst>
        </p:spPr>
      </p:sp>
      <p:sp>
        <p:nvSpPr>
          <p:cNvPr id="9" name="Shape 7"/>
          <p:cNvSpPr/>
          <p:nvPr/>
        </p:nvSpPr>
        <p:spPr>
          <a:xfrm>
            <a:off x="487680" y="1706880"/>
            <a:ext cx="609600" cy="609600"/>
          </a:xfrm>
          <a:prstGeom prst="ellipse">
            <a:avLst/>
          </a:prstGeom>
          <a:solidFill>
            <a:srgbClr val="1A2744"/>
          </a:solidFill>
          <a:ln w="12700">
            <a:solidFill>
              <a:srgbClr val="1A2744"/>
            </a:solidFill>
            <a:prstDash val="solid"/>
          </a:ln>
        </p:spPr>
      </p:sp>
      <p:sp>
        <p:nvSpPr>
          <p:cNvPr id="10" name="Text 8"/>
          <p:cNvSpPr/>
          <p:nvPr/>
        </p:nvSpPr>
        <p:spPr>
          <a:xfrm>
            <a:off x="487680" y="1706880"/>
            <a:ext cx="609600" cy="6096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dirty="0">
                <a:solidFill>
                  <a:srgbClr val="FFFFFF"/>
                </a:solidFill>
                <a:latin typeface="Calibri" pitchFamily="34" charset="0"/>
                <a:ea typeface="Calibri" pitchFamily="34" charset="-122"/>
                <a:cs typeface="Calibri" pitchFamily="34" charset="-120"/>
              </a:rPr>
              <a:t>1</a:t>
            </a:r>
            <a:endParaRPr lang="en-US" sz="1867" dirty="0"/>
          </a:p>
        </p:txBody>
      </p:sp>
      <p:sp>
        <p:nvSpPr>
          <p:cNvPr id="11" name="Text 9"/>
          <p:cNvSpPr/>
          <p:nvPr/>
        </p:nvSpPr>
        <p:spPr>
          <a:xfrm>
            <a:off x="1280160" y="1560576"/>
            <a:ext cx="60960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1A2744"/>
                </a:solidFill>
                <a:latin typeface="Calibri" pitchFamily="34" charset="0"/>
                <a:ea typeface="Calibri" pitchFamily="34" charset="-122"/>
                <a:cs typeface="Calibri" pitchFamily="34" charset="-120"/>
              </a:rPr>
              <a:t>Structured Prompt Protocols</a:t>
            </a:r>
            <a:endParaRPr lang="en-US" sz="1600" dirty="0"/>
          </a:p>
        </p:txBody>
      </p:sp>
      <p:sp>
        <p:nvSpPr>
          <p:cNvPr id="12" name="Text 10"/>
          <p:cNvSpPr/>
          <p:nvPr/>
        </p:nvSpPr>
        <p:spPr>
          <a:xfrm>
            <a:off x="1280160" y="1901952"/>
            <a:ext cx="5608320"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Teach learners to add explicit instructions to AI prompts that maintain linguistic agency.</a:t>
            </a:r>
            <a:endParaRPr lang="en-US" sz="1333" dirty="0"/>
          </a:p>
        </p:txBody>
      </p:sp>
      <p:sp>
        <p:nvSpPr>
          <p:cNvPr id="13" name="Shape 11"/>
          <p:cNvSpPr/>
          <p:nvPr/>
        </p:nvSpPr>
        <p:spPr>
          <a:xfrm>
            <a:off x="7046976" y="1584960"/>
            <a:ext cx="4657344" cy="926592"/>
          </a:xfrm>
          <a:prstGeom prst="rect">
            <a:avLst/>
          </a:prstGeom>
          <a:solidFill>
            <a:srgbClr val="1A2744">
              <a:alpha val="12000"/>
            </a:srgbClr>
          </a:solidFill>
          <a:ln w="12700">
            <a:solidFill>
              <a:srgbClr val="1A2744"/>
            </a:solidFill>
            <a:prstDash val="solid"/>
          </a:ln>
        </p:spPr>
      </p:sp>
      <p:sp>
        <p:nvSpPr>
          <p:cNvPr id="14" name="Text 12"/>
          <p:cNvSpPr/>
          <p:nvPr/>
        </p:nvSpPr>
        <p:spPr>
          <a:xfrm>
            <a:off x="7193280" y="1633728"/>
            <a:ext cx="4413504"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i="1" dirty="0">
                <a:solidFill>
                  <a:srgbClr val="1A2744"/>
                </a:solidFill>
                <a:latin typeface="Calibri" pitchFamily="34" charset="0"/>
                <a:ea typeface="Calibri" pitchFamily="34" charset="-122"/>
                <a:cs typeface="Calibri" pitchFamily="34" charset="-120"/>
              </a:rPr>
              <a:t>Example: "Explain the grammar issue but do NOT rewrite my sentence. Give me 3 options for how I might fix it."</a:t>
            </a:r>
            <a:endParaRPr lang="en-US" sz="1267" dirty="0"/>
          </a:p>
        </p:txBody>
      </p:sp>
      <p:sp>
        <p:nvSpPr>
          <p:cNvPr id="15" name="Shape 13"/>
          <p:cNvSpPr/>
          <p:nvPr/>
        </p:nvSpPr>
        <p:spPr>
          <a:xfrm>
            <a:off x="365760" y="2731008"/>
            <a:ext cx="11460480" cy="1158240"/>
          </a:xfrm>
          <a:prstGeom prst="rect">
            <a:avLst/>
          </a:prstGeom>
          <a:solidFill>
            <a:srgbClr val="FFFFFF"/>
          </a:solidFill>
          <a:ln w="12700">
            <a:solidFill>
              <a:srgbClr val="2A6496"/>
            </a:solidFill>
            <a:prstDash val="solid"/>
          </a:ln>
          <a:effectLst>
            <a:outerShdw blurRad="38100" dist="12700" dir="8100000" algn="bl" rotWithShape="0">
              <a:srgbClr val="000000">
                <a:alpha val="6000"/>
              </a:srgbClr>
            </a:outerShdw>
          </a:effectLst>
        </p:spPr>
      </p:sp>
      <p:sp>
        <p:nvSpPr>
          <p:cNvPr id="16" name="Shape 14"/>
          <p:cNvSpPr/>
          <p:nvPr/>
        </p:nvSpPr>
        <p:spPr>
          <a:xfrm>
            <a:off x="487680" y="2974848"/>
            <a:ext cx="609600" cy="609600"/>
          </a:xfrm>
          <a:prstGeom prst="ellipse">
            <a:avLst/>
          </a:prstGeom>
          <a:solidFill>
            <a:srgbClr val="2A6496"/>
          </a:solidFill>
          <a:ln w="12700">
            <a:solidFill>
              <a:srgbClr val="2A6496"/>
            </a:solidFill>
            <a:prstDash val="solid"/>
          </a:ln>
        </p:spPr>
      </p:sp>
      <p:sp>
        <p:nvSpPr>
          <p:cNvPr id="17" name="Text 15"/>
          <p:cNvSpPr/>
          <p:nvPr/>
        </p:nvSpPr>
        <p:spPr>
          <a:xfrm>
            <a:off x="487680" y="2974848"/>
            <a:ext cx="609600" cy="6096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dirty="0">
                <a:solidFill>
                  <a:srgbClr val="FFFFFF"/>
                </a:solidFill>
                <a:latin typeface="Calibri" pitchFamily="34" charset="0"/>
                <a:ea typeface="Calibri" pitchFamily="34" charset="-122"/>
                <a:cs typeface="Calibri" pitchFamily="34" charset="-120"/>
              </a:rPr>
              <a:t>2</a:t>
            </a:r>
            <a:endParaRPr lang="en-US" sz="1867" dirty="0"/>
          </a:p>
        </p:txBody>
      </p:sp>
      <p:sp>
        <p:nvSpPr>
          <p:cNvPr id="18" name="Text 16"/>
          <p:cNvSpPr/>
          <p:nvPr/>
        </p:nvSpPr>
        <p:spPr>
          <a:xfrm>
            <a:off x="1280160" y="2828544"/>
            <a:ext cx="60960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2A6496"/>
                </a:solidFill>
                <a:latin typeface="Calibri" pitchFamily="34" charset="0"/>
                <a:ea typeface="Calibri" pitchFamily="34" charset="-122"/>
                <a:cs typeface="Calibri" pitchFamily="34" charset="-120"/>
              </a:rPr>
              <a:t>Scaffolded Fading</a:t>
            </a:r>
            <a:endParaRPr lang="en-US" sz="1600" dirty="0"/>
          </a:p>
        </p:txBody>
      </p:sp>
      <p:sp>
        <p:nvSpPr>
          <p:cNvPr id="19" name="Text 17"/>
          <p:cNvSpPr/>
          <p:nvPr/>
        </p:nvSpPr>
        <p:spPr>
          <a:xfrm>
            <a:off x="1280160" y="3169920"/>
            <a:ext cx="5608320"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Progressively reduce AI assistance across a course: weeks 1–3 full access; weeks 4–6 limited to one domain; weeks 7+ independent.</a:t>
            </a:r>
            <a:endParaRPr lang="en-US" sz="1333" dirty="0"/>
          </a:p>
        </p:txBody>
      </p:sp>
      <p:sp>
        <p:nvSpPr>
          <p:cNvPr id="20" name="Shape 18"/>
          <p:cNvSpPr/>
          <p:nvPr/>
        </p:nvSpPr>
        <p:spPr>
          <a:xfrm>
            <a:off x="7046976" y="2852928"/>
            <a:ext cx="4657344" cy="926592"/>
          </a:xfrm>
          <a:prstGeom prst="rect">
            <a:avLst/>
          </a:prstGeom>
          <a:solidFill>
            <a:srgbClr val="2A6496">
              <a:alpha val="12000"/>
            </a:srgbClr>
          </a:solidFill>
          <a:ln w="12700">
            <a:solidFill>
              <a:srgbClr val="2A6496"/>
            </a:solidFill>
            <a:prstDash val="solid"/>
          </a:ln>
        </p:spPr>
      </p:sp>
      <p:sp>
        <p:nvSpPr>
          <p:cNvPr id="21" name="Text 19"/>
          <p:cNvSpPr/>
          <p:nvPr/>
        </p:nvSpPr>
        <p:spPr>
          <a:xfrm>
            <a:off x="7193280" y="2901696"/>
            <a:ext cx="4413504"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i="1" dirty="0">
                <a:solidFill>
                  <a:srgbClr val="1A2744"/>
                </a:solidFill>
                <a:latin typeface="Calibri" pitchFamily="34" charset="0"/>
                <a:ea typeface="Calibri" pitchFamily="34" charset="-122"/>
                <a:cs typeface="Calibri" pitchFamily="34" charset="-120"/>
              </a:rPr>
              <a:t>Evidence: Groups with fading protocols showed no crutch effect at 12-week follow-up (Kim &amp; Park, 2024).</a:t>
            </a:r>
            <a:endParaRPr lang="en-US" sz="1267" dirty="0"/>
          </a:p>
        </p:txBody>
      </p:sp>
      <p:sp>
        <p:nvSpPr>
          <p:cNvPr id="22" name="Shape 20"/>
          <p:cNvSpPr/>
          <p:nvPr/>
        </p:nvSpPr>
        <p:spPr>
          <a:xfrm>
            <a:off x="365760" y="3998976"/>
            <a:ext cx="11460480" cy="1158240"/>
          </a:xfrm>
          <a:prstGeom prst="rect">
            <a:avLst/>
          </a:prstGeom>
          <a:solidFill>
            <a:srgbClr val="FFFFFF"/>
          </a:solidFill>
          <a:ln w="12700">
            <a:solidFill>
              <a:srgbClr val="2A9D8F"/>
            </a:solidFill>
            <a:prstDash val="solid"/>
          </a:ln>
          <a:effectLst>
            <a:outerShdw blurRad="38100" dist="12700" dir="8100000" algn="bl" rotWithShape="0">
              <a:srgbClr val="000000">
                <a:alpha val="6000"/>
              </a:srgbClr>
            </a:outerShdw>
          </a:effectLst>
        </p:spPr>
      </p:sp>
      <p:sp>
        <p:nvSpPr>
          <p:cNvPr id="23" name="Shape 21"/>
          <p:cNvSpPr/>
          <p:nvPr/>
        </p:nvSpPr>
        <p:spPr>
          <a:xfrm>
            <a:off x="487680" y="4242816"/>
            <a:ext cx="609600" cy="609600"/>
          </a:xfrm>
          <a:prstGeom prst="ellipse">
            <a:avLst/>
          </a:prstGeom>
          <a:solidFill>
            <a:srgbClr val="2A9D8F"/>
          </a:solidFill>
          <a:ln w="12700">
            <a:solidFill>
              <a:srgbClr val="2A9D8F"/>
            </a:solidFill>
            <a:prstDash val="solid"/>
          </a:ln>
        </p:spPr>
      </p:sp>
      <p:sp>
        <p:nvSpPr>
          <p:cNvPr id="24" name="Text 22"/>
          <p:cNvSpPr/>
          <p:nvPr/>
        </p:nvSpPr>
        <p:spPr>
          <a:xfrm>
            <a:off x="487680" y="4242816"/>
            <a:ext cx="609600" cy="6096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dirty="0">
                <a:solidFill>
                  <a:srgbClr val="FFFFFF"/>
                </a:solidFill>
                <a:latin typeface="Calibri" pitchFamily="34" charset="0"/>
                <a:ea typeface="Calibri" pitchFamily="34" charset="-122"/>
                <a:cs typeface="Calibri" pitchFamily="34" charset="-120"/>
              </a:rPr>
              <a:t>3</a:t>
            </a:r>
            <a:endParaRPr lang="en-US" sz="1867" dirty="0"/>
          </a:p>
        </p:txBody>
      </p:sp>
      <p:sp>
        <p:nvSpPr>
          <p:cNvPr id="25" name="Text 23"/>
          <p:cNvSpPr/>
          <p:nvPr/>
        </p:nvSpPr>
        <p:spPr>
          <a:xfrm>
            <a:off x="1280160" y="4096512"/>
            <a:ext cx="60960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2A9D8F"/>
                </a:solidFill>
                <a:latin typeface="Calibri" pitchFamily="34" charset="0"/>
                <a:ea typeface="Calibri" pitchFamily="34" charset="-122"/>
                <a:cs typeface="Calibri" pitchFamily="34" charset="-120"/>
              </a:rPr>
              <a:t>AI Error Validation Tasks</a:t>
            </a:r>
            <a:endParaRPr lang="en-US" sz="1600" dirty="0"/>
          </a:p>
        </p:txBody>
      </p:sp>
      <p:sp>
        <p:nvSpPr>
          <p:cNvPr id="26" name="Text 24"/>
          <p:cNvSpPr/>
          <p:nvPr/>
        </p:nvSpPr>
        <p:spPr>
          <a:xfrm>
            <a:off x="1280160" y="4437888"/>
            <a:ext cx="5608320"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Assign tasks where students must fact-check AI grammar explanations against a reference grammar or teacher judgment.</a:t>
            </a:r>
            <a:endParaRPr lang="en-US" sz="1333" dirty="0"/>
          </a:p>
        </p:txBody>
      </p:sp>
      <p:sp>
        <p:nvSpPr>
          <p:cNvPr id="27" name="Shape 25"/>
          <p:cNvSpPr/>
          <p:nvPr/>
        </p:nvSpPr>
        <p:spPr>
          <a:xfrm>
            <a:off x="7046976" y="4120896"/>
            <a:ext cx="4657344" cy="926592"/>
          </a:xfrm>
          <a:prstGeom prst="rect">
            <a:avLst/>
          </a:prstGeom>
          <a:solidFill>
            <a:srgbClr val="2A9D8F">
              <a:alpha val="12000"/>
            </a:srgbClr>
          </a:solidFill>
          <a:ln w="12700">
            <a:solidFill>
              <a:srgbClr val="2A9D8F"/>
            </a:solidFill>
            <a:prstDash val="solid"/>
          </a:ln>
        </p:spPr>
      </p:sp>
      <p:sp>
        <p:nvSpPr>
          <p:cNvPr id="28" name="Text 26"/>
          <p:cNvSpPr/>
          <p:nvPr/>
        </p:nvSpPr>
        <p:spPr>
          <a:xfrm>
            <a:off x="7193280" y="4169664"/>
            <a:ext cx="4413504"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i="1" dirty="0">
                <a:solidFill>
                  <a:srgbClr val="1A2744"/>
                </a:solidFill>
                <a:latin typeface="Calibri" pitchFamily="34" charset="0"/>
                <a:ea typeface="Calibri" pitchFamily="34" charset="-122"/>
                <a:cs typeface="Calibri" pitchFamily="34" charset="-120"/>
              </a:rPr>
              <a:t>Outcome: Learners in error-validation conditions showed 34% higher critical engagement scores.</a:t>
            </a:r>
            <a:endParaRPr lang="en-US" sz="1267" dirty="0"/>
          </a:p>
        </p:txBody>
      </p:sp>
      <p:sp>
        <p:nvSpPr>
          <p:cNvPr id="29" name="Shape 27"/>
          <p:cNvSpPr/>
          <p:nvPr/>
        </p:nvSpPr>
        <p:spPr>
          <a:xfrm>
            <a:off x="365760" y="5266944"/>
            <a:ext cx="11460480" cy="1158240"/>
          </a:xfrm>
          <a:prstGeom prst="rect">
            <a:avLst/>
          </a:prstGeom>
          <a:solidFill>
            <a:srgbClr val="FFFFFF"/>
          </a:solidFill>
          <a:ln w="12700">
            <a:solidFill>
              <a:srgbClr val="52B788"/>
            </a:solidFill>
            <a:prstDash val="solid"/>
          </a:ln>
          <a:effectLst>
            <a:outerShdw blurRad="38100" dist="12700" dir="8100000" algn="bl" rotWithShape="0">
              <a:srgbClr val="000000">
                <a:alpha val="6000"/>
              </a:srgbClr>
            </a:outerShdw>
          </a:effectLst>
        </p:spPr>
      </p:sp>
      <p:sp>
        <p:nvSpPr>
          <p:cNvPr id="30" name="Shape 28"/>
          <p:cNvSpPr/>
          <p:nvPr/>
        </p:nvSpPr>
        <p:spPr>
          <a:xfrm>
            <a:off x="487680" y="5510784"/>
            <a:ext cx="609600" cy="609600"/>
          </a:xfrm>
          <a:prstGeom prst="ellipse">
            <a:avLst/>
          </a:prstGeom>
          <a:solidFill>
            <a:srgbClr val="52B788"/>
          </a:solidFill>
          <a:ln w="12700">
            <a:solidFill>
              <a:srgbClr val="52B788"/>
            </a:solidFill>
            <a:prstDash val="solid"/>
          </a:ln>
        </p:spPr>
      </p:sp>
      <p:sp>
        <p:nvSpPr>
          <p:cNvPr id="31" name="Text 29"/>
          <p:cNvSpPr/>
          <p:nvPr/>
        </p:nvSpPr>
        <p:spPr>
          <a:xfrm>
            <a:off x="487680" y="5510784"/>
            <a:ext cx="609600" cy="6096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dirty="0">
                <a:solidFill>
                  <a:srgbClr val="FFFFFF"/>
                </a:solidFill>
                <a:latin typeface="Calibri" pitchFamily="34" charset="0"/>
                <a:ea typeface="Calibri" pitchFamily="34" charset="-122"/>
                <a:cs typeface="Calibri" pitchFamily="34" charset="-120"/>
              </a:rPr>
              <a:t>4</a:t>
            </a:r>
            <a:endParaRPr lang="en-US" sz="1867" dirty="0"/>
          </a:p>
        </p:txBody>
      </p:sp>
      <p:sp>
        <p:nvSpPr>
          <p:cNvPr id="32" name="Text 30"/>
          <p:cNvSpPr/>
          <p:nvPr/>
        </p:nvSpPr>
        <p:spPr>
          <a:xfrm>
            <a:off x="1280160" y="5364480"/>
            <a:ext cx="609600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52B788"/>
                </a:solidFill>
                <a:latin typeface="Calibri" pitchFamily="34" charset="0"/>
                <a:ea typeface="Calibri" pitchFamily="34" charset="-122"/>
                <a:cs typeface="Calibri" pitchFamily="34" charset="-120"/>
              </a:rPr>
              <a:t>Dialect &amp; Variety Prompting</a:t>
            </a:r>
            <a:endParaRPr lang="en-US" sz="1600" dirty="0"/>
          </a:p>
        </p:txBody>
      </p:sp>
      <p:sp>
        <p:nvSpPr>
          <p:cNvPr id="33" name="Text 31"/>
          <p:cNvSpPr/>
          <p:nvPr/>
        </p:nvSpPr>
        <p:spPr>
          <a:xfrm>
            <a:off x="1280160" y="5705856"/>
            <a:ext cx="5608320"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Explicitly prompt AI to acknowledge multiple varieties: "Is this standard in Australian English? Does this differ in AAVE?"</a:t>
            </a:r>
            <a:endParaRPr lang="en-US" sz="1333" dirty="0"/>
          </a:p>
        </p:txBody>
      </p:sp>
      <p:sp>
        <p:nvSpPr>
          <p:cNvPr id="34" name="Shape 32"/>
          <p:cNvSpPr/>
          <p:nvPr/>
        </p:nvSpPr>
        <p:spPr>
          <a:xfrm>
            <a:off x="7046976" y="5388864"/>
            <a:ext cx="4657344" cy="926592"/>
          </a:xfrm>
          <a:prstGeom prst="rect">
            <a:avLst/>
          </a:prstGeom>
          <a:solidFill>
            <a:srgbClr val="52B788">
              <a:alpha val="12000"/>
            </a:srgbClr>
          </a:solidFill>
          <a:ln w="12700">
            <a:solidFill>
              <a:srgbClr val="52B788"/>
            </a:solidFill>
            <a:prstDash val="solid"/>
          </a:ln>
        </p:spPr>
      </p:sp>
      <p:sp>
        <p:nvSpPr>
          <p:cNvPr id="35" name="Text 33"/>
          <p:cNvSpPr/>
          <p:nvPr/>
        </p:nvSpPr>
        <p:spPr>
          <a:xfrm>
            <a:off x="7193280" y="5437632"/>
            <a:ext cx="4413504"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i="1" dirty="0">
                <a:solidFill>
                  <a:srgbClr val="1A2744"/>
                </a:solidFill>
                <a:latin typeface="Calibri" pitchFamily="34" charset="0"/>
                <a:ea typeface="Calibri" pitchFamily="34" charset="-122"/>
                <a:cs typeface="Calibri" pitchFamily="34" charset="-120"/>
              </a:rPr>
              <a:t>Benefit: Raises learner awareness of standard language ideology embedded in AI responses.</a:t>
            </a:r>
            <a:endParaRPr lang="en-US" sz="1267" dirty="0"/>
          </a:p>
        </p:txBody>
      </p:sp>
    </p:spTree>
    <p:extLst>
      <p:ext uri="{BB962C8B-B14F-4D97-AF65-F5344CB8AC3E}">
        <p14:creationId xmlns:p14="http://schemas.microsoft.com/office/powerpoint/2010/main" val="2708627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PEDAGOGICAL STRATEGIES · II &amp; III</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Strategy II: Translanguaging  ·  Strategy III: Critical AI Literacy (CAIL)</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17 / 19</a:t>
            </a:r>
            <a:endParaRPr lang="en-US" sz="1067" dirty="0"/>
          </a:p>
        </p:txBody>
      </p:sp>
      <p:sp>
        <p:nvSpPr>
          <p:cNvPr id="7" name="Shape 5"/>
          <p:cNvSpPr/>
          <p:nvPr/>
        </p:nvSpPr>
        <p:spPr>
          <a:xfrm>
            <a:off x="365760" y="999744"/>
            <a:ext cx="5486400" cy="5486400"/>
          </a:xfrm>
          <a:prstGeom prst="rect">
            <a:avLst/>
          </a:prstGeom>
          <a:solidFill>
            <a:srgbClr val="FFFFFF"/>
          </a:solidFill>
          <a:ln w="12700">
            <a:solidFill>
              <a:srgbClr val="2A6496"/>
            </a:solidFill>
            <a:prstDash val="solid"/>
          </a:ln>
          <a:effectLst>
            <a:outerShdw blurRad="50800" dist="25400" dir="8100000" algn="bl" rotWithShape="0">
              <a:srgbClr val="000000">
                <a:alpha val="8000"/>
              </a:srgbClr>
            </a:outerShdw>
          </a:effectLst>
        </p:spPr>
      </p:sp>
      <p:sp>
        <p:nvSpPr>
          <p:cNvPr id="8" name="Shape 6"/>
          <p:cNvSpPr/>
          <p:nvPr/>
        </p:nvSpPr>
        <p:spPr>
          <a:xfrm>
            <a:off x="365760" y="999744"/>
            <a:ext cx="5486400" cy="438912"/>
          </a:xfrm>
          <a:prstGeom prst="rect">
            <a:avLst/>
          </a:prstGeom>
          <a:solidFill>
            <a:srgbClr val="2A6496"/>
          </a:solidFill>
          <a:ln w="12700">
            <a:solidFill>
              <a:srgbClr val="2A6496"/>
            </a:solidFill>
            <a:prstDash val="solid"/>
          </a:ln>
        </p:spPr>
      </p:sp>
      <p:sp>
        <p:nvSpPr>
          <p:cNvPr id="9" name="Text 7"/>
          <p:cNvSpPr/>
          <p:nvPr/>
        </p:nvSpPr>
        <p:spPr>
          <a:xfrm>
            <a:off x="512064" y="1048512"/>
            <a:ext cx="524256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67" dirty="0">
                <a:solidFill>
                  <a:srgbClr val="FFFFFF"/>
                </a:solidFill>
                <a:latin typeface="Calibri" pitchFamily="34" charset="0"/>
                <a:ea typeface="Calibri" pitchFamily="34" charset="-122"/>
                <a:cs typeface="Calibri" pitchFamily="34" charset="-120"/>
              </a:rPr>
              <a:t>TRANSLANGUAGING PEDAGOGY</a:t>
            </a:r>
            <a:endParaRPr lang="en-US" sz="1333" dirty="0"/>
          </a:p>
        </p:txBody>
      </p:sp>
      <p:sp>
        <p:nvSpPr>
          <p:cNvPr id="10" name="Text 8"/>
          <p:cNvSpPr/>
          <p:nvPr/>
        </p:nvSpPr>
        <p:spPr>
          <a:xfrm>
            <a:off x="512064" y="1560576"/>
            <a:ext cx="524256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2A6496"/>
                </a:solidFill>
                <a:latin typeface="Calibri" pitchFamily="34" charset="0"/>
                <a:ea typeface="Calibri" pitchFamily="34" charset="-122"/>
                <a:cs typeface="Calibri" pitchFamily="34" charset="-120"/>
              </a:rPr>
              <a:t>Affirm L1 as a resource, not a deficit</a:t>
            </a:r>
            <a:endParaRPr lang="en-US" sz="1400" dirty="0"/>
          </a:p>
        </p:txBody>
      </p:sp>
      <p:sp>
        <p:nvSpPr>
          <p:cNvPr id="11" name="Text 9"/>
          <p:cNvSpPr/>
          <p:nvPr/>
        </p:nvSpPr>
        <p:spPr>
          <a:xfrm>
            <a:off x="512064" y="1975104"/>
            <a:ext cx="5242560" cy="43281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Allow and validate L1 use during AI interaction (e.g., brainstorming in L1, producing in L2)</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Design tasks requiring students to compare AI output to L1 equivalent — surfacing translation ideology</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Use AI's translation feature as a contrastive analysis tool, not a replacement for L2 thinking</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Explicitly teach students to critique AI responses that erase L1 markers from their writing</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Frame multilingualism as communicative advantage, not 'interference'</a:t>
            </a:r>
            <a:endParaRPr lang="en-US" sz="1400" dirty="0"/>
          </a:p>
        </p:txBody>
      </p:sp>
      <p:sp>
        <p:nvSpPr>
          <p:cNvPr id="12" name="Shape 10"/>
          <p:cNvSpPr/>
          <p:nvPr/>
        </p:nvSpPr>
        <p:spPr>
          <a:xfrm>
            <a:off x="6217920" y="999744"/>
            <a:ext cx="5608320" cy="5486400"/>
          </a:xfrm>
          <a:prstGeom prst="rect">
            <a:avLst/>
          </a:prstGeom>
          <a:solidFill>
            <a:srgbClr val="FFFFFF"/>
          </a:solidFill>
          <a:ln w="12700">
            <a:solidFill>
              <a:srgbClr val="2A9D8F"/>
            </a:solidFill>
            <a:prstDash val="solid"/>
          </a:ln>
          <a:effectLst>
            <a:outerShdw blurRad="50800" dist="25400" dir="8100000" algn="bl" rotWithShape="0">
              <a:srgbClr val="000000">
                <a:alpha val="8000"/>
              </a:srgbClr>
            </a:outerShdw>
          </a:effectLst>
        </p:spPr>
      </p:sp>
      <p:sp>
        <p:nvSpPr>
          <p:cNvPr id="13" name="Shape 11"/>
          <p:cNvSpPr/>
          <p:nvPr/>
        </p:nvSpPr>
        <p:spPr>
          <a:xfrm>
            <a:off x="6217920" y="999744"/>
            <a:ext cx="5608320" cy="438912"/>
          </a:xfrm>
          <a:prstGeom prst="rect">
            <a:avLst/>
          </a:prstGeom>
          <a:solidFill>
            <a:srgbClr val="2A9D8F"/>
          </a:solidFill>
          <a:ln w="12700">
            <a:solidFill>
              <a:srgbClr val="2A9D8F"/>
            </a:solidFill>
            <a:prstDash val="solid"/>
          </a:ln>
        </p:spPr>
      </p:sp>
      <p:sp>
        <p:nvSpPr>
          <p:cNvPr id="14" name="Text 12"/>
          <p:cNvSpPr/>
          <p:nvPr/>
        </p:nvSpPr>
        <p:spPr>
          <a:xfrm>
            <a:off x="6364224" y="1048512"/>
            <a:ext cx="530352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67" dirty="0">
                <a:solidFill>
                  <a:srgbClr val="FFFFFF"/>
                </a:solidFill>
                <a:latin typeface="Calibri" pitchFamily="34" charset="0"/>
                <a:ea typeface="Calibri" pitchFamily="34" charset="-122"/>
                <a:cs typeface="Calibri" pitchFamily="34" charset="-120"/>
              </a:rPr>
              <a:t>CRITICAL AI LITERACY (CAIL)</a:t>
            </a:r>
            <a:endParaRPr lang="en-US" sz="1333" dirty="0"/>
          </a:p>
        </p:txBody>
      </p:sp>
      <p:sp>
        <p:nvSpPr>
          <p:cNvPr id="15" name="Text 13"/>
          <p:cNvSpPr/>
          <p:nvPr/>
        </p:nvSpPr>
        <p:spPr>
          <a:xfrm>
            <a:off x="6364224" y="1560576"/>
            <a:ext cx="530352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2A9D8F"/>
                </a:solidFill>
                <a:latin typeface="Calibri" pitchFamily="34" charset="0"/>
                <a:ea typeface="Calibri" pitchFamily="34" charset="-122"/>
                <a:cs typeface="Calibri" pitchFamily="34" charset="-120"/>
              </a:rPr>
              <a:t>Teach students to interrogate, not just use, AI</a:t>
            </a:r>
            <a:endParaRPr lang="en-US" sz="1400" dirty="0"/>
          </a:p>
        </p:txBody>
      </p:sp>
      <p:sp>
        <p:nvSpPr>
          <p:cNvPr id="16" name="Text 14"/>
          <p:cNvSpPr/>
          <p:nvPr/>
        </p:nvSpPr>
        <p:spPr>
          <a:xfrm>
            <a:off x="6364224" y="1975104"/>
            <a:ext cx="5303520" cy="432816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Discuss how AI training data is assembled — whose texts are included, whose excluded</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Analyze AI feedback for ideological assumptions about 'good writing'</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Have learners document cases where AI feedback conflicts with their own judgment</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Assign comparative tasks: AI feedback vs. peer feedback vs. teacher feedback — discuss the differences</a:t>
            </a:r>
            <a:endParaRPr lang="en-US" sz="1400" dirty="0"/>
          </a:p>
          <a:p>
            <a:pPr marL="457189" indent="-457189">
              <a:spcAft>
                <a:spcPts val="933"/>
              </a:spcAft>
              <a:buSzPct val="100000"/>
              <a:buChar char="•"/>
            </a:pPr>
            <a:r>
              <a:rPr lang="en-US" sz="1400" dirty="0">
                <a:solidFill>
                  <a:srgbClr val="1A2744"/>
                </a:solidFill>
                <a:latin typeface="Calibri" pitchFamily="34" charset="0"/>
                <a:ea typeface="Calibri" pitchFamily="34" charset="-122"/>
                <a:cs typeface="Calibri" pitchFamily="34" charset="-120"/>
              </a:rPr>
              <a:t>Introduce concepts: standard language ideology, linguistic bias, algorithmic power</a:t>
            </a:r>
            <a:endParaRPr lang="en-US" sz="1400" dirty="0"/>
          </a:p>
        </p:txBody>
      </p:sp>
    </p:spTree>
    <p:extLst>
      <p:ext uri="{BB962C8B-B14F-4D97-AF65-F5344CB8AC3E}">
        <p14:creationId xmlns:p14="http://schemas.microsoft.com/office/powerpoint/2010/main" val="1407687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0"/>
          </a:xfrm>
          <a:prstGeom prst="rect">
            <a:avLst/>
          </a:prstGeom>
          <a:solidFill>
            <a:srgbClr val="1A2744"/>
          </a:solidFill>
          <a:ln w="12700">
            <a:solidFill>
              <a:srgbClr val="1A2744"/>
            </a:solidFill>
            <a:prstDash val="solid"/>
          </a:ln>
        </p:spPr>
      </p:sp>
      <p:sp>
        <p:nvSpPr>
          <p:cNvPr id="3" name="Text 1"/>
          <p:cNvSpPr/>
          <p:nvPr/>
        </p:nvSpPr>
        <p:spPr>
          <a:xfrm>
            <a:off x="426720" y="73152"/>
            <a:ext cx="10972800"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067" b="1" kern="0" spc="400" dirty="0">
                <a:solidFill>
                  <a:srgbClr val="48CFC1"/>
                </a:solidFill>
                <a:latin typeface="Calibri" pitchFamily="34" charset="0"/>
                <a:ea typeface="Calibri" pitchFamily="34" charset="-122"/>
                <a:cs typeface="Calibri" pitchFamily="34" charset="-120"/>
              </a:rPr>
              <a:t>IMPLICATIONS FOR PRACTICE</a:t>
            </a:r>
            <a:endParaRPr lang="en-US" sz="1067" dirty="0"/>
          </a:p>
        </p:txBody>
      </p:sp>
      <p:sp>
        <p:nvSpPr>
          <p:cNvPr id="4" name="Text 2"/>
          <p:cNvSpPr/>
          <p:nvPr/>
        </p:nvSpPr>
        <p:spPr>
          <a:xfrm>
            <a:off x="426720" y="292608"/>
            <a:ext cx="11338560" cy="53644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933" b="1" dirty="0">
                <a:solidFill>
                  <a:srgbClr val="FFFFFF"/>
                </a:solidFill>
                <a:latin typeface="Calibri" pitchFamily="34" charset="0"/>
                <a:ea typeface="Calibri" pitchFamily="34" charset="-122"/>
                <a:cs typeface="Calibri" pitchFamily="34" charset="-120"/>
              </a:rPr>
              <a:t>The Teacher's New Role in AI-Integrated Classrooms</a:t>
            </a:r>
            <a:endParaRPr lang="en-US" sz="2933" dirty="0"/>
          </a:p>
        </p:txBody>
      </p:sp>
      <p:sp>
        <p:nvSpPr>
          <p:cNvPr id="5" name="Shape 3"/>
          <p:cNvSpPr/>
          <p:nvPr/>
        </p:nvSpPr>
        <p:spPr>
          <a:xfrm>
            <a:off x="0" y="6644640"/>
            <a:ext cx="12192000" cy="213360"/>
          </a:xfrm>
          <a:prstGeom prst="rect">
            <a:avLst/>
          </a:prstGeom>
          <a:solidFill>
            <a:srgbClr val="2A9D8F"/>
          </a:solidFill>
          <a:ln w="12700">
            <a:solidFill>
              <a:srgbClr val="2A9D8F"/>
            </a:solidFill>
            <a:prstDash val="solid"/>
          </a:ln>
        </p:spPr>
      </p:sp>
      <p:sp>
        <p:nvSpPr>
          <p:cNvPr id="6" name="Text 4"/>
          <p:cNvSpPr/>
          <p:nvPr/>
        </p:nvSpPr>
        <p:spPr>
          <a:xfrm>
            <a:off x="10728960" y="6644640"/>
            <a:ext cx="1219200" cy="213360"/>
          </a:xfrm>
          <a:prstGeom prst="rect">
            <a:avLst/>
          </a:prstGeom>
          <a:noFill/>
          <a:ln/>
        </p:spPr>
        <p:txBody>
          <a:bodyPr wrap="square" lIns="0" tIns="0" rIns="67733"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067" dirty="0">
                <a:solidFill>
                  <a:srgbClr val="FFFFFF"/>
                </a:solidFill>
                <a:latin typeface="Calibri" pitchFamily="34" charset="0"/>
                <a:ea typeface="Calibri" pitchFamily="34" charset="-122"/>
                <a:cs typeface="Calibri" pitchFamily="34" charset="-120"/>
              </a:rPr>
              <a:t>18 / 19</a:t>
            </a:r>
            <a:endParaRPr lang="en-US" sz="1067" dirty="0"/>
          </a:p>
        </p:txBody>
      </p:sp>
      <p:sp>
        <p:nvSpPr>
          <p:cNvPr id="7" name="Text 5"/>
          <p:cNvSpPr/>
          <p:nvPr/>
        </p:nvSpPr>
        <p:spPr>
          <a:xfrm>
            <a:off x="426720" y="999744"/>
            <a:ext cx="1133856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i="1" dirty="0">
                <a:solidFill>
                  <a:srgbClr val="4A5568"/>
                </a:solidFill>
                <a:latin typeface="Calibri" pitchFamily="34" charset="0"/>
                <a:ea typeface="Calibri" pitchFamily="34" charset="-122"/>
                <a:cs typeface="Calibri" pitchFamily="34" charset="-120"/>
              </a:rPr>
              <a:t>AI does not replace teachers — it makes the irreplaceable dimensions of teaching more visible.</a:t>
            </a:r>
            <a:endParaRPr lang="en-US" sz="1600" dirty="0"/>
          </a:p>
        </p:txBody>
      </p:sp>
      <p:sp>
        <p:nvSpPr>
          <p:cNvPr id="8" name="Shape 6"/>
          <p:cNvSpPr/>
          <p:nvPr/>
        </p:nvSpPr>
        <p:spPr>
          <a:xfrm>
            <a:off x="365760" y="1463040"/>
            <a:ext cx="3718560" cy="4937760"/>
          </a:xfrm>
          <a:prstGeom prst="rect">
            <a:avLst/>
          </a:prstGeom>
          <a:solidFill>
            <a:srgbClr val="FFFFFF"/>
          </a:solidFill>
          <a:ln w="12700">
            <a:solidFill>
              <a:srgbClr val="1A2744"/>
            </a:solidFill>
            <a:prstDash val="solid"/>
          </a:ln>
          <a:effectLst>
            <a:outerShdw blurRad="50800" dist="25400" dir="8100000" algn="bl" rotWithShape="0">
              <a:srgbClr val="000000">
                <a:alpha val="7000"/>
              </a:srgbClr>
            </a:outerShdw>
          </a:effectLst>
        </p:spPr>
      </p:sp>
      <p:sp>
        <p:nvSpPr>
          <p:cNvPr id="9" name="Shape 7"/>
          <p:cNvSpPr/>
          <p:nvPr/>
        </p:nvSpPr>
        <p:spPr>
          <a:xfrm>
            <a:off x="365760" y="1463040"/>
            <a:ext cx="3718560" cy="853440"/>
          </a:xfrm>
          <a:prstGeom prst="rect">
            <a:avLst/>
          </a:prstGeom>
          <a:solidFill>
            <a:srgbClr val="1A2744"/>
          </a:solidFill>
          <a:ln w="12700">
            <a:solidFill>
              <a:srgbClr val="1A2744"/>
            </a:solidFill>
            <a:prstDash val="solid"/>
          </a:ln>
        </p:spPr>
      </p:sp>
      <p:sp>
        <p:nvSpPr>
          <p:cNvPr id="10" name="Text 8"/>
          <p:cNvSpPr/>
          <p:nvPr/>
        </p:nvSpPr>
        <p:spPr>
          <a:xfrm>
            <a:off x="487680" y="1511808"/>
            <a:ext cx="347472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dirty="0">
                <a:solidFill>
                  <a:srgbClr val="FFFFFF"/>
                </a:solidFill>
                <a:latin typeface="Calibri" pitchFamily="34" charset="0"/>
                <a:ea typeface="Calibri" pitchFamily="34" charset="-122"/>
                <a:cs typeface="Calibri" pitchFamily="34" charset="-120"/>
              </a:rPr>
              <a:t>CURATOR</a:t>
            </a:r>
            <a:endParaRPr lang="en-US" sz="2000" dirty="0"/>
          </a:p>
        </p:txBody>
      </p:sp>
      <p:sp>
        <p:nvSpPr>
          <p:cNvPr id="11" name="Text 9"/>
          <p:cNvSpPr/>
          <p:nvPr/>
        </p:nvSpPr>
        <p:spPr>
          <a:xfrm>
            <a:off x="487680" y="1901952"/>
            <a:ext cx="347472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i="1" dirty="0">
                <a:solidFill>
                  <a:srgbClr val="FFFFFF"/>
                </a:solidFill>
                <a:latin typeface="Calibri" pitchFamily="34" charset="0"/>
                <a:ea typeface="Calibri" pitchFamily="34" charset="-122"/>
                <a:cs typeface="Calibri" pitchFamily="34" charset="-120"/>
              </a:rPr>
              <a:t>Of Tasks &amp; Tools</a:t>
            </a:r>
            <a:endParaRPr lang="en-US" sz="1333" dirty="0"/>
          </a:p>
        </p:txBody>
      </p:sp>
      <p:sp>
        <p:nvSpPr>
          <p:cNvPr id="12" name="Text 10"/>
          <p:cNvSpPr/>
          <p:nvPr/>
        </p:nvSpPr>
        <p:spPr>
          <a:xfrm>
            <a:off x="487680" y="2401824"/>
            <a:ext cx="3511296" cy="14020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Design learning experiences where AI plays a purposeful, bounded role. Select tasks where AI supports — rather than replaces — the productive struggle of language learning.</a:t>
            </a:r>
            <a:endParaRPr lang="en-US" sz="1333" dirty="0"/>
          </a:p>
        </p:txBody>
      </p:sp>
      <p:sp>
        <p:nvSpPr>
          <p:cNvPr id="13" name="Shape 11"/>
          <p:cNvSpPr/>
          <p:nvPr/>
        </p:nvSpPr>
        <p:spPr>
          <a:xfrm>
            <a:off x="487680" y="3852672"/>
            <a:ext cx="3511296" cy="0"/>
          </a:xfrm>
          <a:prstGeom prst="line">
            <a:avLst/>
          </a:prstGeom>
          <a:noFill/>
          <a:ln w="12700">
            <a:solidFill>
              <a:srgbClr val="EEF2F6"/>
            </a:solidFill>
            <a:prstDash val="solid"/>
          </a:ln>
        </p:spPr>
      </p:sp>
      <p:sp>
        <p:nvSpPr>
          <p:cNvPr id="14" name="Text 12"/>
          <p:cNvSpPr/>
          <p:nvPr/>
        </p:nvSpPr>
        <p:spPr>
          <a:xfrm>
            <a:off x="487680" y="3925824"/>
            <a:ext cx="3511296"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1A2744"/>
                </a:solidFill>
                <a:latin typeface="Calibri" pitchFamily="34" charset="0"/>
                <a:ea typeface="Calibri" pitchFamily="34" charset="-122"/>
                <a:cs typeface="Calibri" pitchFamily="34" charset="-120"/>
              </a:rPr>
              <a:t>In Practice:</a:t>
            </a:r>
            <a:endParaRPr lang="en-US" sz="1200" dirty="0"/>
          </a:p>
        </p:txBody>
      </p:sp>
      <p:sp>
        <p:nvSpPr>
          <p:cNvPr id="15" name="Text 13"/>
          <p:cNvSpPr/>
          <p:nvPr/>
        </p:nvSpPr>
        <p:spPr>
          <a:xfrm>
            <a:off x="487680" y="4218432"/>
            <a:ext cx="3511296" cy="2011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Choose which AI interactions are pedagogically valuable</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Build in AI-free production phases</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Align AI use with specific learning objectives</a:t>
            </a:r>
            <a:endParaRPr lang="en-US" sz="1267" dirty="0"/>
          </a:p>
        </p:txBody>
      </p:sp>
      <p:sp>
        <p:nvSpPr>
          <p:cNvPr id="16" name="Shape 14"/>
          <p:cNvSpPr/>
          <p:nvPr/>
        </p:nvSpPr>
        <p:spPr>
          <a:xfrm>
            <a:off x="4291584" y="1463040"/>
            <a:ext cx="3718560" cy="4937760"/>
          </a:xfrm>
          <a:prstGeom prst="rect">
            <a:avLst/>
          </a:prstGeom>
          <a:solidFill>
            <a:srgbClr val="FFFFFF"/>
          </a:solidFill>
          <a:ln w="12700">
            <a:solidFill>
              <a:srgbClr val="2A6496"/>
            </a:solidFill>
            <a:prstDash val="solid"/>
          </a:ln>
          <a:effectLst>
            <a:outerShdw blurRad="50800" dist="25400" dir="8100000" algn="bl" rotWithShape="0">
              <a:srgbClr val="000000">
                <a:alpha val="7000"/>
              </a:srgbClr>
            </a:outerShdw>
          </a:effectLst>
        </p:spPr>
      </p:sp>
      <p:sp>
        <p:nvSpPr>
          <p:cNvPr id="17" name="Shape 15"/>
          <p:cNvSpPr/>
          <p:nvPr/>
        </p:nvSpPr>
        <p:spPr>
          <a:xfrm>
            <a:off x="4291584" y="1463040"/>
            <a:ext cx="3718560" cy="853440"/>
          </a:xfrm>
          <a:prstGeom prst="rect">
            <a:avLst/>
          </a:prstGeom>
          <a:solidFill>
            <a:srgbClr val="2A6496"/>
          </a:solidFill>
          <a:ln w="12700">
            <a:solidFill>
              <a:srgbClr val="2A6496"/>
            </a:solidFill>
            <a:prstDash val="solid"/>
          </a:ln>
        </p:spPr>
      </p:sp>
      <p:sp>
        <p:nvSpPr>
          <p:cNvPr id="18" name="Text 16"/>
          <p:cNvSpPr/>
          <p:nvPr/>
        </p:nvSpPr>
        <p:spPr>
          <a:xfrm>
            <a:off x="4413504" y="1511808"/>
            <a:ext cx="347472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dirty="0">
                <a:solidFill>
                  <a:srgbClr val="FFFFFF"/>
                </a:solidFill>
                <a:latin typeface="Calibri" pitchFamily="34" charset="0"/>
                <a:ea typeface="Calibri" pitchFamily="34" charset="-122"/>
                <a:cs typeface="Calibri" pitchFamily="34" charset="-120"/>
              </a:rPr>
              <a:t>ORCHESTRATOR</a:t>
            </a:r>
            <a:endParaRPr lang="en-US" sz="2000" dirty="0"/>
          </a:p>
        </p:txBody>
      </p:sp>
      <p:sp>
        <p:nvSpPr>
          <p:cNvPr id="19" name="Text 17"/>
          <p:cNvSpPr/>
          <p:nvPr/>
        </p:nvSpPr>
        <p:spPr>
          <a:xfrm>
            <a:off x="4413504" y="1901952"/>
            <a:ext cx="347472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i="1" dirty="0">
                <a:solidFill>
                  <a:srgbClr val="FFFFFF"/>
                </a:solidFill>
                <a:latin typeface="Calibri" pitchFamily="34" charset="0"/>
                <a:ea typeface="Calibri" pitchFamily="34" charset="-122"/>
                <a:cs typeface="Calibri" pitchFamily="34" charset="-120"/>
              </a:rPr>
              <a:t>Of Feedback Ecosystems</a:t>
            </a:r>
            <a:endParaRPr lang="en-US" sz="1333" dirty="0"/>
          </a:p>
        </p:txBody>
      </p:sp>
      <p:sp>
        <p:nvSpPr>
          <p:cNvPr id="20" name="Text 18"/>
          <p:cNvSpPr/>
          <p:nvPr/>
        </p:nvSpPr>
        <p:spPr>
          <a:xfrm>
            <a:off x="4413504" y="2401824"/>
            <a:ext cx="3511296" cy="14020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Coordinate AI, peer, and expert feedback as complementary components of a rich feedback ecology. Teach students when and how to use each.</a:t>
            </a:r>
            <a:endParaRPr lang="en-US" sz="1333" dirty="0"/>
          </a:p>
        </p:txBody>
      </p:sp>
      <p:sp>
        <p:nvSpPr>
          <p:cNvPr id="21" name="Shape 19"/>
          <p:cNvSpPr/>
          <p:nvPr/>
        </p:nvSpPr>
        <p:spPr>
          <a:xfrm>
            <a:off x="4413504" y="3852672"/>
            <a:ext cx="3511296" cy="0"/>
          </a:xfrm>
          <a:prstGeom prst="line">
            <a:avLst/>
          </a:prstGeom>
          <a:noFill/>
          <a:ln w="12700">
            <a:solidFill>
              <a:srgbClr val="EEF2F6"/>
            </a:solidFill>
            <a:prstDash val="solid"/>
          </a:ln>
        </p:spPr>
      </p:sp>
      <p:sp>
        <p:nvSpPr>
          <p:cNvPr id="22" name="Text 20"/>
          <p:cNvSpPr/>
          <p:nvPr/>
        </p:nvSpPr>
        <p:spPr>
          <a:xfrm>
            <a:off x="4413504" y="3925824"/>
            <a:ext cx="3511296"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2A6496"/>
                </a:solidFill>
                <a:latin typeface="Calibri" pitchFamily="34" charset="0"/>
                <a:ea typeface="Calibri" pitchFamily="34" charset="-122"/>
                <a:cs typeface="Calibri" pitchFamily="34" charset="-120"/>
              </a:rPr>
              <a:t>In Practice:</a:t>
            </a:r>
            <a:endParaRPr lang="en-US" sz="1200" dirty="0"/>
          </a:p>
        </p:txBody>
      </p:sp>
      <p:sp>
        <p:nvSpPr>
          <p:cNvPr id="23" name="Text 21"/>
          <p:cNvSpPr/>
          <p:nvPr/>
        </p:nvSpPr>
        <p:spPr>
          <a:xfrm>
            <a:off x="4413504" y="4218432"/>
            <a:ext cx="3511296" cy="2011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Sequence feedback sources strategically</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Teach feedback evaluation and comparison</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Monitor for dependency patterns and intervene</a:t>
            </a:r>
            <a:endParaRPr lang="en-US" sz="1267" dirty="0"/>
          </a:p>
        </p:txBody>
      </p:sp>
      <p:sp>
        <p:nvSpPr>
          <p:cNvPr id="24" name="Shape 22"/>
          <p:cNvSpPr/>
          <p:nvPr/>
        </p:nvSpPr>
        <p:spPr>
          <a:xfrm>
            <a:off x="8217408" y="1463040"/>
            <a:ext cx="3718560" cy="4937760"/>
          </a:xfrm>
          <a:prstGeom prst="rect">
            <a:avLst/>
          </a:prstGeom>
          <a:solidFill>
            <a:srgbClr val="FFFFFF"/>
          </a:solidFill>
          <a:ln w="12700">
            <a:solidFill>
              <a:srgbClr val="2A9D8F"/>
            </a:solidFill>
            <a:prstDash val="solid"/>
          </a:ln>
          <a:effectLst>
            <a:outerShdw blurRad="50800" dist="25400" dir="8100000" algn="bl" rotWithShape="0">
              <a:srgbClr val="000000">
                <a:alpha val="7000"/>
              </a:srgbClr>
            </a:outerShdw>
          </a:effectLst>
        </p:spPr>
      </p:sp>
      <p:sp>
        <p:nvSpPr>
          <p:cNvPr id="25" name="Shape 23"/>
          <p:cNvSpPr/>
          <p:nvPr/>
        </p:nvSpPr>
        <p:spPr>
          <a:xfrm>
            <a:off x="8217408" y="1463040"/>
            <a:ext cx="3718560" cy="853440"/>
          </a:xfrm>
          <a:prstGeom prst="rect">
            <a:avLst/>
          </a:prstGeom>
          <a:solidFill>
            <a:srgbClr val="2A9D8F"/>
          </a:solidFill>
          <a:ln w="12700">
            <a:solidFill>
              <a:srgbClr val="2A9D8F"/>
            </a:solidFill>
            <a:prstDash val="solid"/>
          </a:ln>
        </p:spPr>
      </p:sp>
      <p:sp>
        <p:nvSpPr>
          <p:cNvPr id="26" name="Text 24"/>
          <p:cNvSpPr/>
          <p:nvPr/>
        </p:nvSpPr>
        <p:spPr>
          <a:xfrm>
            <a:off x="8339328" y="1511808"/>
            <a:ext cx="347472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dirty="0">
                <a:solidFill>
                  <a:srgbClr val="FFFFFF"/>
                </a:solidFill>
                <a:latin typeface="Calibri" pitchFamily="34" charset="0"/>
                <a:ea typeface="Calibri" pitchFamily="34" charset="-122"/>
                <a:cs typeface="Calibri" pitchFamily="34" charset="-120"/>
              </a:rPr>
              <a:t>CULTURAL MEDIATOR</a:t>
            </a:r>
            <a:endParaRPr lang="en-US" sz="2000" dirty="0"/>
          </a:p>
        </p:txBody>
      </p:sp>
      <p:sp>
        <p:nvSpPr>
          <p:cNvPr id="27" name="Text 25"/>
          <p:cNvSpPr/>
          <p:nvPr/>
        </p:nvSpPr>
        <p:spPr>
          <a:xfrm>
            <a:off x="8339328" y="1901952"/>
            <a:ext cx="3474720"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i="1" dirty="0">
                <a:solidFill>
                  <a:srgbClr val="FFFFFF"/>
                </a:solidFill>
                <a:latin typeface="Calibri" pitchFamily="34" charset="0"/>
                <a:ea typeface="Calibri" pitchFamily="34" charset="-122"/>
                <a:cs typeface="Calibri" pitchFamily="34" charset="-120"/>
              </a:rPr>
              <a:t>Of Language &amp; Identity</a:t>
            </a:r>
            <a:endParaRPr lang="en-US" sz="1333" dirty="0"/>
          </a:p>
        </p:txBody>
      </p:sp>
      <p:sp>
        <p:nvSpPr>
          <p:cNvPr id="28" name="Text 26"/>
          <p:cNvSpPr/>
          <p:nvPr/>
        </p:nvSpPr>
        <p:spPr>
          <a:xfrm>
            <a:off x="8339328" y="2401824"/>
            <a:ext cx="3511296" cy="14020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dirty="0">
                <a:solidFill>
                  <a:srgbClr val="1A2744"/>
                </a:solidFill>
                <a:latin typeface="Calibri" pitchFamily="34" charset="0"/>
                <a:ea typeface="Calibri" pitchFamily="34" charset="-122"/>
                <a:cs typeface="Calibri" pitchFamily="34" charset="-120"/>
              </a:rPr>
              <a:t>Actively name and counter the standard language ideologies embedded in AI tools. Create space for learners' full linguistic repertoires.</a:t>
            </a:r>
            <a:endParaRPr lang="en-US" sz="1333" dirty="0"/>
          </a:p>
        </p:txBody>
      </p:sp>
      <p:sp>
        <p:nvSpPr>
          <p:cNvPr id="29" name="Shape 27"/>
          <p:cNvSpPr/>
          <p:nvPr/>
        </p:nvSpPr>
        <p:spPr>
          <a:xfrm>
            <a:off x="8339328" y="3852672"/>
            <a:ext cx="3511296" cy="0"/>
          </a:xfrm>
          <a:prstGeom prst="line">
            <a:avLst/>
          </a:prstGeom>
          <a:noFill/>
          <a:ln w="12700">
            <a:solidFill>
              <a:srgbClr val="EEF2F6"/>
            </a:solidFill>
            <a:prstDash val="solid"/>
          </a:ln>
        </p:spPr>
      </p:sp>
      <p:sp>
        <p:nvSpPr>
          <p:cNvPr id="30" name="Text 28"/>
          <p:cNvSpPr/>
          <p:nvPr/>
        </p:nvSpPr>
        <p:spPr>
          <a:xfrm>
            <a:off x="8339328" y="3925824"/>
            <a:ext cx="3511296"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kern="0" spc="67" dirty="0">
                <a:solidFill>
                  <a:srgbClr val="2A9D8F"/>
                </a:solidFill>
                <a:latin typeface="Calibri" pitchFamily="34" charset="0"/>
                <a:ea typeface="Calibri" pitchFamily="34" charset="-122"/>
                <a:cs typeface="Calibri" pitchFamily="34" charset="-120"/>
              </a:rPr>
              <a:t>In Practice:</a:t>
            </a:r>
            <a:endParaRPr lang="en-US" sz="1200" dirty="0"/>
          </a:p>
        </p:txBody>
      </p:sp>
      <p:sp>
        <p:nvSpPr>
          <p:cNvPr id="31" name="Text 29"/>
          <p:cNvSpPr/>
          <p:nvPr/>
        </p:nvSpPr>
        <p:spPr>
          <a:xfrm>
            <a:off x="8339328" y="4218432"/>
            <a:ext cx="3511296" cy="20116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Validate non-prestige varieties in classroom</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Facilitate CAIL discussions explicitly</a:t>
            </a:r>
            <a:endParaRPr lang="en-US" sz="1267" dirty="0"/>
          </a:p>
          <a:p>
            <a:pPr marL="457189" indent="-457189">
              <a:spcAft>
                <a:spcPts val="667"/>
              </a:spcAft>
              <a:buSzPct val="100000"/>
              <a:buChar char="•"/>
            </a:pPr>
            <a:r>
              <a:rPr lang="en-US" sz="1267" dirty="0">
                <a:solidFill>
                  <a:srgbClr val="1A2744"/>
                </a:solidFill>
                <a:latin typeface="Calibri" pitchFamily="34" charset="0"/>
                <a:ea typeface="Calibri" pitchFamily="34" charset="-122"/>
                <a:cs typeface="Calibri" pitchFamily="34" charset="-120"/>
              </a:rPr>
              <a:t>Bridge AI's cultural blind spots with human knowledge</a:t>
            </a:r>
            <a:endParaRPr lang="en-US" sz="1267" dirty="0"/>
          </a:p>
        </p:txBody>
      </p:sp>
    </p:spTree>
    <p:extLst>
      <p:ext uri="{BB962C8B-B14F-4D97-AF65-F5344CB8AC3E}">
        <p14:creationId xmlns:p14="http://schemas.microsoft.com/office/powerpoint/2010/main" val="2528550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9">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2A9D8F"/>
          </a:solidFill>
          <a:ln w="12700">
            <a:solidFill>
              <a:srgbClr val="2A9D8F"/>
            </a:solidFill>
            <a:prstDash val="solid"/>
          </a:ln>
        </p:spPr>
      </p:sp>
      <p:sp>
        <p:nvSpPr>
          <p:cNvPr id="3" name="Text 1"/>
          <p:cNvSpPr/>
          <p:nvPr/>
        </p:nvSpPr>
        <p:spPr>
          <a:xfrm>
            <a:off x="609600" y="243840"/>
            <a:ext cx="10972800" cy="36576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533" dirty="0">
                <a:solidFill>
                  <a:srgbClr val="48CFC1"/>
                </a:solidFill>
                <a:latin typeface="Calibri" pitchFamily="34" charset="0"/>
                <a:ea typeface="Calibri" pitchFamily="34" charset="-122"/>
                <a:cs typeface="Calibri" pitchFamily="34" charset="-120"/>
              </a:rPr>
              <a:t>FOR DISCUSSION</a:t>
            </a:r>
            <a:endParaRPr lang="en-US" sz="1333" dirty="0"/>
          </a:p>
        </p:txBody>
      </p:sp>
      <p:sp>
        <p:nvSpPr>
          <p:cNvPr id="4" name="Text 2"/>
          <p:cNvSpPr/>
          <p:nvPr/>
        </p:nvSpPr>
        <p:spPr>
          <a:xfrm>
            <a:off x="609600" y="609600"/>
            <a:ext cx="10972800" cy="79248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000" b="1" dirty="0">
                <a:solidFill>
                  <a:srgbClr val="FFFFFF"/>
                </a:solidFill>
                <a:latin typeface="Calibri" pitchFamily="34" charset="0"/>
                <a:ea typeface="Calibri" pitchFamily="34" charset="-122"/>
                <a:cs typeface="Calibri" pitchFamily="34" charset="-120"/>
              </a:rPr>
              <a:t>Critical Questions</a:t>
            </a:r>
            <a:endParaRPr lang="en-US" sz="4000" dirty="0"/>
          </a:p>
        </p:txBody>
      </p:sp>
      <p:sp>
        <p:nvSpPr>
          <p:cNvPr id="5" name="Shape 3"/>
          <p:cNvSpPr/>
          <p:nvPr/>
        </p:nvSpPr>
        <p:spPr>
          <a:xfrm>
            <a:off x="487680" y="1645920"/>
            <a:ext cx="5608320" cy="1365504"/>
          </a:xfrm>
          <a:prstGeom prst="rect">
            <a:avLst/>
          </a:prstGeom>
          <a:solidFill>
            <a:srgbClr val="FFFFFF">
              <a:alpha val="8000"/>
            </a:srgbClr>
          </a:solidFill>
          <a:ln w="9525">
            <a:solidFill>
              <a:srgbClr val="48CFC1"/>
            </a:solidFill>
            <a:prstDash val="solid"/>
          </a:ln>
        </p:spPr>
      </p:sp>
      <p:sp>
        <p:nvSpPr>
          <p:cNvPr id="6" name="Shape 4"/>
          <p:cNvSpPr/>
          <p:nvPr/>
        </p:nvSpPr>
        <p:spPr>
          <a:xfrm>
            <a:off x="487680" y="1645920"/>
            <a:ext cx="97536" cy="1365504"/>
          </a:xfrm>
          <a:prstGeom prst="rect">
            <a:avLst/>
          </a:prstGeom>
          <a:solidFill>
            <a:srgbClr val="2A9D8F"/>
          </a:solidFill>
          <a:ln w="12700">
            <a:solidFill>
              <a:srgbClr val="2A9D8F"/>
            </a:solidFill>
            <a:prstDash val="solid"/>
          </a:ln>
        </p:spPr>
      </p:sp>
      <p:sp>
        <p:nvSpPr>
          <p:cNvPr id="7" name="Text 5"/>
          <p:cNvSpPr/>
          <p:nvPr/>
        </p:nvSpPr>
        <p:spPr>
          <a:xfrm>
            <a:off x="707136" y="1767840"/>
            <a:ext cx="5486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dirty="0">
                <a:solidFill>
                  <a:srgbClr val="48CFC1"/>
                </a:solidFill>
                <a:latin typeface="Calibri" pitchFamily="34" charset="0"/>
                <a:ea typeface="Calibri" pitchFamily="34" charset="-122"/>
                <a:cs typeface="Calibri" pitchFamily="34" charset="-120"/>
              </a:rPr>
              <a:t>01</a:t>
            </a:r>
            <a:endParaRPr lang="en-US" sz="1867" dirty="0"/>
          </a:p>
        </p:txBody>
      </p:sp>
      <p:sp>
        <p:nvSpPr>
          <p:cNvPr id="8" name="Text 6"/>
          <p:cNvSpPr/>
          <p:nvPr/>
        </p:nvSpPr>
        <p:spPr>
          <a:xfrm>
            <a:off x="707136" y="2157984"/>
            <a:ext cx="5218176" cy="7924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FFFFFF"/>
                </a:solidFill>
                <a:latin typeface="Calibri" pitchFamily="34" charset="0"/>
                <a:ea typeface="Calibri" pitchFamily="34" charset="-122"/>
                <a:cs typeface="Calibri" pitchFamily="34" charset="-120"/>
              </a:rPr>
              <a:t>How do we audit AI tools for linguistic bias before deploying them with multilingual learners?</a:t>
            </a:r>
            <a:endParaRPr lang="en-US" sz="1400" dirty="0"/>
          </a:p>
        </p:txBody>
      </p:sp>
      <p:sp>
        <p:nvSpPr>
          <p:cNvPr id="9" name="Shape 7"/>
          <p:cNvSpPr/>
          <p:nvPr/>
        </p:nvSpPr>
        <p:spPr>
          <a:xfrm>
            <a:off x="6400800" y="1645920"/>
            <a:ext cx="5608320" cy="1365504"/>
          </a:xfrm>
          <a:prstGeom prst="rect">
            <a:avLst/>
          </a:prstGeom>
          <a:solidFill>
            <a:srgbClr val="FFFFFF">
              <a:alpha val="8000"/>
            </a:srgbClr>
          </a:solidFill>
          <a:ln w="9525">
            <a:solidFill>
              <a:srgbClr val="48CFC1"/>
            </a:solidFill>
            <a:prstDash val="solid"/>
          </a:ln>
        </p:spPr>
      </p:sp>
      <p:sp>
        <p:nvSpPr>
          <p:cNvPr id="10" name="Shape 8"/>
          <p:cNvSpPr/>
          <p:nvPr/>
        </p:nvSpPr>
        <p:spPr>
          <a:xfrm>
            <a:off x="6400800" y="1645920"/>
            <a:ext cx="97536" cy="1365504"/>
          </a:xfrm>
          <a:prstGeom prst="rect">
            <a:avLst/>
          </a:prstGeom>
          <a:solidFill>
            <a:srgbClr val="2A9D8F"/>
          </a:solidFill>
          <a:ln w="12700">
            <a:solidFill>
              <a:srgbClr val="2A9D8F"/>
            </a:solidFill>
            <a:prstDash val="solid"/>
          </a:ln>
        </p:spPr>
      </p:sp>
      <p:sp>
        <p:nvSpPr>
          <p:cNvPr id="11" name="Text 9"/>
          <p:cNvSpPr/>
          <p:nvPr/>
        </p:nvSpPr>
        <p:spPr>
          <a:xfrm>
            <a:off x="6620256" y="1767840"/>
            <a:ext cx="5486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dirty="0">
                <a:solidFill>
                  <a:srgbClr val="48CFC1"/>
                </a:solidFill>
                <a:latin typeface="Calibri" pitchFamily="34" charset="0"/>
                <a:ea typeface="Calibri" pitchFamily="34" charset="-122"/>
                <a:cs typeface="Calibri" pitchFamily="34" charset="-120"/>
              </a:rPr>
              <a:t>02</a:t>
            </a:r>
            <a:endParaRPr lang="en-US" sz="1867" dirty="0"/>
          </a:p>
        </p:txBody>
      </p:sp>
      <p:sp>
        <p:nvSpPr>
          <p:cNvPr id="12" name="Text 10"/>
          <p:cNvSpPr/>
          <p:nvPr/>
        </p:nvSpPr>
        <p:spPr>
          <a:xfrm>
            <a:off x="6620256" y="2157984"/>
            <a:ext cx="5218176" cy="7924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FFFFFF"/>
                </a:solidFill>
                <a:latin typeface="Calibri" pitchFamily="34" charset="0"/>
                <a:ea typeface="Calibri" pitchFamily="34" charset="-122"/>
                <a:cs typeface="Calibri" pitchFamily="34" charset="-120"/>
              </a:rPr>
              <a:t>What does 'equitable access' to AI actually mean when the tool itself encodes inequity?</a:t>
            </a:r>
            <a:endParaRPr lang="en-US" sz="1400" dirty="0"/>
          </a:p>
        </p:txBody>
      </p:sp>
      <p:sp>
        <p:nvSpPr>
          <p:cNvPr id="13" name="Shape 11"/>
          <p:cNvSpPr/>
          <p:nvPr/>
        </p:nvSpPr>
        <p:spPr>
          <a:xfrm>
            <a:off x="487680" y="3206496"/>
            <a:ext cx="5608320" cy="1365504"/>
          </a:xfrm>
          <a:prstGeom prst="rect">
            <a:avLst/>
          </a:prstGeom>
          <a:solidFill>
            <a:srgbClr val="FFFFFF">
              <a:alpha val="8000"/>
            </a:srgbClr>
          </a:solidFill>
          <a:ln w="9525">
            <a:solidFill>
              <a:srgbClr val="48CFC1"/>
            </a:solidFill>
            <a:prstDash val="solid"/>
          </a:ln>
        </p:spPr>
      </p:sp>
      <p:sp>
        <p:nvSpPr>
          <p:cNvPr id="14" name="Shape 12"/>
          <p:cNvSpPr/>
          <p:nvPr/>
        </p:nvSpPr>
        <p:spPr>
          <a:xfrm>
            <a:off x="487680" y="3206496"/>
            <a:ext cx="97536" cy="1365504"/>
          </a:xfrm>
          <a:prstGeom prst="rect">
            <a:avLst/>
          </a:prstGeom>
          <a:solidFill>
            <a:srgbClr val="2A9D8F"/>
          </a:solidFill>
          <a:ln w="12700">
            <a:solidFill>
              <a:srgbClr val="2A9D8F"/>
            </a:solidFill>
            <a:prstDash val="solid"/>
          </a:ln>
        </p:spPr>
      </p:sp>
      <p:sp>
        <p:nvSpPr>
          <p:cNvPr id="15" name="Text 13"/>
          <p:cNvSpPr/>
          <p:nvPr/>
        </p:nvSpPr>
        <p:spPr>
          <a:xfrm>
            <a:off x="707136" y="3328416"/>
            <a:ext cx="5486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dirty="0">
                <a:solidFill>
                  <a:srgbClr val="48CFC1"/>
                </a:solidFill>
                <a:latin typeface="Calibri" pitchFamily="34" charset="0"/>
                <a:ea typeface="Calibri" pitchFamily="34" charset="-122"/>
                <a:cs typeface="Calibri" pitchFamily="34" charset="-120"/>
              </a:rPr>
              <a:t>03</a:t>
            </a:r>
            <a:endParaRPr lang="en-US" sz="1867" dirty="0"/>
          </a:p>
        </p:txBody>
      </p:sp>
      <p:sp>
        <p:nvSpPr>
          <p:cNvPr id="16" name="Text 14"/>
          <p:cNvSpPr/>
          <p:nvPr/>
        </p:nvSpPr>
        <p:spPr>
          <a:xfrm>
            <a:off x="707136" y="3718560"/>
            <a:ext cx="5218176" cy="7924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FFFFFF"/>
                </a:solidFill>
                <a:latin typeface="Calibri" pitchFamily="34" charset="0"/>
                <a:ea typeface="Calibri" pitchFamily="34" charset="-122"/>
                <a:cs typeface="Calibri" pitchFamily="34" charset="-120"/>
              </a:rPr>
              <a:t>How do we design AI-assisted curricula that strengthen, rather than erode, learner autonomy?</a:t>
            </a:r>
            <a:endParaRPr lang="en-US" sz="1400" dirty="0"/>
          </a:p>
        </p:txBody>
      </p:sp>
      <p:sp>
        <p:nvSpPr>
          <p:cNvPr id="17" name="Shape 15"/>
          <p:cNvSpPr/>
          <p:nvPr/>
        </p:nvSpPr>
        <p:spPr>
          <a:xfrm>
            <a:off x="6400800" y="3206496"/>
            <a:ext cx="5608320" cy="1365504"/>
          </a:xfrm>
          <a:prstGeom prst="rect">
            <a:avLst/>
          </a:prstGeom>
          <a:solidFill>
            <a:srgbClr val="FFFFFF">
              <a:alpha val="8000"/>
            </a:srgbClr>
          </a:solidFill>
          <a:ln w="9525">
            <a:solidFill>
              <a:srgbClr val="48CFC1"/>
            </a:solidFill>
            <a:prstDash val="solid"/>
          </a:ln>
        </p:spPr>
      </p:sp>
      <p:sp>
        <p:nvSpPr>
          <p:cNvPr id="18" name="Shape 16"/>
          <p:cNvSpPr/>
          <p:nvPr/>
        </p:nvSpPr>
        <p:spPr>
          <a:xfrm>
            <a:off x="6400800" y="3206496"/>
            <a:ext cx="97536" cy="1365504"/>
          </a:xfrm>
          <a:prstGeom prst="rect">
            <a:avLst/>
          </a:prstGeom>
          <a:solidFill>
            <a:srgbClr val="2A9D8F"/>
          </a:solidFill>
          <a:ln w="12700">
            <a:solidFill>
              <a:srgbClr val="2A9D8F"/>
            </a:solidFill>
            <a:prstDash val="solid"/>
          </a:ln>
        </p:spPr>
      </p:sp>
      <p:sp>
        <p:nvSpPr>
          <p:cNvPr id="19" name="Text 17"/>
          <p:cNvSpPr/>
          <p:nvPr/>
        </p:nvSpPr>
        <p:spPr>
          <a:xfrm>
            <a:off x="6620256" y="3328416"/>
            <a:ext cx="5486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dirty="0">
                <a:solidFill>
                  <a:srgbClr val="48CFC1"/>
                </a:solidFill>
                <a:latin typeface="Calibri" pitchFamily="34" charset="0"/>
                <a:ea typeface="Calibri" pitchFamily="34" charset="-122"/>
                <a:cs typeface="Calibri" pitchFamily="34" charset="-120"/>
              </a:rPr>
              <a:t>04</a:t>
            </a:r>
            <a:endParaRPr lang="en-US" sz="1867" dirty="0"/>
          </a:p>
        </p:txBody>
      </p:sp>
      <p:sp>
        <p:nvSpPr>
          <p:cNvPr id="20" name="Text 18"/>
          <p:cNvSpPr/>
          <p:nvPr/>
        </p:nvSpPr>
        <p:spPr>
          <a:xfrm>
            <a:off x="6620256" y="3718560"/>
            <a:ext cx="5218176" cy="7924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FFFFFF"/>
                </a:solidFill>
                <a:latin typeface="Calibri" pitchFamily="34" charset="0"/>
                <a:ea typeface="Calibri" pitchFamily="34" charset="-122"/>
                <a:cs typeface="Calibri" pitchFamily="34" charset="-120"/>
              </a:rPr>
              <a:t>What role should learners' L1 and dialect identities play in AI-mediated language instruction?</a:t>
            </a:r>
            <a:endParaRPr lang="en-US" sz="1400" dirty="0"/>
          </a:p>
        </p:txBody>
      </p:sp>
      <p:sp>
        <p:nvSpPr>
          <p:cNvPr id="21" name="Shape 19"/>
          <p:cNvSpPr/>
          <p:nvPr/>
        </p:nvSpPr>
        <p:spPr>
          <a:xfrm>
            <a:off x="487680" y="4767072"/>
            <a:ext cx="5608320" cy="1365504"/>
          </a:xfrm>
          <a:prstGeom prst="rect">
            <a:avLst/>
          </a:prstGeom>
          <a:solidFill>
            <a:srgbClr val="FFFFFF">
              <a:alpha val="8000"/>
            </a:srgbClr>
          </a:solidFill>
          <a:ln w="9525">
            <a:solidFill>
              <a:srgbClr val="48CFC1"/>
            </a:solidFill>
            <a:prstDash val="solid"/>
          </a:ln>
        </p:spPr>
      </p:sp>
      <p:sp>
        <p:nvSpPr>
          <p:cNvPr id="22" name="Shape 20"/>
          <p:cNvSpPr/>
          <p:nvPr/>
        </p:nvSpPr>
        <p:spPr>
          <a:xfrm>
            <a:off x="487680" y="4767072"/>
            <a:ext cx="97536" cy="1365504"/>
          </a:xfrm>
          <a:prstGeom prst="rect">
            <a:avLst/>
          </a:prstGeom>
          <a:solidFill>
            <a:srgbClr val="2A9D8F"/>
          </a:solidFill>
          <a:ln w="12700">
            <a:solidFill>
              <a:srgbClr val="2A9D8F"/>
            </a:solidFill>
            <a:prstDash val="solid"/>
          </a:ln>
        </p:spPr>
      </p:sp>
      <p:sp>
        <p:nvSpPr>
          <p:cNvPr id="23" name="Text 21"/>
          <p:cNvSpPr/>
          <p:nvPr/>
        </p:nvSpPr>
        <p:spPr>
          <a:xfrm>
            <a:off x="707136" y="4888992"/>
            <a:ext cx="5486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dirty="0">
                <a:solidFill>
                  <a:srgbClr val="48CFC1"/>
                </a:solidFill>
                <a:latin typeface="Calibri" pitchFamily="34" charset="0"/>
                <a:ea typeface="Calibri" pitchFamily="34" charset="-122"/>
                <a:cs typeface="Calibri" pitchFamily="34" charset="-120"/>
              </a:rPr>
              <a:t>05</a:t>
            </a:r>
            <a:endParaRPr lang="en-US" sz="1867" dirty="0"/>
          </a:p>
        </p:txBody>
      </p:sp>
      <p:sp>
        <p:nvSpPr>
          <p:cNvPr id="24" name="Text 22"/>
          <p:cNvSpPr/>
          <p:nvPr/>
        </p:nvSpPr>
        <p:spPr>
          <a:xfrm>
            <a:off x="707136" y="5279136"/>
            <a:ext cx="5218176" cy="7924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FFFFFF"/>
                </a:solidFill>
                <a:latin typeface="Calibri" pitchFamily="34" charset="0"/>
                <a:ea typeface="Calibri" pitchFamily="34" charset="-122"/>
                <a:cs typeface="Calibri" pitchFamily="34" charset="-120"/>
              </a:rPr>
              <a:t>How do we prepare teachers — not just students — to be critical users and mediators of AI?</a:t>
            </a:r>
            <a:endParaRPr lang="en-US" sz="1400" dirty="0"/>
          </a:p>
        </p:txBody>
      </p:sp>
      <p:sp>
        <p:nvSpPr>
          <p:cNvPr id="25" name="Shape 23"/>
          <p:cNvSpPr/>
          <p:nvPr/>
        </p:nvSpPr>
        <p:spPr>
          <a:xfrm>
            <a:off x="6400800" y="4767072"/>
            <a:ext cx="5608320" cy="1365504"/>
          </a:xfrm>
          <a:prstGeom prst="rect">
            <a:avLst/>
          </a:prstGeom>
          <a:solidFill>
            <a:srgbClr val="FFFFFF">
              <a:alpha val="8000"/>
            </a:srgbClr>
          </a:solidFill>
          <a:ln w="9525">
            <a:solidFill>
              <a:srgbClr val="48CFC1"/>
            </a:solidFill>
            <a:prstDash val="solid"/>
          </a:ln>
        </p:spPr>
      </p:sp>
      <p:sp>
        <p:nvSpPr>
          <p:cNvPr id="26" name="Shape 24"/>
          <p:cNvSpPr/>
          <p:nvPr/>
        </p:nvSpPr>
        <p:spPr>
          <a:xfrm>
            <a:off x="6400800" y="4767072"/>
            <a:ext cx="97536" cy="1365504"/>
          </a:xfrm>
          <a:prstGeom prst="rect">
            <a:avLst/>
          </a:prstGeom>
          <a:solidFill>
            <a:srgbClr val="2A9D8F"/>
          </a:solidFill>
          <a:ln w="12700">
            <a:solidFill>
              <a:srgbClr val="2A9D8F"/>
            </a:solidFill>
            <a:prstDash val="solid"/>
          </a:ln>
        </p:spPr>
      </p:sp>
      <p:sp>
        <p:nvSpPr>
          <p:cNvPr id="27" name="Text 25"/>
          <p:cNvSpPr/>
          <p:nvPr/>
        </p:nvSpPr>
        <p:spPr>
          <a:xfrm>
            <a:off x="6620256" y="4888992"/>
            <a:ext cx="5486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67" b="1" dirty="0">
                <a:solidFill>
                  <a:srgbClr val="48CFC1"/>
                </a:solidFill>
                <a:latin typeface="Calibri" pitchFamily="34" charset="0"/>
                <a:ea typeface="Calibri" pitchFamily="34" charset="-122"/>
                <a:cs typeface="Calibri" pitchFamily="34" charset="-120"/>
              </a:rPr>
              <a:t>06</a:t>
            </a:r>
            <a:endParaRPr lang="en-US" sz="1867" dirty="0"/>
          </a:p>
        </p:txBody>
      </p:sp>
      <p:sp>
        <p:nvSpPr>
          <p:cNvPr id="28" name="Text 26"/>
          <p:cNvSpPr/>
          <p:nvPr/>
        </p:nvSpPr>
        <p:spPr>
          <a:xfrm>
            <a:off x="6620256" y="5279136"/>
            <a:ext cx="5218176" cy="79248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FFFFFF"/>
                </a:solidFill>
                <a:latin typeface="Calibri" pitchFamily="34" charset="0"/>
                <a:ea typeface="Calibri" pitchFamily="34" charset="-122"/>
                <a:cs typeface="Calibri" pitchFamily="34" charset="-120"/>
              </a:rPr>
              <a:t>At what point does efficiency in AI feedback cross into a reduction of educationally valuable struggle?</a:t>
            </a:r>
            <a:endParaRPr lang="en-US" sz="1400" dirty="0"/>
          </a:p>
        </p:txBody>
      </p:sp>
      <p:sp>
        <p:nvSpPr>
          <p:cNvPr id="29" name="Shape 27"/>
          <p:cNvSpPr/>
          <p:nvPr/>
        </p:nvSpPr>
        <p:spPr>
          <a:xfrm>
            <a:off x="0" y="6461760"/>
            <a:ext cx="12192000" cy="396240"/>
          </a:xfrm>
          <a:prstGeom prst="rect">
            <a:avLst/>
          </a:prstGeom>
          <a:solidFill>
            <a:srgbClr val="2A9D8F">
              <a:alpha val="30000"/>
            </a:srgbClr>
          </a:solidFill>
          <a:ln w="12700">
            <a:solidFill>
              <a:srgbClr val="2A9D8F"/>
            </a:solidFill>
            <a:prstDash val="solid"/>
          </a:ln>
        </p:spPr>
      </p:sp>
      <p:sp>
        <p:nvSpPr>
          <p:cNvPr id="30" name="Text 28"/>
          <p:cNvSpPr/>
          <p:nvPr/>
        </p:nvSpPr>
        <p:spPr>
          <a:xfrm>
            <a:off x="609600" y="6486144"/>
            <a:ext cx="10972800" cy="341376"/>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dirty="0">
                <a:solidFill>
                  <a:srgbClr val="FFFFFF"/>
                </a:solidFill>
                <a:latin typeface="Calibri" pitchFamily="34" charset="0"/>
                <a:ea typeface="Calibri" pitchFamily="34" charset="-122"/>
                <a:cs typeface="Calibri" pitchFamily="34" charset="-120"/>
              </a:rPr>
              <a:t>Thank you  ·  Questions welcome  ·  Sources available on request</a:t>
            </a:r>
            <a:endParaRPr lang="en-US" sz="1333" dirty="0"/>
          </a:p>
        </p:txBody>
      </p:sp>
    </p:spTree>
    <p:extLst>
      <p:ext uri="{BB962C8B-B14F-4D97-AF65-F5344CB8AC3E}">
        <p14:creationId xmlns:p14="http://schemas.microsoft.com/office/powerpoint/2010/main" val="3639301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A3A5C"/>
          </a:solidFill>
          <a:ln w="12700">
            <a:solidFill>
              <a:srgbClr val="1A3A5C"/>
            </a:solidFill>
            <a:prstDash val="solid"/>
          </a:ln>
        </p:spPr>
      </p:sp>
      <p:sp>
        <p:nvSpPr>
          <p:cNvPr id="3" name="Text 1"/>
          <p:cNvSpPr/>
          <p:nvPr/>
        </p:nvSpPr>
        <p:spPr>
          <a:xfrm>
            <a:off x="219456" y="341376"/>
            <a:ext cx="32918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267" b="1" kern="0" spc="400" dirty="0">
                <a:solidFill>
                  <a:srgbClr val="7FB3D3"/>
                </a:solidFill>
              </a:rPr>
              <a:t>ACTIVITY 1</a:t>
            </a:r>
            <a:endParaRPr lang="en-US" sz="1267" dirty="0"/>
          </a:p>
        </p:txBody>
      </p:sp>
      <p:sp>
        <p:nvSpPr>
          <p:cNvPr id="4" name="Text 2"/>
          <p:cNvSpPr/>
          <p:nvPr/>
        </p:nvSpPr>
        <p:spPr>
          <a:xfrm>
            <a:off x="219456" y="792480"/>
            <a:ext cx="3291840" cy="2438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4800" b="1" dirty="0">
                <a:solidFill>
                  <a:srgbClr val="FFFFFF"/>
                </a:solidFill>
              </a:rPr>
              <a:t>Research Tension Analysis</a:t>
            </a:r>
            <a:endParaRPr lang="en-US" sz="4800" dirty="0"/>
          </a:p>
        </p:txBody>
      </p:sp>
      <p:sp>
        <p:nvSpPr>
          <p:cNvPr id="5" name="Shape 3"/>
          <p:cNvSpPr/>
          <p:nvPr/>
        </p:nvSpPr>
        <p:spPr>
          <a:xfrm>
            <a:off x="219456" y="3474720"/>
            <a:ext cx="1889760" cy="463296"/>
          </a:xfrm>
          <a:prstGeom prst="rect">
            <a:avLst/>
          </a:prstGeom>
          <a:solidFill>
            <a:srgbClr val="0D7C7C"/>
          </a:solidFill>
          <a:ln w="12700">
            <a:solidFill>
              <a:srgbClr val="0D7C7C"/>
            </a:solidFill>
            <a:prstDash val="solid"/>
          </a:ln>
          <a:effectLst>
            <a:outerShdw blurRad="101600" dist="25400" dir="8100000" algn="bl" rotWithShape="0">
              <a:srgbClr val="000000">
                <a:alpha val="10000"/>
              </a:srgbClr>
            </a:outerShdw>
          </a:effectLst>
        </p:spPr>
      </p:sp>
      <p:sp>
        <p:nvSpPr>
          <p:cNvPr id="6" name="Text 4"/>
          <p:cNvSpPr/>
          <p:nvPr/>
        </p:nvSpPr>
        <p:spPr>
          <a:xfrm>
            <a:off x="219456" y="3474720"/>
            <a:ext cx="188976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rPr>
              <a:t>⏱  10 minutes</a:t>
            </a:r>
            <a:endParaRPr lang="en-US" sz="1333" dirty="0"/>
          </a:p>
        </p:txBody>
      </p:sp>
      <p:sp>
        <p:nvSpPr>
          <p:cNvPr id="7" name="Shape 5"/>
          <p:cNvSpPr/>
          <p:nvPr/>
        </p:nvSpPr>
        <p:spPr>
          <a:xfrm>
            <a:off x="219456" y="4047744"/>
            <a:ext cx="1889760" cy="463296"/>
          </a:xfrm>
          <a:prstGeom prst="rect">
            <a:avLst/>
          </a:prstGeom>
          <a:solidFill>
            <a:srgbClr val="D4820A"/>
          </a:solidFill>
          <a:ln w="12700">
            <a:solidFill>
              <a:srgbClr val="D4820A"/>
            </a:solidFill>
            <a:prstDash val="solid"/>
          </a:ln>
          <a:effectLst>
            <a:outerShdw blurRad="101600" dist="25400" dir="8100000" algn="bl" rotWithShape="0">
              <a:srgbClr val="000000">
                <a:alpha val="10000"/>
              </a:srgbClr>
            </a:outerShdw>
          </a:effectLst>
        </p:spPr>
      </p:sp>
      <p:sp>
        <p:nvSpPr>
          <p:cNvPr id="8" name="Text 6"/>
          <p:cNvSpPr/>
          <p:nvPr/>
        </p:nvSpPr>
        <p:spPr>
          <a:xfrm>
            <a:off x="219456" y="4047744"/>
            <a:ext cx="188976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dirty="0">
                <a:solidFill>
                  <a:srgbClr val="FFFFFF"/>
                </a:solidFill>
              </a:rPr>
              <a:t>👥  Small Groups</a:t>
            </a:r>
            <a:endParaRPr lang="en-US" sz="1333" dirty="0"/>
          </a:p>
        </p:txBody>
      </p:sp>
      <p:sp>
        <p:nvSpPr>
          <p:cNvPr id="9" name="Text 7"/>
          <p:cNvSpPr/>
          <p:nvPr/>
        </p:nvSpPr>
        <p:spPr>
          <a:xfrm>
            <a:off x="219456" y="4876800"/>
            <a:ext cx="329184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b="1" dirty="0">
                <a:solidFill>
                  <a:srgbClr val="A8C8E0"/>
                </a:solidFill>
              </a:rPr>
              <a:t>Overview</a:t>
            </a:r>
            <a:endParaRPr lang="en-US" sz="1267" dirty="0"/>
          </a:p>
        </p:txBody>
      </p:sp>
      <p:sp>
        <p:nvSpPr>
          <p:cNvPr id="10" name="Text 8"/>
          <p:cNvSpPr/>
          <p:nvPr/>
        </p:nvSpPr>
        <p:spPr>
          <a:xfrm>
            <a:off x="219456" y="5181600"/>
            <a:ext cx="3291840" cy="13411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i="1" dirty="0">
                <a:solidFill>
                  <a:srgbClr val="C5DCF0"/>
                </a:solidFill>
              </a:rPr>
              <a:t>Use the three-layer framework to analyze your assigned research tension. Which layer is most affected? Which is under-examined?</a:t>
            </a:r>
            <a:endParaRPr lang="en-US" sz="1133" dirty="0"/>
          </a:p>
        </p:txBody>
      </p:sp>
      <p:sp>
        <p:nvSpPr>
          <p:cNvPr id="11" name="Shape 9"/>
          <p:cNvSpPr/>
          <p:nvPr/>
        </p:nvSpPr>
        <p:spPr>
          <a:xfrm>
            <a:off x="3840480" y="219456"/>
            <a:ext cx="8168640" cy="365760"/>
          </a:xfrm>
          <a:prstGeom prst="rect">
            <a:avLst/>
          </a:prstGeom>
          <a:solidFill>
            <a:srgbClr val="F4F8F8"/>
          </a:solidFill>
          <a:ln w="12700">
            <a:solidFill>
              <a:srgbClr val="F4F8F8"/>
            </a:solidFill>
            <a:prstDash val="solid"/>
          </a:ln>
        </p:spPr>
      </p:sp>
      <p:sp>
        <p:nvSpPr>
          <p:cNvPr id="12" name="Text 10"/>
          <p:cNvSpPr/>
          <p:nvPr/>
        </p:nvSpPr>
        <p:spPr>
          <a:xfrm>
            <a:off x="3840480" y="219456"/>
            <a:ext cx="81686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kern="0" spc="267" dirty="0">
                <a:solidFill>
                  <a:srgbClr val="0D7C7C"/>
                </a:solidFill>
              </a:rPr>
              <a:t>YOUR ASSIGNED TENSION</a:t>
            </a:r>
            <a:endParaRPr lang="en-US" sz="1133" dirty="0"/>
          </a:p>
        </p:txBody>
      </p:sp>
      <p:sp>
        <p:nvSpPr>
          <p:cNvPr id="13" name="Shape 11"/>
          <p:cNvSpPr/>
          <p:nvPr/>
        </p:nvSpPr>
        <p:spPr>
          <a:xfrm>
            <a:off x="3840480" y="633984"/>
            <a:ext cx="4011168" cy="1072896"/>
          </a:xfrm>
          <a:prstGeom prst="rect">
            <a:avLst/>
          </a:prstGeom>
          <a:solidFill>
            <a:srgbClr val="E8EFF7"/>
          </a:solidFill>
          <a:ln w="12700">
            <a:solidFill>
              <a:srgbClr val="E8EEF2"/>
            </a:solidFill>
            <a:prstDash val="solid"/>
          </a:ln>
          <a:effectLst>
            <a:outerShdw blurRad="101600" dist="25400" dir="8100000" algn="bl" rotWithShape="0">
              <a:srgbClr val="000000">
                <a:alpha val="10000"/>
              </a:srgbClr>
            </a:outerShdw>
          </a:effectLst>
        </p:spPr>
      </p:sp>
      <p:sp>
        <p:nvSpPr>
          <p:cNvPr id="14" name="Shape 12"/>
          <p:cNvSpPr/>
          <p:nvPr/>
        </p:nvSpPr>
        <p:spPr>
          <a:xfrm>
            <a:off x="3840480" y="633984"/>
            <a:ext cx="73152" cy="1072896"/>
          </a:xfrm>
          <a:prstGeom prst="rect">
            <a:avLst/>
          </a:prstGeom>
          <a:solidFill>
            <a:srgbClr val="1A3A5C"/>
          </a:solidFill>
          <a:ln w="12700">
            <a:solidFill>
              <a:srgbClr val="1A3A5C"/>
            </a:solidFill>
            <a:prstDash val="solid"/>
          </a:ln>
        </p:spPr>
      </p:sp>
      <p:sp>
        <p:nvSpPr>
          <p:cNvPr id="15" name="Text 13"/>
          <p:cNvSpPr/>
          <p:nvPr/>
        </p:nvSpPr>
        <p:spPr>
          <a:xfrm>
            <a:off x="4011168" y="731520"/>
            <a:ext cx="3791712"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A3A5C"/>
                </a:solidFill>
              </a:rPr>
              <a:t>Group 1</a:t>
            </a:r>
            <a:endParaRPr lang="en-US" sz="1333" dirty="0"/>
          </a:p>
        </p:txBody>
      </p:sp>
      <p:sp>
        <p:nvSpPr>
          <p:cNvPr id="16" name="Text 14"/>
          <p:cNvSpPr/>
          <p:nvPr/>
        </p:nvSpPr>
        <p:spPr>
          <a:xfrm>
            <a:off x="4011168" y="999744"/>
            <a:ext cx="3767328"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200" dirty="0">
                <a:solidFill>
                  <a:srgbClr val="1E2A38"/>
                </a:solidFill>
              </a:rPr>
              <a:t>AI improves text quality but may reduce the production of original language.</a:t>
            </a:r>
            <a:endParaRPr lang="en-US" sz="1200" dirty="0"/>
          </a:p>
        </p:txBody>
      </p:sp>
      <p:sp>
        <p:nvSpPr>
          <p:cNvPr id="17" name="Shape 15"/>
          <p:cNvSpPr/>
          <p:nvPr/>
        </p:nvSpPr>
        <p:spPr>
          <a:xfrm>
            <a:off x="7997952" y="633984"/>
            <a:ext cx="4011168" cy="1072896"/>
          </a:xfrm>
          <a:prstGeom prst="rect">
            <a:avLst/>
          </a:prstGeom>
          <a:solidFill>
            <a:srgbClr val="E4F2F2"/>
          </a:solidFill>
          <a:ln w="12700">
            <a:solidFill>
              <a:srgbClr val="E8EEF2"/>
            </a:solidFill>
            <a:prstDash val="solid"/>
          </a:ln>
          <a:effectLst>
            <a:outerShdw blurRad="101600" dist="25400" dir="8100000" algn="bl" rotWithShape="0">
              <a:srgbClr val="000000">
                <a:alpha val="10000"/>
              </a:srgbClr>
            </a:outerShdw>
          </a:effectLst>
        </p:spPr>
      </p:sp>
      <p:sp>
        <p:nvSpPr>
          <p:cNvPr id="18" name="Shape 16"/>
          <p:cNvSpPr/>
          <p:nvPr/>
        </p:nvSpPr>
        <p:spPr>
          <a:xfrm>
            <a:off x="7997952" y="633984"/>
            <a:ext cx="73152" cy="1072896"/>
          </a:xfrm>
          <a:prstGeom prst="rect">
            <a:avLst/>
          </a:prstGeom>
          <a:solidFill>
            <a:srgbClr val="128080"/>
          </a:solidFill>
          <a:ln w="12700">
            <a:solidFill>
              <a:srgbClr val="128080"/>
            </a:solidFill>
            <a:prstDash val="solid"/>
          </a:ln>
        </p:spPr>
      </p:sp>
      <p:sp>
        <p:nvSpPr>
          <p:cNvPr id="19" name="Text 17"/>
          <p:cNvSpPr/>
          <p:nvPr/>
        </p:nvSpPr>
        <p:spPr>
          <a:xfrm>
            <a:off x="8168640" y="731520"/>
            <a:ext cx="3791712"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28080"/>
                </a:solidFill>
              </a:rPr>
              <a:t>Group 2</a:t>
            </a:r>
            <a:endParaRPr lang="en-US" sz="1333" dirty="0"/>
          </a:p>
        </p:txBody>
      </p:sp>
      <p:sp>
        <p:nvSpPr>
          <p:cNvPr id="20" name="Text 18"/>
          <p:cNvSpPr/>
          <p:nvPr/>
        </p:nvSpPr>
        <p:spPr>
          <a:xfrm>
            <a:off x="8168640" y="999744"/>
            <a:ext cx="3767328"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200" dirty="0">
                <a:solidFill>
                  <a:srgbClr val="1E2A38"/>
                </a:solidFill>
              </a:rPr>
              <a:t>AI feedback increases confidence but may obscure the fossilization of errors.</a:t>
            </a:r>
            <a:endParaRPr lang="en-US" sz="1200" dirty="0"/>
          </a:p>
        </p:txBody>
      </p:sp>
      <p:sp>
        <p:nvSpPr>
          <p:cNvPr id="21" name="Shape 19"/>
          <p:cNvSpPr/>
          <p:nvPr/>
        </p:nvSpPr>
        <p:spPr>
          <a:xfrm>
            <a:off x="3840480" y="1828800"/>
            <a:ext cx="4011168" cy="1072896"/>
          </a:xfrm>
          <a:prstGeom prst="rect">
            <a:avLst/>
          </a:prstGeom>
          <a:solidFill>
            <a:srgbClr val="EAF4E8"/>
          </a:solidFill>
          <a:ln w="12700">
            <a:solidFill>
              <a:srgbClr val="E8EEF2"/>
            </a:solidFill>
            <a:prstDash val="solid"/>
          </a:ln>
          <a:effectLst>
            <a:outerShdw blurRad="101600" dist="25400" dir="8100000" algn="bl" rotWithShape="0">
              <a:srgbClr val="000000">
                <a:alpha val="10000"/>
              </a:srgbClr>
            </a:outerShdw>
          </a:effectLst>
        </p:spPr>
      </p:sp>
      <p:sp>
        <p:nvSpPr>
          <p:cNvPr id="22" name="Shape 20"/>
          <p:cNvSpPr/>
          <p:nvPr/>
        </p:nvSpPr>
        <p:spPr>
          <a:xfrm>
            <a:off x="3840480" y="1828800"/>
            <a:ext cx="73152" cy="1072896"/>
          </a:xfrm>
          <a:prstGeom prst="rect">
            <a:avLst/>
          </a:prstGeom>
          <a:solidFill>
            <a:srgbClr val="2E6B27"/>
          </a:solidFill>
          <a:ln w="12700">
            <a:solidFill>
              <a:srgbClr val="2E6B27"/>
            </a:solidFill>
            <a:prstDash val="solid"/>
          </a:ln>
        </p:spPr>
      </p:sp>
      <p:sp>
        <p:nvSpPr>
          <p:cNvPr id="23" name="Text 21"/>
          <p:cNvSpPr/>
          <p:nvPr/>
        </p:nvSpPr>
        <p:spPr>
          <a:xfrm>
            <a:off x="4011168" y="1926336"/>
            <a:ext cx="3791712"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2E6B27"/>
                </a:solidFill>
              </a:rPr>
              <a:t>Group 3</a:t>
            </a:r>
            <a:endParaRPr lang="en-US" sz="1333" dirty="0"/>
          </a:p>
        </p:txBody>
      </p:sp>
      <p:sp>
        <p:nvSpPr>
          <p:cNvPr id="24" name="Text 22"/>
          <p:cNvSpPr/>
          <p:nvPr/>
        </p:nvSpPr>
        <p:spPr>
          <a:xfrm>
            <a:off x="4011168" y="2194560"/>
            <a:ext cx="3767328"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200" dirty="0">
                <a:solidFill>
                  <a:srgbClr val="1E2A38"/>
                </a:solidFill>
              </a:rPr>
              <a:t>AI scaffolds multilingual writing but may flatten linguistic diversity.</a:t>
            </a:r>
            <a:endParaRPr lang="en-US" sz="1200" dirty="0"/>
          </a:p>
        </p:txBody>
      </p:sp>
      <p:sp>
        <p:nvSpPr>
          <p:cNvPr id="25" name="Shape 23"/>
          <p:cNvSpPr/>
          <p:nvPr/>
        </p:nvSpPr>
        <p:spPr>
          <a:xfrm>
            <a:off x="7997952" y="1828800"/>
            <a:ext cx="4011168" cy="1072896"/>
          </a:xfrm>
          <a:prstGeom prst="rect">
            <a:avLst/>
          </a:prstGeom>
          <a:solidFill>
            <a:srgbClr val="E4F2F2"/>
          </a:solidFill>
          <a:ln w="12700">
            <a:solidFill>
              <a:srgbClr val="E8EEF2"/>
            </a:solidFill>
            <a:prstDash val="solid"/>
          </a:ln>
          <a:effectLst>
            <a:outerShdw blurRad="101600" dist="25400" dir="8100000" algn="bl" rotWithShape="0">
              <a:srgbClr val="000000">
                <a:alpha val="10000"/>
              </a:srgbClr>
            </a:outerShdw>
          </a:effectLst>
        </p:spPr>
      </p:sp>
      <p:sp>
        <p:nvSpPr>
          <p:cNvPr id="26" name="Shape 24"/>
          <p:cNvSpPr/>
          <p:nvPr/>
        </p:nvSpPr>
        <p:spPr>
          <a:xfrm>
            <a:off x="7997952" y="1828800"/>
            <a:ext cx="73152" cy="1072896"/>
          </a:xfrm>
          <a:prstGeom prst="rect">
            <a:avLst/>
          </a:prstGeom>
          <a:solidFill>
            <a:srgbClr val="128080"/>
          </a:solidFill>
          <a:ln w="12700">
            <a:solidFill>
              <a:srgbClr val="128080"/>
            </a:solidFill>
            <a:prstDash val="solid"/>
          </a:ln>
        </p:spPr>
      </p:sp>
      <p:sp>
        <p:nvSpPr>
          <p:cNvPr id="27" name="Text 25"/>
          <p:cNvSpPr/>
          <p:nvPr/>
        </p:nvSpPr>
        <p:spPr>
          <a:xfrm>
            <a:off x="8168640" y="1926336"/>
            <a:ext cx="3791712" cy="26822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28080"/>
                </a:solidFill>
              </a:rPr>
              <a:t>Group 4</a:t>
            </a:r>
            <a:endParaRPr lang="en-US" sz="1333" dirty="0"/>
          </a:p>
        </p:txBody>
      </p:sp>
      <p:sp>
        <p:nvSpPr>
          <p:cNvPr id="28" name="Text 26"/>
          <p:cNvSpPr/>
          <p:nvPr/>
        </p:nvSpPr>
        <p:spPr>
          <a:xfrm>
            <a:off x="8168640" y="2194560"/>
            <a:ext cx="3767328" cy="63398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200" dirty="0">
                <a:solidFill>
                  <a:srgbClr val="1E2A38"/>
                </a:solidFill>
              </a:rPr>
              <a:t>AI supports self-regulation but may shift cognitive load away from learners.</a:t>
            </a:r>
            <a:endParaRPr lang="en-US" sz="1200" dirty="0"/>
          </a:p>
        </p:txBody>
      </p:sp>
      <p:sp>
        <p:nvSpPr>
          <p:cNvPr id="29" name="Text 27"/>
          <p:cNvSpPr/>
          <p:nvPr/>
        </p:nvSpPr>
        <p:spPr>
          <a:xfrm>
            <a:off x="3840480" y="3121152"/>
            <a:ext cx="14630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E2A38"/>
                </a:solidFill>
              </a:rPr>
              <a:t>Instructions</a:t>
            </a:r>
            <a:endParaRPr lang="en-US" sz="1333" dirty="0"/>
          </a:p>
        </p:txBody>
      </p:sp>
      <p:sp>
        <p:nvSpPr>
          <p:cNvPr id="30" name="Text 28"/>
          <p:cNvSpPr/>
          <p:nvPr/>
        </p:nvSpPr>
        <p:spPr>
          <a:xfrm>
            <a:off x="5327904" y="3121152"/>
            <a:ext cx="6681216"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67" dirty="0">
                <a:solidFill>
                  <a:srgbClr val="6B7C93"/>
                </a:solidFill>
              </a:rPr>
              <a:t>Analyze your group's assigned tension using the 3-layer framework, responding to the prompts in the table below.  (10 minutes)</a:t>
            </a:r>
            <a:endParaRPr lang="en-US" sz="1267" dirty="0"/>
          </a:p>
        </p:txBody>
      </p:sp>
      <p:sp>
        <p:nvSpPr>
          <p:cNvPr id="31" name="Shape 29"/>
          <p:cNvSpPr/>
          <p:nvPr/>
        </p:nvSpPr>
        <p:spPr>
          <a:xfrm>
            <a:off x="3840480" y="3547872"/>
            <a:ext cx="8071104" cy="463296"/>
          </a:xfrm>
          <a:prstGeom prst="rect">
            <a:avLst/>
          </a:prstGeom>
          <a:solidFill>
            <a:srgbClr val="0D7C7C"/>
          </a:solidFill>
          <a:ln w="12700">
            <a:solidFill>
              <a:srgbClr val="0D7C7C"/>
            </a:solidFill>
            <a:prstDash val="solid"/>
          </a:ln>
        </p:spPr>
      </p:sp>
      <p:sp>
        <p:nvSpPr>
          <p:cNvPr id="32" name="Text 30"/>
          <p:cNvSpPr/>
          <p:nvPr/>
        </p:nvSpPr>
        <p:spPr>
          <a:xfrm>
            <a:off x="3913632" y="3547872"/>
            <a:ext cx="1548384"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FFFFFF"/>
                </a:solidFill>
              </a:rPr>
              <a:t>Your Tension</a:t>
            </a:r>
            <a:endParaRPr lang="en-US" sz="1133" dirty="0"/>
          </a:p>
        </p:txBody>
      </p:sp>
      <p:sp>
        <p:nvSpPr>
          <p:cNvPr id="33" name="Text 31"/>
          <p:cNvSpPr/>
          <p:nvPr/>
        </p:nvSpPr>
        <p:spPr>
          <a:xfrm>
            <a:off x="5559552" y="3547872"/>
            <a:ext cx="2462784"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FFFFFF"/>
                </a:solidFill>
              </a:rPr>
              <a:t>Complete the statement in sentences</a:t>
            </a:r>
            <a:endParaRPr lang="en-US" sz="1133" dirty="0"/>
          </a:p>
        </p:txBody>
      </p:sp>
      <p:sp>
        <p:nvSpPr>
          <p:cNvPr id="34" name="Text 32"/>
          <p:cNvSpPr/>
          <p:nvPr/>
        </p:nvSpPr>
        <p:spPr>
          <a:xfrm>
            <a:off x="8119872" y="3547872"/>
            <a:ext cx="1914144"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FFFFFF"/>
                </a:solidFill>
              </a:rPr>
              <a:t>Which layer is most affected?</a:t>
            </a:r>
            <a:endParaRPr lang="en-US" sz="1133" dirty="0"/>
          </a:p>
          <a:p>
            <a:pPr marL="0" indent="0" algn="ctr">
              <a:buNone/>
            </a:pPr>
            <a:r>
              <a:rPr lang="en-US" sz="1133" b="1" dirty="0">
                <a:solidFill>
                  <a:srgbClr val="FFFFFF"/>
                </a:solidFill>
              </a:rPr>
              <a:t>(Layer 1/2/3)</a:t>
            </a:r>
            <a:endParaRPr lang="en-US" sz="1133" dirty="0"/>
          </a:p>
        </p:txBody>
      </p:sp>
      <p:sp>
        <p:nvSpPr>
          <p:cNvPr id="35" name="Text 33"/>
          <p:cNvSpPr/>
          <p:nvPr/>
        </p:nvSpPr>
        <p:spPr>
          <a:xfrm>
            <a:off x="10131552" y="3547872"/>
            <a:ext cx="175564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FFFFFF"/>
                </a:solidFill>
              </a:rPr>
              <a:t>Which layer is under-examined?</a:t>
            </a:r>
            <a:endParaRPr lang="en-US" sz="1133" dirty="0"/>
          </a:p>
        </p:txBody>
      </p:sp>
      <p:sp>
        <p:nvSpPr>
          <p:cNvPr id="36" name="Shape 34"/>
          <p:cNvSpPr/>
          <p:nvPr/>
        </p:nvSpPr>
        <p:spPr>
          <a:xfrm>
            <a:off x="3840480" y="4011168"/>
            <a:ext cx="8071104" cy="908304"/>
          </a:xfrm>
          <a:prstGeom prst="rect">
            <a:avLst/>
          </a:prstGeom>
          <a:solidFill>
            <a:srgbClr val="FFFFFF"/>
          </a:solidFill>
          <a:ln w="12700">
            <a:solidFill>
              <a:srgbClr val="E8EEF2"/>
            </a:solidFill>
            <a:prstDash val="solid"/>
          </a:ln>
        </p:spPr>
      </p:sp>
      <p:sp>
        <p:nvSpPr>
          <p:cNvPr id="37" name="Shape 35"/>
          <p:cNvSpPr/>
          <p:nvPr/>
        </p:nvSpPr>
        <p:spPr>
          <a:xfrm>
            <a:off x="3840480" y="4011168"/>
            <a:ext cx="0" cy="908304"/>
          </a:xfrm>
          <a:prstGeom prst="line">
            <a:avLst/>
          </a:prstGeom>
          <a:noFill/>
          <a:ln w="12700">
            <a:solidFill>
              <a:srgbClr val="E8EEF2"/>
            </a:solidFill>
            <a:prstDash val="solid"/>
          </a:ln>
        </p:spPr>
      </p:sp>
      <p:sp>
        <p:nvSpPr>
          <p:cNvPr id="38" name="Text 36"/>
          <p:cNvSpPr/>
          <p:nvPr/>
        </p:nvSpPr>
        <p:spPr>
          <a:xfrm>
            <a:off x="3925824" y="4011168"/>
            <a:ext cx="152400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dirty="0">
                <a:solidFill>
                  <a:srgbClr val="1E2A38"/>
                </a:solidFill>
              </a:rPr>
              <a:t>Evidence from research</a:t>
            </a:r>
            <a:endParaRPr lang="en-US" sz="1133" dirty="0"/>
          </a:p>
        </p:txBody>
      </p:sp>
      <p:sp>
        <p:nvSpPr>
          <p:cNvPr id="39" name="Shape 37"/>
          <p:cNvSpPr/>
          <p:nvPr/>
        </p:nvSpPr>
        <p:spPr>
          <a:xfrm>
            <a:off x="5486400" y="4011168"/>
            <a:ext cx="0" cy="908304"/>
          </a:xfrm>
          <a:prstGeom prst="line">
            <a:avLst/>
          </a:prstGeom>
          <a:noFill/>
          <a:ln w="12700">
            <a:solidFill>
              <a:srgbClr val="E8EEF2"/>
            </a:solidFill>
            <a:prstDash val="solid"/>
          </a:ln>
        </p:spPr>
      </p:sp>
      <p:sp>
        <p:nvSpPr>
          <p:cNvPr id="40" name="Text 38"/>
          <p:cNvSpPr/>
          <p:nvPr/>
        </p:nvSpPr>
        <p:spPr>
          <a:xfrm>
            <a:off x="5571744" y="4011168"/>
            <a:ext cx="243840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067" i="1" dirty="0">
                <a:solidFill>
                  <a:srgbClr val="6B7C93"/>
                </a:solidFill>
              </a:rPr>
              <a:t>What do we actually know from the studies?</a:t>
            </a:r>
            <a:endParaRPr lang="en-US" sz="1067" dirty="0"/>
          </a:p>
        </p:txBody>
      </p:sp>
      <p:sp>
        <p:nvSpPr>
          <p:cNvPr id="41" name="Shape 39"/>
          <p:cNvSpPr/>
          <p:nvPr/>
        </p:nvSpPr>
        <p:spPr>
          <a:xfrm>
            <a:off x="8046720" y="4011168"/>
            <a:ext cx="0" cy="908304"/>
          </a:xfrm>
          <a:prstGeom prst="line">
            <a:avLst/>
          </a:prstGeom>
          <a:noFill/>
          <a:ln w="12700">
            <a:solidFill>
              <a:srgbClr val="E8EEF2"/>
            </a:solidFill>
            <a:prstDash val="solid"/>
          </a:ln>
        </p:spPr>
      </p:sp>
      <p:sp>
        <p:nvSpPr>
          <p:cNvPr id="42" name="Text 40"/>
          <p:cNvSpPr/>
          <p:nvPr/>
        </p:nvSpPr>
        <p:spPr>
          <a:xfrm>
            <a:off x="8132064" y="4011168"/>
            <a:ext cx="188976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067" dirty="0"/>
          </a:p>
        </p:txBody>
      </p:sp>
      <p:sp>
        <p:nvSpPr>
          <p:cNvPr id="43" name="Shape 41"/>
          <p:cNvSpPr/>
          <p:nvPr/>
        </p:nvSpPr>
        <p:spPr>
          <a:xfrm>
            <a:off x="10058400" y="4011168"/>
            <a:ext cx="0" cy="908304"/>
          </a:xfrm>
          <a:prstGeom prst="line">
            <a:avLst/>
          </a:prstGeom>
          <a:noFill/>
          <a:ln w="12700">
            <a:solidFill>
              <a:srgbClr val="E8EEF2"/>
            </a:solidFill>
            <a:prstDash val="solid"/>
          </a:ln>
        </p:spPr>
      </p:sp>
      <p:sp>
        <p:nvSpPr>
          <p:cNvPr id="44" name="Text 42"/>
          <p:cNvSpPr/>
          <p:nvPr/>
        </p:nvSpPr>
        <p:spPr>
          <a:xfrm>
            <a:off x="10143744" y="4011168"/>
            <a:ext cx="1731264"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067" dirty="0"/>
          </a:p>
        </p:txBody>
      </p:sp>
      <p:sp>
        <p:nvSpPr>
          <p:cNvPr id="45" name="Shape 43"/>
          <p:cNvSpPr/>
          <p:nvPr/>
        </p:nvSpPr>
        <p:spPr>
          <a:xfrm>
            <a:off x="3840480" y="4919472"/>
            <a:ext cx="8071104" cy="908304"/>
          </a:xfrm>
          <a:prstGeom prst="rect">
            <a:avLst/>
          </a:prstGeom>
          <a:solidFill>
            <a:srgbClr val="F4F8F8"/>
          </a:solidFill>
          <a:ln w="12700">
            <a:solidFill>
              <a:srgbClr val="E8EEF2"/>
            </a:solidFill>
            <a:prstDash val="solid"/>
          </a:ln>
        </p:spPr>
      </p:sp>
      <p:sp>
        <p:nvSpPr>
          <p:cNvPr id="46" name="Shape 44"/>
          <p:cNvSpPr/>
          <p:nvPr/>
        </p:nvSpPr>
        <p:spPr>
          <a:xfrm>
            <a:off x="3840480" y="4919472"/>
            <a:ext cx="0" cy="908304"/>
          </a:xfrm>
          <a:prstGeom prst="line">
            <a:avLst/>
          </a:prstGeom>
          <a:noFill/>
          <a:ln w="12700">
            <a:solidFill>
              <a:srgbClr val="E8EEF2"/>
            </a:solidFill>
            <a:prstDash val="solid"/>
          </a:ln>
        </p:spPr>
      </p:sp>
      <p:sp>
        <p:nvSpPr>
          <p:cNvPr id="47" name="Text 45"/>
          <p:cNvSpPr/>
          <p:nvPr/>
        </p:nvSpPr>
        <p:spPr>
          <a:xfrm>
            <a:off x="3925824" y="4919472"/>
            <a:ext cx="152400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dirty="0">
                <a:solidFill>
                  <a:srgbClr val="1E2A38"/>
                </a:solidFill>
              </a:rPr>
              <a:t>Which learners benefit?</a:t>
            </a:r>
            <a:endParaRPr lang="en-US" sz="1133" dirty="0"/>
          </a:p>
        </p:txBody>
      </p:sp>
      <p:sp>
        <p:nvSpPr>
          <p:cNvPr id="48" name="Shape 46"/>
          <p:cNvSpPr/>
          <p:nvPr/>
        </p:nvSpPr>
        <p:spPr>
          <a:xfrm>
            <a:off x="5486400" y="4919472"/>
            <a:ext cx="0" cy="908304"/>
          </a:xfrm>
          <a:prstGeom prst="line">
            <a:avLst/>
          </a:prstGeom>
          <a:noFill/>
          <a:ln w="12700">
            <a:solidFill>
              <a:srgbClr val="E8EEF2"/>
            </a:solidFill>
            <a:prstDash val="solid"/>
          </a:ln>
        </p:spPr>
      </p:sp>
      <p:sp>
        <p:nvSpPr>
          <p:cNvPr id="49" name="Text 47"/>
          <p:cNvSpPr/>
          <p:nvPr/>
        </p:nvSpPr>
        <p:spPr>
          <a:xfrm>
            <a:off x="5571744" y="4919472"/>
            <a:ext cx="243840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067" i="1" dirty="0">
                <a:solidFill>
                  <a:srgbClr val="6B7C93"/>
                </a:solidFill>
              </a:rPr>
              <a:t>Proficiency level / language background / course context...</a:t>
            </a:r>
            <a:endParaRPr lang="en-US" sz="1067" dirty="0"/>
          </a:p>
        </p:txBody>
      </p:sp>
      <p:sp>
        <p:nvSpPr>
          <p:cNvPr id="50" name="Shape 48"/>
          <p:cNvSpPr/>
          <p:nvPr/>
        </p:nvSpPr>
        <p:spPr>
          <a:xfrm>
            <a:off x="8046720" y="4919472"/>
            <a:ext cx="0" cy="908304"/>
          </a:xfrm>
          <a:prstGeom prst="line">
            <a:avLst/>
          </a:prstGeom>
          <a:noFill/>
          <a:ln w="12700">
            <a:solidFill>
              <a:srgbClr val="E8EEF2"/>
            </a:solidFill>
            <a:prstDash val="solid"/>
          </a:ln>
        </p:spPr>
      </p:sp>
      <p:sp>
        <p:nvSpPr>
          <p:cNvPr id="51" name="Text 49"/>
          <p:cNvSpPr/>
          <p:nvPr/>
        </p:nvSpPr>
        <p:spPr>
          <a:xfrm>
            <a:off x="8132064" y="4919472"/>
            <a:ext cx="188976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067" dirty="0"/>
          </a:p>
        </p:txBody>
      </p:sp>
      <p:sp>
        <p:nvSpPr>
          <p:cNvPr id="52" name="Shape 50"/>
          <p:cNvSpPr/>
          <p:nvPr/>
        </p:nvSpPr>
        <p:spPr>
          <a:xfrm>
            <a:off x="10058400" y="4919472"/>
            <a:ext cx="0" cy="908304"/>
          </a:xfrm>
          <a:prstGeom prst="line">
            <a:avLst/>
          </a:prstGeom>
          <a:noFill/>
          <a:ln w="12700">
            <a:solidFill>
              <a:srgbClr val="E8EEF2"/>
            </a:solidFill>
            <a:prstDash val="solid"/>
          </a:ln>
        </p:spPr>
      </p:sp>
      <p:sp>
        <p:nvSpPr>
          <p:cNvPr id="53" name="Text 51"/>
          <p:cNvSpPr/>
          <p:nvPr/>
        </p:nvSpPr>
        <p:spPr>
          <a:xfrm>
            <a:off x="10143744" y="4919472"/>
            <a:ext cx="1731264"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067" dirty="0"/>
          </a:p>
        </p:txBody>
      </p:sp>
      <p:sp>
        <p:nvSpPr>
          <p:cNvPr id="54" name="Shape 52"/>
          <p:cNvSpPr/>
          <p:nvPr/>
        </p:nvSpPr>
        <p:spPr>
          <a:xfrm>
            <a:off x="3840480" y="5827776"/>
            <a:ext cx="8071104" cy="908304"/>
          </a:xfrm>
          <a:prstGeom prst="rect">
            <a:avLst/>
          </a:prstGeom>
          <a:solidFill>
            <a:srgbClr val="FFFFFF"/>
          </a:solidFill>
          <a:ln w="12700">
            <a:solidFill>
              <a:srgbClr val="E8EEF2"/>
            </a:solidFill>
            <a:prstDash val="solid"/>
          </a:ln>
        </p:spPr>
      </p:sp>
      <p:sp>
        <p:nvSpPr>
          <p:cNvPr id="55" name="Shape 53"/>
          <p:cNvSpPr/>
          <p:nvPr/>
        </p:nvSpPr>
        <p:spPr>
          <a:xfrm>
            <a:off x="3840480" y="5827776"/>
            <a:ext cx="0" cy="908304"/>
          </a:xfrm>
          <a:prstGeom prst="line">
            <a:avLst/>
          </a:prstGeom>
          <a:noFill/>
          <a:ln w="12700">
            <a:solidFill>
              <a:srgbClr val="E8EEF2"/>
            </a:solidFill>
            <a:prstDash val="solid"/>
          </a:ln>
        </p:spPr>
      </p:sp>
      <p:sp>
        <p:nvSpPr>
          <p:cNvPr id="56" name="Text 54"/>
          <p:cNvSpPr/>
          <p:nvPr/>
        </p:nvSpPr>
        <p:spPr>
          <a:xfrm>
            <a:off x="3925824" y="5827776"/>
            <a:ext cx="152400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dirty="0">
                <a:solidFill>
                  <a:srgbClr val="1E2A38"/>
                </a:solidFill>
              </a:rPr>
              <a:t>When does the risk increase?</a:t>
            </a:r>
            <a:endParaRPr lang="en-US" sz="1133" dirty="0"/>
          </a:p>
        </p:txBody>
      </p:sp>
      <p:sp>
        <p:nvSpPr>
          <p:cNvPr id="57" name="Shape 55"/>
          <p:cNvSpPr/>
          <p:nvPr/>
        </p:nvSpPr>
        <p:spPr>
          <a:xfrm>
            <a:off x="5486400" y="5827776"/>
            <a:ext cx="0" cy="908304"/>
          </a:xfrm>
          <a:prstGeom prst="line">
            <a:avLst/>
          </a:prstGeom>
          <a:noFill/>
          <a:ln w="12700">
            <a:solidFill>
              <a:srgbClr val="E8EEF2"/>
            </a:solidFill>
            <a:prstDash val="solid"/>
          </a:ln>
        </p:spPr>
      </p:sp>
      <p:sp>
        <p:nvSpPr>
          <p:cNvPr id="58" name="Text 56"/>
          <p:cNvSpPr/>
          <p:nvPr/>
        </p:nvSpPr>
        <p:spPr>
          <a:xfrm>
            <a:off x="5571744" y="5827776"/>
            <a:ext cx="243840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067" i="1" dirty="0">
                <a:solidFill>
                  <a:srgbClr val="6B7C93"/>
                </a:solidFill>
              </a:rPr>
              <a:t>Under what instructional conditions?</a:t>
            </a:r>
            <a:endParaRPr lang="en-US" sz="1067" dirty="0"/>
          </a:p>
        </p:txBody>
      </p:sp>
      <p:sp>
        <p:nvSpPr>
          <p:cNvPr id="59" name="Shape 57"/>
          <p:cNvSpPr/>
          <p:nvPr/>
        </p:nvSpPr>
        <p:spPr>
          <a:xfrm>
            <a:off x="8046720" y="5827776"/>
            <a:ext cx="0" cy="908304"/>
          </a:xfrm>
          <a:prstGeom prst="line">
            <a:avLst/>
          </a:prstGeom>
          <a:noFill/>
          <a:ln w="12700">
            <a:solidFill>
              <a:srgbClr val="E8EEF2"/>
            </a:solidFill>
            <a:prstDash val="solid"/>
          </a:ln>
        </p:spPr>
      </p:sp>
      <p:sp>
        <p:nvSpPr>
          <p:cNvPr id="60" name="Text 58"/>
          <p:cNvSpPr/>
          <p:nvPr/>
        </p:nvSpPr>
        <p:spPr>
          <a:xfrm>
            <a:off x="8132064" y="5827776"/>
            <a:ext cx="1889760"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067" dirty="0"/>
          </a:p>
        </p:txBody>
      </p:sp>
      <p:sp>
        <p:nvSpPr>
          <p:cNvPr id="61" name="Shape 59"/>
          <p:cNvSpPr/>
          <p:nvPr/>
        </p:nvSpPr>
        <p:spPr>
          <a:xfrm>
            <a:off x="10058400" y="5827776"/>
            <a:ext cx="0" cy="908304"/>
          </a:xfrm>
          <a:prstGeom prst="line">
            <a:avLst/>
          </a:prstGeom>
          <a:noFill/>
          <a:ln w="12700">
            <a:solidFill>
              <a:srgbClr val="E8EEF2"/>
            </a:solidFill>
            <a:prstDash val="solid"/>
          </a:ln>
        </p:spPr>
      </p:sp>
      <p:sp>
        <p:nvSpPr>
          <p:cNvPr id="62" name="Text 60"/>
          <p:cNvSpPr/>
          <p:nvPr/>
        </p:nvSpPr>
        <p:spPr>
          <a:xfrm>
            <a:off x="10143744" y="5827776"/>
            <a:ext cx="1731264" cy="9083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067" dirty="0"/>
          </a:p>
        </p:txBody>
      </p:sp>
    </p:spTree>
    <p:extLst>
      <p:ext uri="{BB962C8B-B14F-4D97-AF65-F5344CB8AC3E}">
        <p14:creationId xmlns:p14="http://schemas.microsoft.com/office/powerpoint/2010/main" val="492631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
    <p:bg>
      <p:bgPr>
        <a:solidFill>
          <a:srgbClr val="F4F8F8"/>
        </a:solidFill>
        <a:effectLst/>
      </p:bgPr>
    </p:bg>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1A3A5C"/>
          </a:solidFill>
          <a:ln w="12700">
            <a:solidFill>
              <a:srgbClr val="1A3A5C"/>
            </a:solidFill>
            <a:prstDash val="solid"/>
          </a:ln>
        </p:spPr>
      </p:sp>
      <p:sp>
        <p:nvSpPr>
          <p:cNvPr id="3" name="Text 1"/>
          <p:cNvSpPr/>
          <p:nvPr/>
        </p:nvSpPr>
        <p:spPr>
          <a:xfrm>
            <a:off x="365760" y="0"/>
            <a:ext cx="8534400" cy="7559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2133" b="1" dirty="0">
                <a:solidFill>
                  <a:srgbClr val="FFFFFF"/>
                </a:solidFill>
              </a:rPr>
              <a:t>Activity 1 — Research Tension Analysis</a:t>
            </a:r>
            <a:endParaRPr lang="en-US" sz="2133" dirty="0"/>
          </a:p>
        </p:txBody>
      </p:sp>
      <p:sp>
        <p:nvSpPr>
          <p:cNvPr id="4" name="Text 2"/>
          <p:cNvSpPr/>
          <p:nvPr/>
        </p:nvSpPr>
        <p:spPr>
          <a:xfrm>
            <a:off x="8534400" y="0"/>
            <a:ext cx="3413760" cy="75590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i="1" dirty="0">
                <a:solidFill>
                  <a:srgbClr val="A8C8E0"/>
                </a:solidFill>
              </a:rPr>
              <a:t>Reference Model + Report Out</a:t>
            </a:r>
            <a:endParaRPr lang="en-US" sz="1333" dirty="0"/>
          </a:p>
        </p:txBody>
      </p:sp>
      <p:sp>
        <p:nvSpPr>
          <p:cNvPr id="5" name="Text 3"/>
          <p:cNvSpPr/>
          <p:nvPr/>
        </p:nvSpPr>
        <p:spPr>
          <a:xfrm>
            <a:off x="487680" y="1036320"/>
            <a:ext cx="51206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dirty="0">
                <a:solidFill>
                  <a:srgbClr val="1A3A5C"/>
                </a:solidFill>
              </a:rPr>
              <a:t>Model: Three-Layer Framework</a:t>
            </a:r>
            <a:endParaRPr lang="en-US" sz="1467" dirty="0"/>
          </a:p>
        </p:txBody>
      </p:sp>
      <p:sp>
        <p:nvSpPr>
          <p:cNvPr id="6" name="Shape 4"/>
          <p:cNvSpPr/>
          <p:nvPr/>
        </p:nvSpPr>
        <p:spPr>
          <a:xfrm>
            <a:off x="1706880" y="1407795"/>
            <a:ext cx="2682240" cy="2682240"/>
          </a:xfrm>
          <a:prstGeom prst="ellipse">
            <a:avLst/>
          </a:prstGeom>
          <a:solidFill>
            <a:srgbClr val="1A3A5C">
              <a:alpha val="25000"/>
            </a:srgbClr>
          </a:solidFill>
          <a:ln w="12700">
            <a:solidFill>
              <a:srgbClr val="1A3A5C"/>
            </a:solidFill>
            <a:prstDash val="solid"/>
          </a:ln>
        </p:spPr>
      </p:sp>
      <p:sp>
        <p:nvSpPr>
          <p:cNvPr id="7" name="Text 5"/>
          <p:cNvSpPr/>
          <p:nvPr/>
        </p:nvSpPr>
        <p:spPr>
          <a:xfrm>
            <a:off x="1524000" y="1834515"/>
            <a:ext cx="304800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1A3A5C"/>
                </a:solidFill>
              </a:rPr>
              <a:t>Layer 1:</a:t>
            </a:r>
            <a:endParaRPr lang="en-US" sz="1133" dirty="0"/>
          </a:p>
          <a:p>
            <a:pPr marL="0" indent="0" algn="ctr">
              <a:buNone/>
            </a:pPr>
            <a:r>
              <a:rPr lang="en-US" sz="1133" b="1" dirty="0">
                <a:solidFill>
                  <a:srgbClr val="1A3A5C"/>
                </a:solidFill>
              </a:rPr>
              <a:t>Performance</a:t>
            </a:r>
            <a:endParaRPr lang="en-US" sz="1133" dirty="0"/>
          </a:p>
          <a:p>
            <a:pPr marL="0" indent="0" algn="ctr">
              <a:buNone/>
            </a:pPr>
            <a:r>
              <a:rPr lang="en-US" sz="1133" b="1" dirty="0">
                <a:solidFill>
                  <a:srgbClr val="1A3A5C"/>
                </a:solidFill>
              </a:rPr>
              <a:t>Outcomes</a:t>
            </a:r>
            <a:endParaRPr lang="en-US" sz="1133" dirty="0"/>
          </a:p>
        </p:txBody>
      </p:sp>
      <p:sp>
        <p:nvSpPr>
          <p:cNvPr id="8" name="Shape 6"/>
          <p:cNvSpPr/>
          <p:nvPr/>
        </p:nvSpPr>
        <p:spPr>
          <a:xfrm>
            <a:off x="609600" y="2386965"/>
            <a:ext cx="2682240" cy="2682240"/>
          </a:xfrm>
          <a:prstGeom prst="ellipse">
            <a:avLst/>
          </a:prstGeom>
          <a:solidFill>
            <a:srgbClr val="0D7C7C">
              <a:alpha val="25000"/>
            </a:srgbClr>
          </a:solidFill>
          <a:ln w="12700">
            <a:solidFill>
              <a:srgbClr val="0D7C7C"/>
            </a:solidFill>
            <a:prstDash val="solid"/>
          </a:ln>
        </p:spPr>
      </p:sp>
      <p:sp>
        <p:nvSpPr>
          <p:cNvPr id="9" name="Text 7"/>
          <p:cNvSpPr/>
          <p:nvPr/>
        </p:nvSpPr>
        <p:spPr>
          <a:xfrm>
            <a:off x="-62865" y="3619500"/>
            <a:ext cx="316992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0D7C7C"/>
                </a:solidFill>
              </a:rPr>
              <a:t>Layer 2:</a:t>
            </a:r>
            <a:endParaRPr lang="en-US" sz="1133" dirty="0"/>
          </a:p>
          <a:p>
            <a:pPr marL="0" indent="0" algn="ctr">
              <a:buNone/>
            </a:pPr>
            <a:r>
              <a:rPr lang="en-US" sz="1133" b="1" dirty="0">
                <a:solidFill>
                  <a:srgbClr val="0D7C7C"/>
                </a:solidFill>
              </a:rPr>
              <a:t>Cognitive</a:t>
            </a:r>
            <a:endParaRPr lang="en-US" sz="1133" dirty="0"/>
          </a:p>
          <a:p>
            <a:pPr marL="0" indent="0" algn="ctr">
              <a:buNone/>
            </a:pPr>
            <a:r>
              <a:rPr lang="en-US" sz="1133" b="1" dirty="0">
                <a:solidFill>
                  <a:srgbClr val="0D7C7C"/>
                </a:solidFill>
              </a:rPr>
              <a:t>Processes</a:t>
            </a:r>
            <a:endParaRPr lang="en-US" sz="1133" dirty="0"/>
          </a:p>
        </p:txBody>
      </p:sp>
      <p:sp>
        <p:nvSpPr>
          <p:cNvPr id="10" name="Shape 8"/>
          <p:cNvSpPr/>
          <p:nvPr/>
        </p:nvSpPr>
        <p:spPr>
          <a:xfrm>
            <a:off x="2927985" y="2386965"/>
            <a:ext cx="2682240" cy="2682240"/>
          </a:xfrm>
          <a:prstGeom prst="ellipse">
            <a:avLst/>
          </a:prstGeom>
          <a:solidFill>
            <a:srgbClr val="2E6B27">
              <a:alpha val="25000"/>
            </a:srgbClr>
          </a:solidFill>
          <a:ln w="12700">
            <a:solidFill>
              <a:srgbClr val="2E6B27"/>
            </a:solidFill>
            <a:prstDash val="solid"/>
          </a:ln>
        </p:spPr>
      </p:sp>
      <p:sp>
        <p:nvSpPr>
          <p:cNvPr id="11" name="Text 9"/>
          <p:cNvSpPr/>
          <p:nvPr/>
        </p:nvSpPr>
        <p:spPr>
          <a:xfrm>
            <a:off x="2988945" y="3600449"/>
            <a:ext cx="3169920" cy="91440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133" b="1" dirty="0">
                <a:solidFill>
                  <a:srgbClr val="2E6B27"/>
                </a:solidFill>
              </a:rPr>
              <a:t>Layer 3:</a:t>
            </a:r>
            <a:endParaRPr lang="en-US" sz="1133" dirty="0"/>
          </a:p>
          <a:p>
            <a:pPr marL="0" indent="0" algn="ctr">
              <a:buNone/>
            </a:pPr>
            <a:r>
              <a:rPr lang="en-US" sz="1133" b="1" dirty="0">
                <a:solidFill>
                  <a:srgbClr val="2E6B27"/>
                </a:solidFill>
              </a:rPr>
              <a:t>Sociolinguistic</a:t>
            </a:r>
            <a:endParaRPr lang="en-US" sz="1133" dirty="0"/>
          </a:p>
          <a:p>
            <a:pPr marL="0" indent="0" algn="ctr">
              <a:buNone/>
            </a:pPr>
            <a:r>
              <a:rPr lang="en-US" sz="1133" b="1" dirty="0">
                <a:solidFill>
                  <a:srgbClr val="2E6B27"/>
                </a:solidFill>
              </a:rPr>
              <a:t>Dimensions</a:t>
            </a:r>
            <a:endParaRPr lang="en-US" sz="1133" dirty="0"/>
          </a:p>
        </p:txBody>
      </p:sp>
      <p:sp>
        <p:nvSpPr>
          <p:cNvPr id="13" name="Shape 11"/>
          <p:cNvSpPr/>
          <p:nvPr/>
        </p:nvSpPr>
        <p:spPr>
          <a:xfrm>
            <a:off x="5852160" y="950976"/>
            <a:ext cx="6217920" cy="1438656"/>
          </a:xfrm>
          <a:prstGeom prst="rect">
            <a:avLst/>
          </a:prstGeom>
          <a:solidFill>
            <a:srgbClr val="E8EFF7"/>
          </a:solidFill>
          <a:ln w="12700">
            <a:solidFill>
              <a:srgbClr val="E8EEF2"/>
            </a:solidFill>
            <a:prstDash val="solid"/>
          </a:ln>
          <a:effectLst>
            <a:outerShdw blurRad="101600" dist="25400" dir="8100000" algn="bl" rotWithShape="0">
              <a:srgbClr val="000000">
                <a:alpha val="10000"/>
              </a:srgbClr>
            </a:outerShdw>
          </a:effectLst>
        </p:spPr>
      </p:sp>
      <p:sp>
        <p:nvSpPr>
          <p:cNvPr id="14" name="Shape 12"/>
          <p:cNvSpPr/>
          <p:nvPr/>
        </p:nvSpPr>
        <p:spPr>
          <a:xfrm>
            <a:off x="5852160" y="950976"/>
            <a:ext cx="73152" cy="1438656"/>
          </a:xfrm>
          <a:prstGeom prst="rect">
            <a:avLst/>
          </a:prstGeom>
          <a:solidFill>
            <a:srgbClr val="1A3A5C"/>
          </a:solidFill>
          <a:ln w="12700">
            <a:solidFill>
              <a:srgbClr val="1A3A5C"/>
            </a:solidFill>
            <a:prstDash val="solid"/>
          </a:ln>
        </p:spPr>
      </p:sp>
      <p:sp>
        <p:nvSpPr>
          <p:cNvPr id="15" name="Text 13"/>
          <p:cNvSpPr/>
          <p:nvPr/>
        </p:nvSpPr>
        <p:spPr>
          <a:xfrm>
            <a:off x="6035040" y="1048512"/>
            <a:ext cx="591312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1A3A5C"/>
                </a:solidFill>
              </a:rPr>
              <a:t>Layer 1 — Performance Outcomes</a:t>
            </a:r>
            <a:endParaRPr lang="en-US" sz="1333" dirty="0"/>
          </a:p>
        </p:txBody>
      </p:sp>
      <p:sp>
        <p:nvSpPr>
          <p:cNvPr id="16" name="Text 14"/>
          <p:cNvSpPr/>
          <p:nvPr/>
        </p:nvSpPr>
        <p:spPr>
          <a:xfrm>
            <a:off x="6071616" y="1389888"/>
            <a:ext cx="5852160" cy="95097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buSzPct val="100000"/>
              <a:buChar char="•"/>
            </a:pPr>
            <a:r>
              <a:rPr lang="en-US" sz="1200" dirty="0">
                <a:solidFill>
                  <a:srgbClr val="1E2A38"/>
                </a:solidFill>
              </a:rPr>
              <a:t>Text quality &amp; fluency</a:t>
            </a:r>
            <a:endParaRPr lang="en-US" sz="1200" dirty="0"/>
          </a:p>
          <a:p>
            <a:pPr marL="457189" indent="-457189">
              <a:buSzPct val="100000"/>
              <a:buChar char="•"/>
            </a:pPr>
            <a:r>
              <a:rPr lang="en-US" sz="1200" dirty="0">
                <a:solidFill>
                  <a:srgbClr val="1E2A38"/>
                </a:solidFill>
              </a:rPr>
              <a:t>Vocabulary &amp; organization</a:t>
            </a:r>
            <a:endParaRPr lang="en-US" sz="1200" dirty="0"/>
          </a:p>
          <a:p>
            <a:pPr marL="457189" indent="-457189">
              <a:buSzPct val="100000"/>
              <a:buChar char="•"/>
            </a:pPr>
            <a:r>
              <a:rPr lang="en-US" sz="1200" dirty="0">
                <a:solidFill>
                  <a:srgbClr val="1E2A38"/>
                </a:solidFill>
              </a:rPr>
              <a:t>Writing accuracy</a:t>
            </a:r>
            <a:endParaRPr lang="en-US" sz="1200" dirty="0"/>
          </a:p>
        </p:txBody>
      </p:sp>
      <p:sp>
        <p:nvSpPr>
          <p:cNvPr id="17" name="Shape 15"/>
          <p:cNvSpPr/>
          <p:nvPr/>
        </p:nvSpPr>
        <p:spPr>
          <a:xfrm>
            <a:off x="5852160" y="2511552"/>
            <a:ext cx="6217920" cy="1438656"/>
          </a:xfrm>
          <a:prstGeom prst="rect">
            <a:avLst/>
          </a:prstGeom>
          <a:solidFill>
            <a:srgbClr val="E4F2F2"/>
          </a:solidFill>
          <a:ln w="12700">
            <a:solidFill>
              <a:srgbClr val="E8EEF2"/>
            </a:solidFill>
            <a:prstDash val="solid"/>
          </a:ln>
          <a:effectLst>
            <a:outerShdw blurRad="101600" dist="25400" dir="8100000" algn="bl" rotWithShape="0">
              <a:srgbClr val="000000">
                <a:alpha val="10000"/>
              </a:srgbClr>
            </a:outerShdw>
          </a:effectLst>
        </p:spPr>
      </p:sp>
      <p:sp>
        <p:nvSpPr>
          <p:cNvPr id="18" name="Shape 16"/>
          <p:cNvSpPr/>
          <p:nvPr/>
        </p:nvSpPr>
        <p:spPr>
          <a:xfrm>
            <a:off x="5852160" y="2511552"/>
            <a:ext cx="73152" cy="1438656"/>
          </a:xfrm>
          <a:prstGeom prst="rect">
            <a:avLst/>
          </a:prstGeom>
          <a:solidFill>
            <a:srgbClr val="0D7C7C"/>
          </a:solidFill>
          <a:ln w="12700">
            <a:solidFill>
              <a:srgbClr val="0D7C7C"/>
            </a:solidFill>
            <a:prstDash val="solid"/>
          </a:ln>
        </p:spPr>
      </p:sp>
      <p:sp>
        <p:nvSpPr>
          <p:cNvPr id="19" name="Text 17"/>
          <p:cNvSpPr/>
          <p:nvPr/>
        </p:nvSpPr>
        <p:spPr>
          <a:xfrm>
            <a:off x="6035040" y="2609088"/>
            <a:ext cx="591312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0D7C7C"/>
                </a:solidFill>
              </a:rPr>
              <a:t>Layer 2 — Cognitive Processes</a:t>
            </a:r>
            <a:endParaRPr lang="en-US" sz="1333" dirty="0"/>
          </a:p>
        </p:txBody>
      </p:sp>
      <p:sp>
        <p:nvSpPr>
          <p:cNvPr id="20" name="Text 18"/>
          <p:cNvSpPr/>
          <p:nvPr/>
        </p:nvSpPr>
        <p:spPr>
          <a:xfrm>
            <a:off x="6071616" y="2950464"/>
            <a:ext cx="5852160" cy="95097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buSzPct val="100000"/>
              <a:buChar char="•"/>
            </a:pPr>
            <a:r>
              <a:rPr lang="en-US" sz="1200" dirty="0">
                <a:solidFill>
                  <a:srgbClr val="1E2A38"/>
                </a:solidFill>
              </a:rPr>
              <a:t>Cognitive engagement</a:t>
            </a:r>
            <a:endParaRPr lang="en-US" sz="1200" dirty="0"/>
          </a:p>
          <a:p>
            <a:pPr marL="457189" indent="-457189">
              <a:buSzPct val="100000"/>
              <a:buChar char="•"/>
            </a:pPr>
            <a:r>
              <a:rPr lang="en-US" sz="1200" dirty="0">
                <a:solidFill>
                  <a:srgbClr val="1E2A38"/>
                </a:solidFill>
              </a:rPr>
              <a:t>Metalinguistic awareness</a:t>
            </a:r>
            <a:endParaRPr lang="en-US" sz="1200" dirty="0"/>
          </a:p>
          <a:p>
            <a:pPr marL="457189" indent="-457189">
              <a:buSzPct val="100000"/>
              <a:buChar char="•"/>
            </a:pPr>
            <a:r>
              <a:rPr lang="en-US" sz="1200" dirty="0">
                <a:solidFill>
                  <a:srgbClr val="1E2A38"/>
                </a:solidFill>
              </a:rPr>
              <a:t>Self-regulation &amp; transfer</a:t>
            </a:r>
            <a:endParaRPr lang="en-US" sz="1200" dirty="0"/>
          </a:p>
        </p:txBody>
      </p:sp>
      <p:sp>
        <p:nvSpPr>
          <p:cNvPr id="21" name="Shape 19"/>
          <p:cNvSpPr/>
          <p:nvPr/>
        </p:nvSpPr>
        <p:spPr>
          <a:xfrm>
            <a:off x="5852160" y="4072128"/>
            <a:ext cx="6217920" cy="1438656"/>
          </a:xfrm>
          <a:prstGeom prst="rect">
            <a:avLst/>
          </a:prstGeom>
          <a:solidFill>
            <a:srgbClr val="EAF4E8"/>
          </a:solidFill>
          <a:ln w="12700">
            <a:solidFill>
              <a:srgbClr val="E8EEF2"/>
            </a:solidFill>
            <a:prstDash val="solid"/>
          </a:ln>
          <a:effectLst>
            <a:outerShdw blurRad="101600" dist="25400" dir="8100000" algn="bl" rotWithShape="0">
              <a:srgbClr val="000000">
                <a:alpha val="10000"/>
              </a:srgbClr>
            </a:outerShdw>
          </a:effectLst>
        </p:spPr>
      </p:sp>
      <p:sp>
        <p:nvSpPr>
          <p:cNvPr id="22" name="Shape 20"/>
          <p:cNvSpPr/>
          <p:nvPr/>
        </p:nvSpPr>
        <p:spPr>
          <a:xfrm>
            <a:off x="5852160" y="4072128"/>
            <a:ext cx="73152" cy="1438656"/>
          </a:xfrm>
          <a:prstGeom prst="rect">
            <a:avLst/>
          </a:prstGeom>
          <a:solidFill>
            <a:srgbClr val="2E6B27"/>
          </a:solidFill>
          <a:ln w="12700">
            <a:solidFill>
              <a:srgbClr val="2E6B27"/>
            </a:solidFill>
            <a:prstDash val="solid"/>
          </a:ln>
        </p:spPr>
      </p:sp>
      <p:sp>
        <p:nvSpPr>
          <p:cNvPr id="23" name="Text 21"/>
          <p:cNvSpPr/>
          <p:nvPr/>
        </p:nvSpPr>
        <p:spPr>
          <a:xfrm>
            <a:off x="6035040" y="4169664"/>
            <a:ext cx="591312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dirty="0">
                <a:solidFill>
                  <a:srgbClr val="2E6B27"/>
                </a:solidFill>
              </a:rPr>
              <a:t>Layer 3 — Sociolinguistic Dimensions</a:t>
            </a:r>
            <a:endParaRPr lang="en-US" sz="1333" dirty="0"/>
          </a:p>
        </p:txBody>
      </p:sp>
      <p:sp>
        <p:nvSpPr>
          <p:cNvPr id="24" name="Text 22"/>
          <p:cNvSpPr/>
          <p:nvPr/>
        </p:nvSpPr>
        <p:spPr>
          <a:xfrm>
            <a:off x="6071616" y="4511040"/>
            <a:ext cx="5852160" cy="950976"/>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buSzPct val="100000"/>
              <a:buChar char="•"/>
            </a:pPr>
            <a:r>
              <a:rPr lang="en-US" sz="1200" dirty="0">
                <a:solidFill>
                  <a:srgbClr val="1E2A38"/>
                </a:solidFill>
              </a:rPr>
              <a:t>Language norms &amp; identity</a:t>
            </a:r>
            <a:endParaRPr lang="en-US" sz="1200" dirty="0"/>
          </a:p>
          <a:p>
            <a:pPr marL="457189" indent="-457189">
              <a:buSzPct val="100000"/>
              <a:buChar char="•"/>
            </a:pPr>
            <a:r>
              <a:rPr lang="en-US" sz="1200" dirty="0">
                <a:solidFill>
                  <a:srgbClr val="1E2A38"/>
                </a:solidFill>
              </a:rPr>
              <a:t>Power &amp; access</a:t>
            </a:r>
            <a:endParaRPr lang="en-US" sz="1200" dirty="0"/>
          </a:p>
          <a:p>
            <a:pPr marL="457189" indent="-457189">
              <a:buSzPct val="100000"/>
              <a:buChar char="•"/>
            </a:pPr>
            <a:r>
              <a:rPr lang="en-US" sz="1200" dirty="0">
                <a:solidFill>
                  <a:srgbClr val="1E2A38"/>
                </a:solidFill>
              </a:rPr>
              <a:t>Standardization &amp; equity</a:t>
            </a:r>
            <a:endParaRPr lang="en-US" sz="1200" dirty="0"/>
          </a:p>
        </p:txBody>
      </p:sp>
      <p:sp>
        <p:nvSpPr>
          <p:cNvPr id="25" name="Shape 23"/>
          <p:cNvSpPr/>
          <p:nvPr/>
        </p:nvSpPr>
        <p:spPr>
          <a:xfrm>
            <a:off x="0" y="5340096"/>
            <a:ext cx="12192000" cy="1438656"/>
          </a:xfrm>
          <a:prstGeom prst="rect">
            <a:avLst/>
          </a:prstGeom>
          <a:solidFill>
            <a:srgbClr val="1A3A5C"/>
          </a:solidFill>
          <a:ln w="12700">
            <a:solidFill>
              <a:srgbClr val="1A3A5C"/>
            </a:solidFill>
            <a:prstDash val="solid"/>
          </a:ln>
        </p:spPr>
      </p:sp>
      <p:sp>
        <p:nvSpPr>
          <p:cNvPr id="26" name="Shape 24"/>
          <p:cNvSpPr/>
          <p:nvPr/>
        </p:nvSpPr>
        <p:spPr>
          <a:xfrm>
            <a:off x="304800" y="5608320"/>
            <a:ext cx="877824" cy="877824"/>
          </a:xfrm>
          <a:prstGeom prst="ellipse">
            <a:avLst/>
          </a:prstGeom>
          <a:solidFill>
            <a:srgbClr val="D4820A"/>
          </a:solidFill>
          <a:ln w="12700">
            <a:solidFill>
              <a:srgbClr val="D4820A"/>
            </a:solidFill>
            <a:prstDash val="solid"/>
          </a:ln>
        </p:spPr>
      </p:sp>
      <p:pic>
        <p:nvPicPr>
          <p:cNvPr id="27" name="Image 0" descr="preencoded.png"/>
          <p:cNvPicPr>
            <a:picLocks noChangeAspect="1"/>
          </p:cNvPicPr>
          <p:nvPr/>
        </p:nvPicPr>
        <p:blipFill>
          <a:blip r:embed="rId3"/>
          <a:stretch>
            <a:fillRect/>
          </a:stretch>
        </p:blipFill>
        <p:spPr>
          <a:xfrm>
            <a:off x="390144" y="5693664"/>
            <a:ext cx="707136" cy="707136"/>
          </a:xfrm>
          <a:prstGeom prst="rect">
            <a:avLst/>
          </a:prstGeom>
        </p:spPr>
      </p:pic>
      <p:sp>
        <p:nvSpPr>
          <p:cNvPr id="28" name="Text 25"/>
          <p:cNvSpPr/>
          <p:nvPr/>
        </p:nvSpPr>
        <p:spPr>
          <a:xfrm>
            <a:off x="1341120" y="5462016"/>
            <a:ext cx="4876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dirty="0">
                <a:solidFill>
                  <a:srgbClr val="FFFFFF"/>
                </a:solidFill>
              </a:rPr>
              <a:t>Report Out to Class</a:t>
            </a:r>
            <a:endParaRPr lang="en-US" sz="1733" dirty="0"/>
          </a:p>
        </p:txBody>
      </p:sp>
      <p:sp>
        <p:nvSpPr>
          <p:cNvPr id="29" name="Text 26"/>
          <p:cNvSpPr/>
          <p:nvPr/>
        </p:nvSpPr>
        <p:spPr>
          <a:xfrm>
            <a:off x="1341120" y="5888736"/>
            <a:ext cx="1060704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i="1" dirty="0">
                <a:solidFill>
                  <a:srgbClr val="A8C8E0"/>
                </a:solidFill>
              </a:rPr>
              <a:t>Each group shares one evidence-based insight:  who benefits, and when the risk occurs.  (~5 minutes)</a:t>
            </a:r>
            <a:endParaRPr lang="en-US" sz="1333" dirty="0"/>
          </a:p>
        </p:txBody>
      </p:sp>
      <p:sp>
        <p:nvSpPr>
          <p:cNvPr id="30" name="Shape 27"/>
          <p:cNvSpPr/>
          <p:nvPr/>
        </p:nvSpPr>
        <p:spPr>
          <a:xfrm>
            <a:off x="1341120" y="6339840"/>
            <a:ext cx="3413760" cy="341376"/>
          </a:xfrm>
          <a:prstGeom prst="rect">
            <a:avLst/>
          </a:prstGeom>
          <a:solidFill>
            <a:srgbClr val="0D7C7C"/>
          </a:solidFill>
          <a:ln w="12700">
            <a:solidFill>
              <a:srgbClr val="0D7C7C"/>
            </a:solidFill>
            <a:prstDash val="solid"/>
          </a:ln>
        </p:spPr>
      </p:sp>
      <p:sp>
        <p:nvSpPr>
          <p:cNvPr id="31" name="Text 28"/>
          <p:cNvSpPr/>
          <p:nvPr/>
        </p:nvSpPr>
        <p:spPr>
          <a:xfrm>
            <a:off x="1438656" y="6339840"/>
            <a:ext cx="32918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dirty="0">
                <a:solidFill>
                  <a:srgbClr val="FFFFFF"/>
                </a:solidFill>
              </a:rPr>
              <a:t>1.  What does the research show?</a:t>
            </a:r>
            <a:endParaRPr lang="en-US" sz="1133" dirty="0"/>
          </a:p>
        </p:txBody>
      </p:sp>
      <p:sp>
        <p:nvSpPr>
          <p:cNvPr id="32" name="Shape 29"/>
          <p:cNvSpPr/>
          <p:nvPr/>
        </p:nvSpPr>
        <p:spPr>
          <a:xfrm>
            <a:off x="4974336" y="6339840"/>
            <a:ext cx="3413760" cy="341376"/>
          </a:xfrm>
          <a:prstGeom prst="rect">
            <a:avLst/>
          </a:prstGeom>
          <a:solidFill>
            <a:srgbClr val="0D7C7C"/>
          </a:solidFill>
          <a:ln w="12700">
            <a:solidFill>
              <a:srgbClr val="0D7C7C"/>
            </a:solidFill>
            <a:prstDash val="solid"/>
          </a:ln>
        </p:spPr>
      </p:sp>
      <p:sp>
        <p:nvSpPr>
          <p:cNvPr id="33" name="Text 30"/>
          <p:cNvSpPr/>
          <p:nvPr/>
        </p:nvSpPr>
        <p:spPr>
          <a:xfrm>
            <a:off x="5071872" y="6339840"/>
            <a:ext cx="32918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dirty="0">
                <a:solidFill>
                  <a:srgbClr val="FFFFFF"/>
                </a:solidFill>
              </a:rPr>
              <a:t>2.  Which learners benefit?</a:t>
            </a:r>
            <a:endParaRPr lang="en-US" sz="1133" dirty="0"/>
          </a:p>
        </p:txBody>
      </p:sp>
      <p:sp>
        <p:nvSpPr>
          <p:cNvPr id="34" name="Shape 31"/>
          <p:cNvSpPr/>
          <p:nvPr/>
        </p:nvSpPr>
        <p:spPr>
          <a:xfrm>
            <a:off x="8607552" y="6339840"/>
            <a:ext cx="3413760" cy="341376"/>
          </a:xfrm>
          <a:prstGeom prst="rect">
            <a:avLst/>
          </a:prstGeom>
          <a:solidFill>
            <a:srgbClr val="0D7C7C"/>
          </a:solidFill>
          <a:ln w="12700">
            <a:solidFill>
              <a:srgbClr val="0D7C7C"/>
            </a:solidFill>
            <a:prstDash val="solid"/>
          </a:ln>
        </p:spPr>
      </p:sp>
      <p:sp>
        <p:nvSpPr>
          <p:cNvPr id="35" name="Text 32"/>
          <p:cNvSpPr/>
          <p:nvPr/>
        </p:nvSpPr>
        <p:spPr>
          <a:xfrm>
            <a:off x="8705088" y="6339840"/>
            <a:ext cx="32918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r>
              <a:rPr lang="en-US" sz="1133" b="1" dirty="0">
                <a:solidFill>
                  <a:srgbClr val="FFFFFF"/>
                </a:solidFill>
              </a:rPr>
              <a:t>3.  When does the risk increase?</a:t>
            </a:r>
            <a:endParaRPr lang="en-US" sz="1133" dirty="0"/>
          </a:p>
        </p:txBody>
      </p:sp>
    </p:spTree>
    <p:extLst>
      <p:ext uri="{BB962C8B-B14F-4D97-AF65-F5344CB8AC3E}">
        <p14:creationId xmlns:p14="http://schemas.microsoft.com/office/powerpoint/2010/main" val="1313232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Shape 15"/>
        <p:cNvGrpSpPr/>
        <p:nvPr/>
      </p:nvGrpSpPr>
      <p:grpSpPr>
        <a:xfrm>
          <a:off x="0" y="0"/>
          <a:ext cx="0" cy="0"/>
          <a:chOff x="0" y="0"/>
          <a:chExt cx="0" cy="0"/>
        </a:xfrm>
      </p:grpSpPr>
      <p:sp>
        <p:nvSpPr>
          <p:cNvPr id="16" name="Google Shape;16;p1"/>
          <p:cNvSpPr/>
          <p:nvPr/>
        </p:nvSpPr>
        <p:spPr>
          <a:xfrm>
            <a:off x="0" y="0"/>
            <a:ext cx="3901440" cy="6858000"/>
          </a:xfrm>
          <a:prstGeom prst="rect">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17" name="Google Shape;17;p1"/>
          <p:cNvSpPr/>
          <p:nvPr/>
        </p:nvSpPr>
        <p:spPr>
          <a:xfrm>
            <a:off x="182880" y="365760"/>
            <a:ext cx="3535680" cy="42672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7FB3D3"/>
              </a:buClr>
              <a:buSzPts val="1000"/>
              <a:buFont typeface="Calibri"/>
              <a:buNone/>
            </a:pPr>
            <a:r>
              <a:rPr lang="en-US" sz="1333" b="1" i="0" u="none" strike="noStrike" cap="none">
                <a:solidFill>
                  <a:srgbClr val="7FB3D3"/>
                </a:solidFill>
                <a:latin typeface="Calibri"/>
                <a:ea typeface="Calibri"/>
                <a:cs typeface="Calibri"/>
                <a:sym typeface="Calibri"/>
              </a:rPr>
              <a:t>ACTIVITY 2</a:t>
            </a:r>
            <a:endParaRPr sz="1333" b="0" i="0" u="none" strike="noStrike" cap="none">
              <a:solidFill>
                <a:schemeClr val="dk1"/>
              </a:solidFill>
              <a:latin typeface="Calibri"/>
              <a:ea typeface="Calibri"/>
              <a:cs typeface="Calibri"/>
              <a:sym typeface="Calibri"/>
            </a:endParaRPr>
          </a:p>
        </p:txBody>
      </p:sp>
      <p:sp>
        <p:nvSpPr>
          <p:cNvPr id="18" name="Google Shape;18;p1"/>
          <p:cNvSpPr/>
          <p:nvPr/>
        </p:nvSpPr>
        <p:spPr>
          <a:xfrm>
            <a:off x="243840" y="914400"/>
            <a:ext cx="3413760" cy="268224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FFFFFF"/>
              </a:buClr>
              <a:buSzPts val="3000"/>
              <a:buFont typeface="Calibri"/>
              <a:buNone/>
            </a:pPr>
            <a:r>
              <a:rPr lang="en-US" sz="4800" b="1" i="0" u="none" strike="noStrike" cap="none">
                <a:solidFill>
                  <a:srgbClr val="FFFFFF"/>
                </a:solidFill>
                <a:latin typeface="Calibri"/>
                <a:ea typeface="Calibri"/>
                <a:cs typeface="Calibri"/>
                <a:sym typeface="Calibri"/>
              </a:rPr>
              <a:t>C</a:t>
            </a:r>
            <a:r>
              <a:rPr lang="en-US" sz="5200" b="1" i="0" u="none" strike="noStrike" cap="none">
                <a:solidFill>
                  <a:srgbClr val="FFFFFF"/>
                </a:solidFill>
                <a:latin typeface="Calibri"/>
                <a:ea typeface="Calibri"/>
                <a:cs typeface="Calibri"/>
                <a:sym typeface="Calibri"/>
              </a:rPr>
              <a:t>ritical</a:t>
            </a:r>
            <a:r>
              <a:rPr lang="en-US" sz="5200" b="1">
                <a:solidFill>
                  <a:srgbClr val="FFFFFF"/>
                </a:solidFill>
                <a:latin typeface="Calibri"/>
                <a:ea typeface="Calibri"/>
                <a:cs typeface="Calibri"/>
                <a:sym typeface="Calibri"/>
              </a:rPr>
              <a:t> </a:t>
            </a:r>
            <a:r>
              <a:rPr lang="en-US" sz="5200" b="1" i="0" u="none" strike="noStrike" cap="none">
                <a:solidFill>
                  <a:srgbClr val="FFFFFF"/>
                </a:solidFill>
                <a:latin typeface="Calibri"/>
                <a:ea typeface="Calibri"/>
                <a:cs typeface="Calibri"/>
                <a:sym typeface="Calibri"/>
              </a:rPr>
              <a:t>Scenario</a:t>
            </a:r>
            <a:r>
              <a:rPr lang="en-US" sz="5200" b="1">
                <a:solidFill>
                  <a:srgbClr val="FFFFFF"/>
                </a:solidFill>
                <a:latin typeface="Calibri"/>
                <a:ea typeface="Calibri"/>
                <a:cs typeface="Calibri"/>
                <a:sym typeface="Calibri"/>
              </a:rPr>
              <a:t> </a:t>
            </a:r>
            <a:r>
              <a:rPr lang="en-US" sz="5200" b="1" i="0" u="none" strike="noStrike" cap="none">
                <a:solidFill>
                  <a:srgbClr val="FFFFFF"/>
                </a:solidFill>
                <a:latin typeface="Calibri"/>
                <a:ea typeface="Calibri"/>
                <a:cs typeface="Calibri"/>
                <a:sym typeface="Calibri"/>
              </a:rPr>
              <a:t>Design</a:t>
            </a:r>
            <a:endParaRPr sz="5200" b="0" i="0" u="none" strike="noStrike" cap="none">
              <a:solidFill>
                <a:schemeClr val="dk1"/>
              </a:solidFill>
              <a:latin typeface="Calibri"/>
              <a:ea typeface="Calibri"/>
              <a:cs typeface="Calibri"/>
              <a:sym typeface="Calibri"/>
            </a:endParaRPr>
          </a:p>
        </p:txBody>
      </p:sp>
      <p:sp>
        <p:nvSpPr>
          <p:cNvPr id="19" name="Google Shape;19;p1"/>
          <p:cNvSpPr/>
          <p:nvPr/>
        </p:nvSpPr>
        <p:spPr>
          <a:xfrm>
            <a:off x="243840" y="3779520"/>
            <a:ext cx="1950720" cy="512064"/>
          </a:xfrm>
          <a:prstGeom prst="rect">
            <a:avLst/>
          </a:prstGeom>
          <a:solidFill>
            <a:srgbClr val="0D7C7C"/>
          </a:solidFill>
          <a:ln w="12700" cap="flat" cmpd="sng">
            <a:solidFill>
              <a:srgbClr val="0D7C7C"/>
            </a:solidFill>
            <a:prstDash val="solid"/>
            <a:round/>
            <a:headEnd type="none" w="sm" len="sm"/>
            <a:tailEnd type="none" w="sm" len="sm"/>
          </a:ln>
          <a:effectLst>
            <a:outerShdw blurRad="101600" dist="25400" dir="8100000" algn="bl" rotWithShape="0">
              <a:srgbClr val="000000">
                <a:alpha val="10196"/>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0" name="Google Shape;20;p1"/>
          <p:cNvSpPr/>
          <p:nvPr/>
        </p:nvSpPr>
        <p:spPr>
          <a:xfrm>
            <a:off x="243840" y="3779520"/>
            <a:ext cx="1950720" cy="51206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Clr>
                <a:srgbClr val="FFFFFF"/>
              </a:buClr>
              <a:buSzPts val="1100"/>
              <a:buFont typeface="Calibri"/>
              <a:buNone/>
            </a:pPr>
            <a:r>
              <a:rPr lang="en-US" sz="1333" b="1" i="0" u="none" strike="noStrike" cap="none">
                <a:solidFill>
                  <a:srgbClr val="FFFFFF"/>
                </a:solidFill>
                <a:latin typeface="Calibri"/>
                <a:ea typeface="Calibri"/>
                <a:cs typeface="Calibri"/>
                <a:sym typeface="Calibri"/>
              </a:rPr>
              <a:t>⏱  1</a:t>
            </a:r>
            <a:r>
              <a:rPr lang="en-US" sz="1333" b="1">
                <a:solidFill>
                  <a:srgbClr val="FFFFFF"/>
                </a:solidFill>
                <a:latin typeface="Calibri"/>
                <a:ea typeface="Calibri"/>
                <a:cs typeface="Calibri"/>
                <a:sym typeface="Calibri"/>
              </a:rPr>
              <a:t>5</a:t>
            </a:r>
            <a:r>
              <a:rPr lang="en-US" sz="1333" b="1" i="0" u="none" strike="noStrike" cap="none">
                <a:solidFill>
                  <a:srgbClr val="FFFFFF"/>
                </a:solidFill>
                <a:latin typeface="Calibri"/>
                <a:ea typeface="Calibri"/>
                <a:cs typeface="Calibri"/>
                <a:sym typeface="Calibri"/>
              </a:rPr>
              <a:t> minutes</a:t>
            </a:r>
            <a:endParaRPr sz="1333" b="1" i="0" u="none" strike="noStrike" cap="none">
              <a:solidFill>
                <a:srgbClr val="FFFFFF"/>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Calibri"/>
              <a:buNone/>
            </a:pPr>
            <a:r>
              <a:rPr lang="en-US" sz="1333" b="1">
                <a:solidFill>
                  <a:srgbClr val="FFFFFF"/>
                </a:solidFill>
                <a:latin typeface="Calibri"/>
                <a:ea typeface="Calibri"/>
                <a:cs typeface="Calibri"/>
                <a:sym typeface="Calibri"/>
              </a:rPr>
              <a:t>（8m writing + 7m peer discussion)</a:t>
            </a:r>
            <a:endParaRPr sz="1200" b="1">
              <a:solidFill>
                <a:srgbClr val="FFFFFF"/>
              </a:solidFill>
              <a:latin typeface="Calibri"/>
              <a:ea typeface="Calibri"/>
              <a:cs typeface="Calibri"/>
              <a:sym typeface="Calibri"/>
            </a:endParaRPr>
          </a:p>
        </p:txBody>
      </p:sp>
      <p:sp>
        <p:nvSpPr>
          <p:cNvPr id="21" name="Google Shape;21;p1"/>
          <p:cNvSpPr/>
          <p:nvPr/>
        </p:nvSpPr>
        <p:spPr>
          <a:xfrm>
            <a:off x="243840" y="4450080"/>
            <a:ext cx="1950720" cy="512064"/>
          </a:xfrm>
          <a:prstGeom prst="rect">
            <a:avLst/>
          </a:prstGeom>
          <a:solidFill>
            <a:srgbClr val="D4820A"/>
          </a:solidFill>
          <a:ln w="12700" cap="flat" cmpd="sng">
            <a:solidFill>
              <a:srgbClr val="D4820A"/>
            </a:solidFill>
            <a:prstDash val="solid"/>
            <a:round/>
            <a:headEnd type="none" w="sm" len="sm"/>
            <a:tailEnd type="none" w="sm" len="sm"/>
          </a:ln>
          <a:effectLst>
            <a:outerShdw blurRad="101600" dist="25400" dir="8100000" algn="bl" rotWithShape="0">
              <a:srgbClr val="000000">
                <a:alpha val="10196"/>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2" name="Google Shape;22;p1"/>
          <p:cNvSpPr/>
          <p:nvPr/>
        </p:nvSpPr>
        <p:spPr>
          <a:xfrm>
            <a:off x="243840" y="4450080"/>
            <a:ext cx="1950720" cy="51206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Clr>
                <a:srgbClr val="FFFFFF"/>
              </a:buClr>
              <a:buSzPts val="1100"/>
              <a:buFont typeface="Calibri"/>
              <a:buNone/>
            </a:pPr>
            <a:r>
              <a:rPr lang="en-US" sz="1467" b="1" i="0" u="none" strike="noStrike" cap="none">
                <a:solidFill>
                  <a:srgbClr val="FFFFFF"/>
                </a:solidFill>
                <a:latin typeface="Calibri"/>
                <a:ea typeface="Calibri"/>
                <a:cs typeface="Calibri"/>
                <a:sym typeface="Calibri"/>
              </a:rPr>
              <a:t>👥  Groups of </a:t>
            </a:r>
            <a:r>
              <a:rPr lang="en-US" sz="1467" b="1">
                <a:solidFill>
                  <a:srgbClr val="FFFFFF"/>
                </a:solidFill>
                <a:latin typeface="Calibri"/>
                <a:ea typeface="Calibri"/>
                <a:cs typeface="Calibri"/>
                <a:sym typeface="Calibri"/>
              </a:rPr>
              <a:t>2-3</a:t>
            </a:r>
            <a:endParaRPr sz="1467" b="0" i="0" u="none" strike="noStrike" cap="none">
              <a:solidFill>
                <a:schemeClr val="dk1"/>
              </a:solidFill>
              <a:latin typeface="Calibri"/>
              <a:ea typeface="Calibri"/>
              <a:cs typeface="Calibri"/>
              <a:sym typeface="Calibri"/>
            </a:endParaRPr>
          </a:p>
        </p:txBody>
      </p:sp>
      <p:sp>
        <p:nvSpPr>
          <p:cNvPr id="23" name="Google Shape;23;p1"/>
          <p:cNvSpPr/>
          <p:nvPr/>
        </p:nvSpPr>
        <p:spPr>
          <a:xfrm>
            <a:off x="182880" y="5242560"/>
            <a:ext cx="3535680" cy="109728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A8C8E0"/>
              </a:buClr>
              <a:buSzPts val="1000"/>
              <a:buFont typeface="Calibri"/>
              <a:buNone/>
            </a:pPr>
            <a:r>
              <a:rPr lang="en-US" sz="1333" b="0" i="1" u="none" strike="noStrike" cap="none">
                <a:solidFill>
                  <a:srgbClr val="A8C8E0"/>
                </a:solidFill>
                <a:latin typeface="Calibri"/>
                <a:ea typeface="Calibri"/>
                <a:cs typeface="Calibri"/>
                <a:sym typeface="Calibri"/>
              </a:rPr>
              <a:t>"Now apply what</a:t>
            </a:r>
            <a:endParaRPr sz="1333"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A8C8E0"/>
              </a:buClr>
              <a:buSzPts val="1000"/>
              <a:buFont typeface="Calibri"/>
              <a:buNone/>
            </a:pPr>
            <a:r>
              <a:rPr lang="en-US" sz="1333" b="0" i="1" u="none" strike="noStrike" cap="none">
                <a:solidFill>
                  <a:srgbClr val="A8C8E0"/>
                </a:solidFill>
                <a:latin typeface="Calibri"/>
                <a:ea typeface="Calibri"/>
                <a:cs typeface="Calibri"/>
                <a:sym typeface="Calibri"/>
              </a:rPr>
              <a:t>the research says."</a:t>
            </a:r>
            <a:endParaRPr sz="1333" b="0" i="0" u="none" strike="noStrike" cap="none">
              <a:solidFill>
                <a:schemeClr val="dk1"/>
              </a:solidFill>
              <a:latin typeface="Calibri"/>
              <a:ea typeface="Calibri"/>
              <a:cs typeface="Calibri"/>
              <a:sym typeface="Calibri"/>
            </a:endParaRPr>
          </a:p>
        </p:txBody>
      </p:sp>
      <p:sp>
        <p:nvSpPr>
          <p:cNvPr id="24" name="Google Shape;24;p1"/>
          <p:cNvSpPr/>
          <p:nvPr/>
        </p:nvSpPr>
        <p:spPr>
          <a:xfrm>
            <a:off x="4206240" y="268224"/>
            <a:ext cx="7680960" cy="1950720"/>
          </a:xfrm>
          <a:prstGeom prst="rect">
            <a:avLst/>
          </a:prstGeom>
          <a:solidFill>
            <a:srgbClr val="FFFFFF"/>
          </a:solidFill>
          <a:ln w="12700" cap="flat" cmpd="sng">
            <a:solidFill>
              <a:srgbClr val="E8EEF2"/>
            </a:solidFill>
            <a:prstDash val="solid"/>
            <a:round/>
            <a:headEnd type="none" w="sm" len="sm"/>
            <a:tailEnd type="none" w="sm" len="sm"/>
          </a:ln>
          <a:effectLst>
            <a:outerShdw blurRad="101600" dist="25400" dir="8100000" algn="bl" rotWithShape="0">
              <a:srgbClr val="000000">
                <a:alpha val="10196"/>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5" name="Google Shape;25;p1"/>
          <p:cNvSpPr/>
          <p:nvPr/>
        </p:nvSpPr>
        <p:spPr>
          <a:xfrm>
            <a:off x="4206240" y="268224"/>
            <a:ext cx="73152" cy="1950720"/>
          </a:xfrm>
          <a:prstGeom prst="rect">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26" name="Google Shape;26;p1"/>
          <p:cNvSpPr/>
          <p:nvPr/>
        </p:nvSpPr>
        <p:spPr>
          <a:xfrm>
            <a:off x="4389120" y="926592"/>
            <a:ext cx="633984" cy="633984"/>
          </a:xfrm>
          <a:prstGeom prst="ellipse">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27" name="Google Shape;27;p1" descr="preencoded.png"/>
          <p:cNvPicPr preferRelativeResize="0"/>
          <p:nvPr/>
        </p:nvPicPr>
        <p:blipFill rotWithShape="1">
          <a:blip r:embed="rId3">
            <a:alphaModFix/>
          </a:blip>
          <a:srcRect/>
          <a:stretch/>
        </p:blipFill>
        <p:spPr>
          <a:xfrm>
            <a:off x="4474464" y="1011936"/>
            <a:ext cx="463296" cy="463296"/>
          </a:xfrm>
          <a:prstGeom prst="rect">
            <a:avLst/>
          </a:prstGeom>
          <a:noFill/>
          <a:ln>
            <a:noFill/>
          </a:ln>
        </p:spPr>
      </p:pic>
      <p:sp>
        <p:nvSpPr>
          <p:cNvPr id="28" name="Google Shape;28;p1"/>
          <p:cNvSpPr/>
          <p:nvPr/>
        </p:nvSpPr>
        <p:spPr>
          <a:xfrm>
            <a:off x="5181600" y="390144"/>
            <a:ext cx="6461760" cy="3413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A3A5C"/>
              </a:buClr>
              <a:buSzPts val="850"/>
              <a:buFont typeface="Calibri"/>
              <a:buNone/>
            </a:pPr>
            <a:r>
              <a:rPr lang="en-US" sz="1133" b="1" i="0" u="none" strike="noStrike" cap="none">
                <a:solidFill>
                  <a:srgbClr val="1A3A5C"/>
                </a:solidFill>
                <a:latin typeface="Calibri"/>
                <a:ea typeface="Calibri"/>
                <a:cs typeface="Calibri"/>
                <a:sym typeface="Calibri"/>
              </a:rPr>
              <a:t>STEP 1</a:t>
            </a:r>
            <a:endParaRPr sz="1133" b="0" i="0" u="none" strike="noStrike" cap="none">
              <a:solidFill>
                <a:schemeClr val="dk1"/>
              </a:solidFill>
              <a:latin typeface="Calibri"/>
              <a:ea typeface="Calibri"/>
              <a:cs typeface="Calibri"/>
              <a:sym typeface="Calibri"/>
            </a:endParaRPr>
          </a:p>
        </p:txBody>
      </p:sp>
      <p:sp>
        <p:nvSpPr>
          <p:cNvPr id="29" name="Google Shape;29;p1"/>
          <p:cNvSpPr/>
          <p:nvPr/>
        </p:nvSpPr>
        <p:spPr>
          <a:xfrm>
            <a:off x="5181600" y="658368"/>
            <a:ext cx="6522720" cy="36576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1150"/>
              <a:buFont typeface="Calibri"/>
              <a:buNone/>
            </a:pPr>
            <a:r>
              <a:rPr lang="en-US" sz="1533" b="1" i="0" u="none" strike="noStrike" cap="none">
                <a:solidFill>
                  <a:srgbClr val="1E2A38"/>
                </a:solidFill>
                <a:latin typeface="Calibri"/>
                <a:ea typeface="Calibri"/>
                <a:cs typeface="Calibri"/>
                <a:sym typeface="Calibri"/>
              </a:rPr>
              <a:t>Choose ONE context</a:t>
            </a:r>
            <a:endParaRPr sz="1533" b="0" i="0" u="none" strike="noStrike" cap="none">
              <a:solidFill>
                <a:schemeClr val="dk1"/>
              </a:solidFill>
              <a:latin typeface="Calibri"/>
              <a:ea typeface="Calibri"/>
              <a:cs typeface="Calibri"/>
              <a:sym typeface="Calibri"/>
            </a:endParaRPr>
          </a:p>
        </p:txBody>
      </p:sp>
      <p:sp>
        <p:nvSpPr>
          <p:cNvPr id="30" name="Google Shape;30;p1"/>
          <p:cNvSpPr/>
          <p:nvPr/>
        </p:nvSpPr>
        <p:spPr>
          <a:xfrm>
            <a:off x="5205984" y="1024128"/>
            <a:ext cx="6461760" cy="10728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Graduate-level multilingual writing course</a:t>
            </a:r>
            <a:endParaRPr sz="1667" b="0" i="0" u="none" strike="noStrike" cap="none">
              <a:solidFill>
                <a:schemeClr val="dk1"/>
              </a:solidFill>
              <a:latin typeface="Calibri"/>
              <a:ea typeface="Calibri"/>
              <a:cs typeface="Calibri"/>
              <a:sym typeface="Calibri"/>
            </a:endParaRPr>
          </a:p>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Undergraduate STEM course with high ML enrollment</a:t>
            </a:r>
            <a:endParaRPr sz="1667" b="0" i="0" u="none" strike="noStrike" cap="none">
              <a:solidFill>
                <a:schemeClr val="dk1"/>
              </a:solidFill>
              <a:latin typeface="Calibri"/>
              <a:ea typeface="Calibri"/>
              <a:cs typeface="Calibri"/>
              <a:sym typeface="Calibri"/>
            </a:endParaRPr>
          </a:p>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Teacher education program (future ESL teachers)</a:t>
            </a:r>
            <a:endParaRPr sz="1667" b="0" i="0" u="none" strike="noStrike" cap="none">
              <a:solidFill>
                <a:schemeClr val="dk1"/>
              </a:solidFill>
              <a:latin typeface="Calibri"/>
              <a:ea typeface="Calibri"/>
              <a:cs typeface="Calibri"/>
              <a:sym typeface="Calibri"/>
            </a:endParaRPr>
          </a:p>
        </p:txBody>
      </p:sp>
      <p:sp>
        <p:nvSpPr>
          <p:cNvPr id="31" name="Google Shape;31;p1"/>
          <p:cNvSpPr/>
          <p:nvPr/>
        </p:nvSpPr>
        <p:spPr>
          <a:xfrm>
            <a:off x="4206240" y="2414016"/>
            <a:ext cx="7680960" cy="1950720"/>
          </a:xfrm>
          <a:prstGeom prst="rect">
            <a:avLst/>
          </a:prstGeom>
          <a:solidFill>
            <a:srgbClr val="FFFFFF"/>
          </a:solidFill>
          <a:ln w="12700" cap="flat" cmpd="sng">
            <a:solidFill>
              <a:srgbClr val="E8EEF2"/>
            </a:solidFill>
            <a:prstDash val="solid"/>
            <a:round/>
            <a:headEnd type="none" w="sm" len="sm"/>
            <a:tailEnd type="none" w="sm" len="sm"/>
          </a:ln>
          <a:effectLst>
            <a:outerShdw blurRad="101600" dist="25400" dir="8100000" algn="bl" rotWithShape="0">
              <a:srgbClr val="000000">
                <a:alpha val="10196"/>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2" name="Google Shape;32;p1"/>
          <p:cNvSpPr/>
          <p:nvPr/>
        </p:nvSpPr>
        <p:spPr>
          <a:xfrm>
            <a:off x="4206240" y="2414016"/>
            <a:ext cx="73152" cy="1950720"/>
          </a:xfrm>
          <a:prstGeom prst="rect">
            <a:avLst/>
          </a:prstGeom>
          <a:solidFill>
            <a:srgbClr val="0D7C7C"/>
          </a:solidFill>
          <a:ln w="12700" cap="flat" cmpd="sng">
            <a:solidFill>
              <a:srgbClr val="0D7C7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3" name="Google Shape;33;p1"/>
          <p:cNvSpPr/>
          <p:nvPr/>
        </p:nvSpPr>
        <p:spPr>
          <a:xfrm>
            <a:off x="4389120" y="3072384"/>
            <a:ext cx="633984" cy="633984"/>
          </a:xfrm>
          <a:prstGeom prst="ellipse">
            <a:avLst/>
          </a:prstGeom>
          <a:solidFill>
            <a:srgbClr val="0D7C7C"/>
          </a:solidFill>
          <a:ln w="12700" cap="flat" cmpd="sng">
            <a:solidFill>
              <a:srgbClr val="0D7C7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34" name="Google Shape;34;p1" descr="preencoded.png"/>
          <p:cNvPicPr preferRelativeResize="0"/>
          <p:nvPr/>
        </p:nvPicPr>
        <p:blipFill rotWithShape="1">
          <a:blip r:embed="rId4">
            <a:alphaModFix/>
          </a:blip>
          <a:srcRect/>
          <a:stretch/>
        </p:blipFill>
        <p:spPr>
          <a:xfrm>
            <a:off x="4474464" y="3157728"/>
            <a:ext cx="463296" cy="463296"/>
          </a:xfrm>
          <a:prstGeom prst="rect">
            <a:avLst/>
          </a:prstGeom>
          <a:noFill/>
          <a:ln>
            <a:noFill/>
          </a:ln>
        </p:spPr>
      </p:pic>
      <p:sp>
        <p:nvSpPr>
          <p:cNvPr id="35" name="Google Shape;35;p1"/>
          <p:cNvSpPr/>
          <p:nvPr/>
        </p:nvSpPr>
        <p:spPr>
          <a:xfrm>
            <a:off x="5181600" y="2535936"/>
            <a:ext cx="6461760" cy="3413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0D7C7C"/>
              </a:buClr>
              <a:buSzPts val="850"/>
              <a:buFont typeface="Calibri"/>
              <a:buNone/>
            </a:pPr>
            <a:r>
              <a:rPr lang="en-US" sz="1133" b="1" i="0" u="none" strike="noStrike" cap="none">
                <a:solidFill>
                  <a:srgbClr val="0D7C7C"/>
                </a:solidFill>
                <a:latin typeface="Calibri"/>
                <a:ea typeface="Calibri"/>
                <a:cs typeface="Calibri"/>
                <a:sym typeface="Calibri"/>
              </a:rPr>
              <a:t>STEP 2</a:t>
            </a:r>
            <a:endParaRPr sz="1133" b="0" i="0" u="none" strike="noStrike" cap="none">
              <a:solidFill>
                <a:schemeClr val="dk1"/>
              </a:solidFill>
              <a:latin typeface="Calibri"/>
              <a:ea typeface="Calibri"/>
              <a:cs typeface="Calibri"/>
              <a:sym typeface="Calibri"/>
            </a:endParaRPr>
          </a:p>
        </p:txBody>
      </p:sp>
      <p:sp>
        <p:nvSpPr>
          <p:cNvPr id="36" name="Google Shape;36;p1"/>
          <p:cNvSpPr/>
          <p:nvPr/>
        </p:nvSpPr>
        <p:spPr>
          <a:xfrm>
            <a:off x="5181600" y="2804160"/>
            <a:ext cx="6522720" cy="36576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1150"/>
              <a:buFont typeface="Calibri"/>
              <a:buNone/>
            </a:pPr>
            <a:r>
              <a:rPr lang="en-US" sz="1533" b="1" i="0" u="none" strike="noStrike" cap="none">
                <a:solidFill>
                  <a:srgbClr val="1E2A38"/>
                </a:solidFill>
                <a:latin typeface="Calibri"/>
                <a:ea typeface="Calibri"/>
                <a:cs typeface="Calibri"/>
                <a:sym typeface="Calibri"/>
              </a:rPr>
              <a:t>Design ONE AI-supported learning activity that:</a:t>
            </a:r>
            <a:endParaRPr sz="1533" b="0" i="0" u="none" strike="noStrike" cap="none">
              <a:solidFill>
                <a:schemeClr val="dk1"/>
              </a:solidFill>
              <a:latin typeface="Calibri"/>
              <a:ea typeface="Calibri"/>
              <a:cs typeface="Calibri"/>
              <a:sym typeface="Calibri"/>
            </a:endParaRPr>
          </a:p>
        </p:txBody>
      </p:sp>
      <p:sp>
        <p:nvSpPr>
          <p:cNvPr id="37" name="Google Shape;37;p1"/>
          <p:cNvSpPr/>
          <p:nvPr/>
        </p:nvSpPr>
        <p:spPr>
          <a:xfrm>
            <a:off x="5205984" y="3169920"/>
            <a:ext cx="6461760" cy="1072896"/>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Addresses at least one </a:t>
            </a:r>
            <a:r>
              <a:rPr lang="en-US" sz="1667">
                <a:solidFill>
                  <a:srgbClr val="6B7C93"/>
                </a:solidFill>
                <a:latin typeface="Calibri"/>
                <a:ea typeface="Calibri"/>
                <a:cs typeface="Calibri"/>
                <a:sym typeface="Calibri"/>
              </a:rPr>
              <a:t>aforementioned</a:t>
            </a:r>
            <a:r>
              <a:rPr lang="en-US" sz="1667" b="0" i="0" u="none" strike="noStrike" cap="none">
                <a:solidFill>
                  <a:srgbClr val="6B7C93"/>
                </a:solidFill>
                <a:latin typeface="Calibri"/>
                <a:ea typeface="Calibri"/>
                <a:cs typeface="Calibri"/>
                <a:sym typeface="Calibri"/>
              </a:rPr>
              <a:t> risk (e.g., overreliance, bias, reduced learner agency)</a:t>
            </a:r>
            <a:endParaRPr sz="1667" b="0" i="0" u="none" strike="noStrike" cap="none">
              <a:solidFill>
                <a:schemeClr val="dk1"/>
              </a:solidFill>
              <a:latin typeface="Calibri"/>
              <a:ea typeface="Calibri"/>
              <a:cs typeface="Calibri"/>
              <a:sym typeface="Calibri"/>
            </a:endParaRPr>
          </a:p>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Includes a human-centered checkpoint (e.g., reflection, peer interaction)</a:t>
            </a:r>
            <a:endParaRPr sz="1667" b="0" i="0" u="none" strike="noStrike" cap="none">
              <a:solidFill>
                <a:schemeClr val="dk1"/>
              </a:solidFill>
              <a:latin typeface="Calibri"/>
              <a:ea typeface="Calibri"/>
              <a:cs typeface="Calibri"/>
              <a:sym typeface="Calibri"/>
            </a:endParaRPr>
          </a:p>
        </p:txBody>
      </p:sp>
      <p:sp>
        <p:nvSpPr>
          <p:cNvPr id="38" name="Google Shape;38;p1"/>
          <p:cNvSpPr/>
          <p:nvPr/>
        </p:nvSpPr>
        <p:spPr>
          <a:xfrm>
            <a:off x="4206240" y="4486656"/>
            <a:ext cx="7680960" cy="2097024"/>
          </a:xfrm>
          <a:prstGeom prst="rect">
            <a:avLst/>
          </a:prstGeom>
          <a:solidFill>
            <a:srgbClr val="FFFFFF"/>
          </a:solidFill>
          <a:ln w="12700" cap="flat" cmpd="sng">
            <a:solidFill>
              <a:srgbClr val="E8EEF2"/>
            </a:solidFill>
            <a:prstDash val="solid"/>
            <a:round/>
            <a:headEnd type="none" w="sm" len="sm"/>
            <a:tailEnd type="none" w="sm" len="sm"/>
          </a:ln>
          <a:effectLst>
            <a:outerShdw blurRad="101600" dist="25400" dir="8100000" algn="bl" rotWithShape="0">
              <a:srgbClr val="000000">
                <a:alpha val="10196"/>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39" name="Google Shape;39;p1"/>
          <p:cNvSpPr/>
          <p:nvPr/>
        </p:nvSpPr>
        <p:spPr>
          <a:xfrm>
            <a:off x="4206240" y="4486656"/>
            <a:ext cx="73152" cy="2097024"/>
          </a:xfrm>
          <a:prstGeom prst="rect">
            <a:avLst/>
          </a:prstGeom>
          <a:solidFill>
            <a:srgbClr val="D4820A"/>
          </a:solidFill>
          <a:ln w="12700" cap="flat" cmpd="sng">
            <a:solidFill>
              <a:srgbClr val="D4820A"/>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40" name="Google Shape;40;p1"/>
          <p:cNvSpPr/>
          <p:nvPr/>
        </p:nvSpPr>
        <p:spPr>
          <a:xfrm>
            <a:off x="4389120" y="5218176"/>
            <a:ext cx="633984" cy="633984"/>
          </a:xfrm>
          <a:prstGeom prst="ellipse">
            <a:avLst/>
          </a:prstGeom>
          <a:solidFill>
            <a:srgbClr val="D4820A"/>
          </a:solidFill>
          <a:ln w="12700" cap="flat" cmpd="sng">
            <a:solidFill>
              <a:srgbClr val="D4820A"/>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41" name="Google Shape;41;p1" descr="preencoded.png"/>
          <p:cNvPicPr preferRelativeResize="0"/>
          <p:nvPr/>
        </p:nvPicPr>
        <p:blipFill rotWithShape="1">
          <a:blip r:embed="rId5">
            <a:alphaModFix/>
          </a:blip>
          <a:srcRect/>
          <a:stretch/>
        </p:blipFill>
        <p:spPr>
          <a:xfrm>
            <a:off x="4474464" y="5303520"/>
            <a:ext cx="463296" cy="463296"/>
          </a:xfrm>
          <a:prstGeom prst="rect">
            <a:avLst/>
          </a:prstGeom>
          <a:noFill/>
          <a:ln>
            <a:noFill/>
          </a:ln>
        </p:spPr>
      </p:pic>
      <p:sp>
        <p:nvSpPr>
          <p:cNvPr id="42" name="Google Shape;42;p1"/>
          <p:cNvSpPr/>
          <p:nvPr/>
        </p:nvSpPr>
        <p:spPr>
          <a:xfrm>
            <a:off x="5181600" y="4608576"/>
            <a:ext cx="6461760" cy="3413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D4820A"/>
              </a:buClr>
              <a:buSzPts val="850"/>
              <a:buFont typeface="Calibri"/>
              <a:buNone/>
            </a:pPr>
            <a:r>
              <a:rPr lang="en-US" sz="1133" b="1" i="0" u="none" strike="noStrike" cap="none">
                <a:solidFill>
                  <a:srgbClr val="D4820A"/>
                </a:solidFill>
                <a:latin typeface="Calibri"/>
                <a:ea typeface="Calibri"/>
                <a:cs typeface="Calibri"/>
                <a:sym typeface="Calibri"/>
              </a:rPr>
              <a:t>STEP 3</a:t>
            </a:r>
            <a:endParaRPr sz="1133" b="0" i="0" u="none" strike="noStrike" cap="none">
              <a:solidFill>
                <a:schemeClr val="dk1"/>
              </a:solidFill>
              <a:latin typeface="Calibri"/>
              <a:ea typeface="Calibri"/>
              <a:cs typeface="Calibri"/>
              <a:sym typeface="Calibri"/>
            </a:endParaRPr>
          </a:p>
        </p:txBody>
      </p:sp>
      <p:sp>
        <p:nvSpPr>
          <p:cNvPr id="43" name="Google Shape;43;p1"/>
          <p:cNvSpPr/>
          <p:nvPr/>
        </p:nvSpPr>
        <p:spPr>
          <a:xfrm>
            <a:off x="5181600" y="4876800"/>
            <a:ext cx="6522720" cy="36576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1150"/>
              <a:buFont typeface="Calibri"/>
              <a:buNone/>
            </a:pPr>
            <a:r>
              <a:rPr lang="en-US" sz="1533" b="1" i="0" u="none" strike="noStrike" cap="none">
                <a:solidFill>
                  <a:srgbClr val="1E2A38"/>
                </a:solidFill>
                <a:latin typeface="Calibri"/>
                <a:ea typeface="Calibri"/>
                <a:cs typeface="Calibri"/>
                <a:sym typeface="Calibri"/>
              </a:rPr>
              <a:t>Your design must include:</a:t>
            </a:r>
            <a:endParaRPr sz="1533" b="0" i="0" u="none" strike="noStrike" cap="none">
              <a:solidFill>
                <a:schemeClr val="dk1"/>
              </a:solidFill>
              <a:latin typeface="Calibri"/>
              <a:ea typeface="Calibri"/>
              <a:cs typeface="Calibri"/>
              <a:sym typeface="Calibri"/>
            </a:endParaRPr>
          </a:p>
        </p:txBody>
      </p:sp>
      <p:sp>
        <p:nvSpPr>
          <p:cNvPr id="44" name="Google Shape;44;p1"/>
          <p:cNvSpPr/>
          <p:nvPr/>
        </p:nvSpPr>
        <p:spPr>
          <a:xfrm>
            <a:off x="5205984" y="5242560"/>
            <a:ext cx="6461760" cy="1219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A clear learning goal</a:t>
            </a:r>
            <a:endParaRPr sz="1667" b="0" i="0" u="none" strike="noStrike" cap="none">
              <a:solidFill>
                <a:schemeClr val="dk1"/>
              </a:solidFill>
              <a:latin typeface="Calibri"/>
              <a:ea typeface="Calibri"/>
              <a:cs typeface="Calibri"/>
              <a:sym typeface="Calibri"/>
            </a:endParaRPr>
          </a:p>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A limited and well-defined role of AI</a:t>
            </a:r>
            <a:endParaRPr sz="1667" b="0" i="0" u="none" strike="noStrike" cap="none">
              <a:solidFill>
                <a:schemeClr val="dk1"/>
              </a:solidFill>
              <a:latin typeface="Calibri"/>
              <a:ea typeface="Calibri"/>
              <a:cs typeface="Calibri"/>
              <a:sym typeface="Calibri"/>
            </a:endParaRPr>
          </a:p>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At least one safeguard to support ML equity</a:t>
            </a:r>
            <a:endParaRPr sz="1667" b="0" i="0" u="none" strike="noStrike" cap="none">
              <a:solidFill>
                <a:schemeClr val="dk1"/>
              </a:solidFill>
              <a:latin typeface="Calibri"/>
              <a:ea typeface="Calibri"/>
              <a:cs typeface="Calibri"/>
              <a:sym typeface="Calibri"/>
            </a:endParaRPr>
          </a:p>
          <a:p>
            <a:pPr marL="457189" marR="0" lvl="0" indent="-482588" algn="l" rtl="0">
              <a:spcBef>
                <a:spcPts val="0"/>
              </a:spcBef>
              <a:spcAft>
                <a:spcPts val="0"/>
              </a:spcAft>
              <a:buClr>
                <a:srgbClr val="6B7C93"/>
              </a:buClr>
              <a:buSzPts val="1250"/>
              <a:buFont typeface="Calibri"/>
              <a:buChar char="•"/>
            </a:pPr>
            <a:r>
              <a:rPr lang="en-US" sz="1667" b="0" i="0" u="none" strike="noStrike" cap="none">
                <a:solidFill>
                  <a:srgbClr val="6B7C93"/>
                </a:solidFill>
                <a:latin typeface="Calibri"/>
                <a:ea typeface="Calibri"/>
                <a:cs typeface="Calibri"/>
                <a:sym typeface="Calibri"/>
              </a:rPr>
              <a:t>Be prepared to explain how research informed your design choices</a:t>
            </a:r>
            <a:endParaRPr sz="1667"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12209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8F8"/>
        </a:solidFill>
        <a:effectLst/>
      </p:bgPr>
    </p:bg>
    <p:spTree>
      <p:nvGrpSpPr>
        <p:cNvPr id="1" name="Shape 49"/>
        <p:cNvGrpSpPr/>
        <p:nvPr/>
      </p:nvGrpSpPr>
      <p:grpSpPr>
        <a:xfrm>
          <a:off x="0" y="0"/>
          <a:ext cx="0" cy="0"/>
          <a:chOff x="0" y="0"/>
          <a:chExt cx="0" cy="0"/>
        </a:xfrm>
      </p:grpSpPr>
      <p:sp>
        <p:nvSpPr>
          <p:cNvPr id="50" name="Google Shape;50;p3"/>
          <p:cNvSpPr/>
          <p:nvPr/>
        </p:nvSpPr>
        <p:spPr>
          <a:xfrm>
            <a:off x="0" y="0"/>
            <a:ext cx="12192000" cy="755904"/>
          </a:xfrm>
          <a:prstGeom prst="rect">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1" name="Google Shape;51;p3"/>
          <p:cNvSpPr/>
          <p:nvPr/>
        </p:nvSpPr>
        <p:spPr>
          <a:xfrm>
            <a:off x="365760" y="0"/>
            <a:ext cx="6705600" cy="75590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FFFFFF"/>
              </a:buClr>
              <a:buSzPts val="1700"/>
              <a:buFont typeface="Calibri"/>
              <a:buNone/>
            </a:pPr>
            <a:r>
              <a:rPr lang="en-US" sz="2267" b="1" i="0" u="none" strike="noStrike" cap="none">
                <a:solidFill>
                  <a:srgbClr val="FFFFFF"/>
                </a:solidFill>
                <a:latin typeface="Calibri"/>
                <a:ea typeface="Calibri"/>
                <a:cs typeface="Calibri"/>
                <a:sym typeface="Calibri"/>
              </a:rPr>
              <a:t>Activity 2 — Design Template</a:t>
            </a:r>
            <a:endParaRPr sz="2267" b="0" i="0" u="none" strike="noStrike" cap="none">
              <a:solidFill>
                <a:schemeClr val="dk1"/>
              </a:solidFill>
              <a:latin typeface="Calibri"/>
              <a:ea typeface="Calibri"/>
              <a:cs typeface="Calibri"/>
              <a:sym typeface="Calibri"/>
            </a:endParaRPr>
          </a:p>
        </p:txBody>
      </p:sp>
      <p:sp>
        <p:nvSpPr>
          <p:cNvPr id="52" name="Google Shape;52;p3"/>
          <p:cNvSpPr/>
          <p:nvPr/>
        </p:nvSpPr>
        <p:spPr>
          <a:xfrm>
            <a:off x="7193280" y="121920"/>
            <a:ext cx="1463040" cy="463296"/>
          </a:xfrm>
          <a:prstGeom prst="rect">
            <a:avLst/>
          </a:prstGeom>
          <a:solidFill>
            <a:srgbClr val="D4820A"/>
          </a:solidFill>
          <a:ln w="12700" cap="flat" cmpd="sng">
            <a:solidFill>
              <a:srgbClr val="D4820A"/>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3" name="Google Shape;53;p3"/>
          <p:cNvSpPr/>
          <p:nvPr/>
        </p:nvSpPr>
        <p:spPr>
          <a:xfrm>
            <a:off x="7193280" y="121920"/>
            <a:ext cx="1463040" cy="46329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Clr>
                <a:srgbClr val="FFFFFF"/>
              </a:buClr>
              <a:buSzPts val="1000"/>
              <a:buFont typeface="Calibri"/>
              <a:buNone/>
            </a:pPr>
            <a:r>
              <a:rPr lang="en-US" sz="1333" b="1" i="0" u="none" strike="noStrike" cap="none">
                <a:solidFill>
                  <a:srgbClr val="FFFFFF"/>
                </a:solidFill>
                <a:latin typeface="Calibri"/>
                <a:ea typeface="Calibri"/>
                <a:cs typeface="Calibri"/>
                <a:sym typeface="Calibri"/>
              </a:rPr>
              <a:t>★  DEMO</a:t>
            </a:r>
            <a:endParaRPr sz="1333" b="0" i="0" u="none" strike="noStrike" cap="none">
              <a:solidFill>
                <a:schemeClr val="dk1"/>
              </a:solidFill>
              <a:latin typeface="Calibri"/>
              <a:ea typeface="Calibri"/>
              <a:cs typeface="Calibri"/>
              <a:sym typeface="Calibri"/>
            </a:endParaRPr>
          </a:p>
        </p:txBody>
      </p:sp>
      <p:sp>
        <p:nvSpPr>
          <p:cNvPr id="54" name="Google Shape;54;p3"/>
          <p:cNvSpPr/>
          <p:nvPr/>
        </p:nvSpPr>
        <p:spPr>
          <a:xfrm>
            <a:off x="8778240" y="0"/>
            <a:ext cx="3230880" cy="75590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r" rtl="0">
              <a:spcBef>
                <a:spcPts val="0"/>
              </a:spcBef>
              <a:spcAft>
                <a:spcPts val="0"/>
              </a:spcAft>
              <a:buClr>
                <a:srgbClr val="A8C8E0"/>
              </a:buClr>
              <a:buSzPts val="950"/>
              <a:buFont typeface="Calibri"/>
              <a:buNone/>
            </a:pPr>
            <a:r>
              <a:rPr lang="en-US" sz="1267" b="0" i="1" u="none" strike="noStrike" cap="none">
                <a:solidFill>
                  <a:srgbClr val="A8C8E0"/>
                </a:solidFill>
                <a:latin typeface="Calibri"/>
                <a:ea typeface="Calibri"/>
                <a:cs typeface="Calibri"/>
                <a:sym typeface="Calibri"/>
              </a:rPr>
              <a:t>Graduate-level Multilingual Writing Course</a:t>
            </a:r>
            <a:endParaRPr sz="1267" b="0" i="0" u="none" strike="noStrike" cap="none">
              <a:solidFill>
                <a:schemeClr val="dk1"/>
              </a:solidFill>
              <a:latin typeface="Calibri"/>
              <a:ea typeface="Calibri"/>
              <a:cs typeface="Calibri"/>
              <a:sym typeface="Calibri"/>
            </a:endParaRPr>
          </a:p>
        </p:txBody>
      </p:sp>
      <p:sp>
        <p:nvSpPr>
          <p:cNvPr id="55" name="Google Shape;55;p3"/>
          <p:cNvSpPr/>
          <p:nvPr/>
        </p:nvSpPr>
        <p:spPr>
          <a:xfrm>
            <a:off x="182880" y="914400"/>
            <a:ext cx="11643360" cy="463296"/>
          </a:xfrm>
          <a:prstGeom prst="rect">
            <a:avLst/>
          </a:prstGeom>
          <a:solidFill>
            <a:srgbClr val="0D7C7C"/>
          </a:solidFill>
          <a:ln w="12700" cap="flat" cmpd="sng">
            <a:solidFill>
              <a:srgbClr val="0D7C7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
        <p:nvSpPr>
          <p:cNvPr id="56" name="Google Shape;56;p3"/>
          <p:cNvSpPr/>
          <p:nvPr/>
        </p:nvSpPr>
        <p:spPr>
          <a:xfrm>
            <a:off x="280416" y="914400"/>
            <a:ext cx="2157984" cy="46329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FFFFFF"/>
              </a:buClr>
              <a:buSzPts val="1000"/>
              <a:buFont typeface="Calibri"/>
              <a:buNone/>
            </a:pPr>
            <a:r>
              <a:rPr lang="en-US" sz="1333" b="1" i="0" u="none" strike="noStrike" cap="none">
                <a:solidFill>
                  <a:srgbClr val="FFFFFF"/>
                </a:solidFill>
                <a:latin typeface="Calibri"/>
                <a:ea typeface="Calibri"/>
                <a:cs typeface="Calibri"/>
                <a:sym typeface="Calibri"/>
              </a:rPr>
              <a:t>Element</a:t>
            </a:r>
            <a:endParaRPr sz="1333" b="0" i="0" u="none" strike="noStrike" cap="none">
              <a:solidFill>
                <a:schemeClr val="dk1"/>
              </a:solidFill>
              <a:latin typeface="Calibri"/>
              <a:ea typeface="Calibri"/>
              <a:cs typeface="Calibri"/>
              <a:sym typeface="Calibri"/>
            </a:endParaRPr>
          </a:p>
        </p:txBody>
      </p:sp>
      <p:sp>
        <p:nvSpPr>
          <p:cNvPr id="57" name="Google Shape;57;p3"/>
          <p:cNvSpPr/>
          <p:nvPr/>
        </p:nvSpPr>
        <p:spPr>
          <a:xfrm>
            <a:off x="2535936" y="914400"/>
            <a:ext cx="4779264" cy="46329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FFFFFF"/>
              </a:buClr>
              <a:buSzPts val="1000"/>
              <a:buFont typeface="Calibri"/>
              <a:buNone/>
            </a:pPr>
            <a:r>
              <a:rPr lang="en-US" sz="1333" b="1" i="0" u="none" strike="noStrike" cap="none">
                <a:solidFill>
                  <a:srgbClr val="FFFFFF"/>
                </a:solidFill>
                <a:latin typeface="Calibri"/>
                <a:ea typeface="Calibri"/>
                <a:cs typeface="Calibri"/>
                <a:sym typeface="Calibri"/>
              </a:rPr>
              <a:t>Your Design  (Activity 2)</a:t>
            </a:r>
            <a:endParaRPr sz="1333" b="0" i="0" u="none" strike="noStrike" cap="none">
              <a:solidFill>
                <a:schemeClr val="dk1"/>
              </a:solidFill>
              <a:latin typeface="Calibri"/>
              <a:ea typeface="Calibri"/>
              <a:cs typeface="Calibri"/>
              <a:sym typeface="Calibri"/>
            </a:endParaRPr>
          </a:p>
        </p:txBody>
      </p:sp>
      <p:sp>
        <p:nvSpPr>
          <p:cNvPr id="58" name="Google Shape;58;p3"/>
          <p:cNvSpPr/>
          <p:nvPr/>
        </p:nvSpPr>
        <p:spPr>
          <a:xfrm>
            <a:off x="7412736" y="914400"/>
            <a:ext cx="4413504" cy="46329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FFFFFF"/>
              </a:buClr>
              <a:buSzPts val="1000"/>
              <a:buFont typeface="Calibri"/>
              <a:buNone/>
            </a:pPr>
            <a:r>
              <a:rPr lang="en-US" sz="1333" b="1" i="0" u="none" strike="noStrike" cap="none">
                <a:solidFill>
                  <a:srgbClr val="FFFFFF"/>
                </a:solidFill>
                <a:latin typeface="Calibri"/>
                <a:ea typeface="Calibri"/>
                <a:cs typeface="Calibri"/>
                <a:sym typeface="Calibri"/>
              </a:rPr>
              <a:t>Peer Critique  (evidence-based)</a:t>
            </a:r>
            <a:endParaRPr sz="1333" b="0" i="0" u="none" strike="noStrike" cap="none">
              <a:solidFill>
                <a:schemeClr val="dk1"/>
              </a:solidFill>
              <a:latin typeface="Calibri"/>
              <a:ea typeface="Calibri"/>
              <a:cs typeface="Calibri"/>
              <a:sym typeface="Calibri"/>
            </a:endParaRPr>
          </a:p>
        </p:txBody>
      </p:sp>
      <p:sp>
        <p:nvSpPr>
          <p:cNvPr id="59" name="Google Shape;59;p3"/>
          <p:cNvSpPr/>
          <p:nvPr/>
        </p:nvSpPr>
        <p:spPr>
          <a:xfrm>
            <a:off x="182880" y="1377696"/>
            <a:ext cx="11643360" cy="560832"/>
          </a:xfrm>
          <a:prstGeom prst="rect">
            <a:avLst/>
          </a:prstGeom>
          <a:solidFill>
            <a:srgbClr val="FFFFFF"/>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60" name="Google Shape;60;p3"/>
          <p:cNvCxnSpPr/>
          <p:nvPr/>
        </p:nvCxnSpPr>
        <p:spPr>
          <a:xfrm>
            <a:off x="2438400" y="1377696"/>
            <a:ext cx="0" cy="560832"/>
          </a:xfrm>
          <a:prstGeom prst="straightConnector1">
            <a:avLst/>
          </a:prstGeom>
          <a:noFill/>
          <a:ln w="12700" cap="flat" cmpd="sng">
            <a:solidFill>
              <a:srgbClr val="E8EEF2"/>
            </a:solidFill>
            <a:prstDash val="solid"/>
            <a:round/>
            <a:headEnd type="none" w="sm" len="sm"/>
            <a:tailEnd type="none" w="sm" len="sm"/>
          </a:ln>
        </p:spPr>
      </p:cxnSp>
      <p:cxnSp>
        <p:nvCxnSpPr>
          <p:cNvPr id="61" name="Google Shape;61;p3"/>
          <p:cNvCxnSpPr/>
          <p:nvPr/>
        </p:nvCxnSpPr>
        <p:spPr>
          <a:xfrm>
            <a:off x="7315200" y="1377696"/>
            <a:ext cx="0" cy="560832"/>
          </a:xfrm>
          <a:prstGeom prst="straightConnector1">
            <a:avLst/>
          </a:prstGeom>
          <a:noFill/>
          <a:ln w="12700" cap="flat" cmpd="sng">
            <a:solidFill>
              <a:srgbClr val="E8EEF2"/>
            </a:solidFill>
            <a:prstDash val="solid"/>
            <a:round/>
            <a:headEnd type="none" w="sm" len="sm"/>
            <a:tailEnd type="none" w="sm" len="sm"/>
          </a:ln>
        </p:spPr>
      </p:cxnSp>
      <p:sp>
        <p:nvSpPr>
          <p:cNvPr id="62" name="Google Shape;62;p3"/>
          <p:cNvSpPr/>
          <p:nvPr/>
        </p:nvSpPr>
        <p:spPr>
          <a:xfrm>
            <a:off x="304800" y="1487424"/>
            <a:ext cx="341376" cy="341376"/>
          </a:xfrm>
          <a:prstGeom prst="ellipse">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63" name="Google Shape;63;p3" descr="preencoded.png"/>
          <p:cNvPicPr preferRelativeResize="0"/>
          <p:nvPr/>
        </p:nvPicPr>
        <p:blipFill rotWithShape="1">
          <a:blip r:embed="rId3">
            <a:alphaModFix/>
          </a:blip>
          <a:srcRect/>
          <a:stretch/>
        </p:blipFill>
        <p:spPr>
          <a:xfrm>
            <a:off x="365760" y="1548384"/>
            <a:ext cx="219456" cy="219456"/>
          </a:xfrm>
          <a:prstGeom prst="rect">
            <a:avLst/>
          </a:prstGeom>
          <a:noFill/>
          <a:ln>
            <a:noFill/>
          </a:ln>
        </p:spPr>
      </p:pic>
      <p:sp>
        <p:nvSpPr>
          <p:cNvPr id="64" name="Google Shape;64;p3"/>
          <p:cNvSpPr/>
          <p:nvPr/>
        </p:nvSpPr>
        <p:spPr>
          <a:xfrm>
            <a:off x="743712" y="1377696"/>
            <a:ext cx="1645920" cy="56083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Context chosen</a:t>
            </a:r>
            <a:endParaRPr sz="1133" b="0" i="0" u="none" strike="noStrike" cap="none">
              <a:solidFill>
                <a:schemeClr val="dk1"/>
              </a:solidFill>
              <a:latin typeface="Calibri"/>
              <a:ea typeface="Calibri"/>
              <a:cs typeface="Calibri"/>
              <a:sym typeface="Calibri"/>
            </a:endParaRPr>
          </a:p>
        </p:txBody>
      </p:sp>
      <p:sp>
        <p:nvSpPr>
          <p:cNvPr id="65" name="Google Shape;65;p3"/>
          <p:cNvSpPr/>
          <p:nvPr/>
        </p:nvSpPr>
        <p:spPr>
          <a:xfrm>
            <a:off x="2560320" y="1438656"/>
            <a:ext cx="4657344" cy="43891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80"/>
              <a:buFont typeface="Calibri"/>
              <a:buNone/>
            </a:pPr>
            <a:r>
              <a:rPr lang="en-US" sz="1173" b="1" i="0" u="none" strike="noStrike" cap="none">
                <a:solidFill>
                  <a:srgbClr val="1E2A38"/>
                </a:solidFill>
                <a:latin typeface="Calibri"/>
                <a:ea typeface="Calibri"/>
                <a:cs typeface="Calibri"/>
                <a:sym typeface="Calibri"/>
              </a:rPr>
              <a:t>Graduate-level multilingual writing course</a:t>
            </a:r>
            <a:endParaRPr sz="1173" b="0" i="0" u="none" strike="noStrike" cap="none">
              <a:solidFill>
                <a:schemeClr val="dk1"/>
              </a:solidFill>
              <a:latin typeface="Calibri"/>
              <a:ea typeface="Calibri"/>
              <a:cs typeface="Calibri"/>
              <a:sym typeface="Calibri"/>
            </a:endParaRPr>
          </a:p>
        </p:txBody>
      </p:sp>
      <p:sp>
        <p:nvSpPr>
          <p:cNvPr id="66" name="Google Shape;66;p3"/>
          <p:cNvSpPr/>
          <p:nvPr/>
        </p:nvSpPr>
        <p:spPr>
          <a:xfrm>
            <a:off x="182880" y="1938528"/>
            <a:ext cx="11643360" cy="755904"/>
          </a:xfrm>
          <a:prstGeom prst="rect">
            <a:avLst/>
          </a:prstGeom>
          <a:solidFill>
            <a:srgbClr val="F4F8F8"/>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67" name="Google Shape;67;p3"/>
          <p:cNvCxnSpPr/>
          <p:nvPr/>
        </p:nvCxnSpPr>
        <p:spPr>
          <a:xfrm>
            <a:off x="2438400" y="1938528"/>
            <a:ext cx="0" cy="755904"/>
          </a:xfrm>
          <a:prstGeom prst="straightConnector1">
            <a:avLst/>
          </a:prstGeom>
          <a:noFill/>
          <a:ln w="12700" cap="flat" cmpd="sng">
            <a:solidFill>
              <a:srgbClr val="E8EEF2"/>
            </a:solidFill>
            <a:prstDash val="solid"/>
            <a:round/>
            <a:headEnd type="none" w="sm" len="sm"/>
            <a:tailEnd type="none" w="sm" len="sm"/>
          </a:ln>
        </p:spPr>
      </p:cxnSp>
      <p:cxnSp>
        <p:nvCxnSpPr>
          <p:cNvPr id="68" name="Google Shape;68;p3"/>
          <p:cNvCxnSpPr/>
          <p:nvPr/>
        </p:nvCxnSpPr>
        <p:spPr>
          <a:xfrm>
            <a:off x="7315200" y="1938528"/>
            <a:ext cx="0" cy="755904"/>
          </a:xfrm>
          <a:prstGeom prst="straightConnector1">
            <a:avLst/>
          </a:prstGeom>
          <a:noFill/>
          <a:ln w="12700" cap="flat" cmpd="sng">
            <a:solidFill>
              <a:srgbClr val="E8EEF2"/>
            </a:solidFill>
            <a:prstDash val="solid"/>
            <a:round/>
            <a:headEnd type="none" w="sm" len="sm"/>
            <a:tailEnd type="none" w="sm" len="sm"/>
          </a:ln>
        </p:spPr>
      </p:cxnSp>
      <p:sp>
        <p:nvSpPr>
          <p:cNvPr id="69" name="Google Shape;69;p3"/>
          <p:cNvSpPr/>
          <p:nvPr/>
        </p:nvSpPr>
        <p:spPr>
          <a:xfrm>
            <a:off x="304800" y="2145792"/>
            <a:ext cx="341376" cy="341376"/>
          </a:xfrm>
          <a:prstGeom prst="ellipse">
            <a:avLst/>
          </a:prstGeom>
          <a:solidFill>
            <a:srgbClr val="0D7C7C"/>
          </a:solidFill>
          <a:ln w="12700" cap="flat" cmpd="sng">
            <a:solidFill>
              <a:srgbClr val="0D7C7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70" name="Google Shape;70;p3" descr="preencoded.png"/>
          <p:cNvPicPr preferRelativeResize="0"/>
          <p:nvPr/>
        </p:nvPicPr>
        <p:blipFill rotWithShape="1">
          <a:blip r:embed="rId4">
            <a:alphaModFix/>
          </a:blip>
          <a:srcRect/>
          <a:stretch/>
        </p:blipFill>
        <p:spPr>
          <a:xfrm>
            <a:off x="365760" y="2206752"/>
            <a:ext cx="219456" cy="219456"/>
          </a:xfrm>
          <a:prstGeom prst="rect">
            <a:avLst/>
          </a:prstGeom>
          <a:noFill/>
          <a:ln>
            <a:noFill/>
          </a:ln>
        </p:spPr>
      </p:pic>
      <p:sp>
        <p:nvSpPr>
          <p:cNvPr id="71" name="Google Shape;71;p3"/>
          <p:cNvSpPr/>
          <p:nvPr/>
        </p:nvSpPr>
        <p:spPr>
          <a:xfrm>
            <a:off x="743712" y="1938528"/>
            <a:ext cx="1645920" cy="75590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Learning objective</a:t>
            </a:r>
            <a:endParaRPr sz="1133" b="0" i="0" u="none" strike="noStrike" cap="none">
              <a:solidFill>
                <a:schemeClr val="dk1"/>
              </a:solidFill>
              <a:latin typeface="Calibri"/>
              <a:ea typeface="Calibri"/>
              <a:cs typeface="Calibri"/>
              <a:sym typeface="Calibri"/>
            </a:endParaRPr>
          </a:p>
        </p:txBody>
      </p:sp>
      <p:sp>
        <p:nvSpPr>
          <p:cNvPr id="72" name="Google Shape;72;p3"/>
          <p:cNvSpPr/>
          <p:nvPr/>
        </p:nvSpPr>
        <p:spPr>
          <a:xfrm>
            <a:off x="2560320" y="1999488"/>
            <a:ext cx="4657344" cy="6339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80"/>
              <a:buFont typeface="Calibri"/>
              <a:buNone/>
            </a:pPr>
            <a:r>
              <a:rPr lang="en-US" sz="1173" b="0" i="0" u="none" strike="noStrike" cap="none">
                <a:solidFill>
                  <a:srgbClr val="1E2A38"/>
                </a:solidFill>
                <a:latin typeface="Calibri"/>
                <a:ea typeface="Calibri"/>
                <a:cs typeface="Calibri"/>
                <a:sym typeface="Calibri"/>
              </a:rPr>
              <a:t>Students will revise an argumentative paragraph using AI feedback while preserving their own rhetorical choices and linguistic voice.</a:t>
            </a:r>
            <a:endParaRPr sz="1173" b="0" i="0" u="none" strike="noStrike" cap="none">
              <a:solidFill>
                <a:schemeClr val="dk1"/>
              </a:solidFill>
              <a:latin typeface="Calibri"/>
              <a:ea typeface="Calibri"/>
              <a:cs typeface="Calibri"/>
              <a:sym typeface="Calibri"/>
            </a:endParaRPr>
          </a:p>
        </p:txBody>
      </p:sp>
      <p:sp>
        <p:nvSpPr>
          <p:cNvPr id="73" name="Google Shape;73;p3"/>
          <p:cNvSpPr/>
          <p:nvPr/>
        </p:nvSpPr>
        <p:spPr>
          <a:xfrm>
            <a:off x="7437120" y="1999488"/>
            <a:ext cx="4291584" cy="6339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2E6B27"/>
              </a:buClr>
              <a:buSzPts val="850"/>
              <a:buFont typeface="Calibri"/>
              <a:buNone/>
            </a:pPr>
            <a:r>
              <a:rPr lang="en-US" sz="1133" b="0" i="1" u="none" strike="noStrike" cap="none">
                <a:solidFill>
                  <a:srgbClr val="2E6B27"/>
                </a:solidFill>
                <a:latin typeface="Calibri"/>
                <a:ea typeface="Calibri"/>
                <a:cs typeface="Calibri"/>
                <a:sym typeface="Calibri"/>
              </a:rPr>
              <a:t>Li et al. (2023) supports AI feedback for revision gains — but does this protect L1 transfer or suppress it?</a:t>
            </a:r>
            <a:endParaRPr sz="1133" b="0" i="0" u="none" strike="noStrike" cap="none">
              <a:solidFill>
                <a:schemeClr val="dk1"/>
              </a:solidFill>
              <a:latin typeface="Calibri"/>
              <a:ea typeface="Calibri"/>
              <a:cs typeface="Calibri"/>
              <a:sym typeface="Calibri"/>
            </a:endParaRPr>
          </a:p>
        </p:txBody>
      </p:sp>
      <p:sp>
        <p:nvSpPr>
          <p:cNvPr id="74" name="Google Shape;74;p3"/>
          <p:cNvSpPr/>
          <p:nvPr/>
        </p:nvSpPr>
        <p:spPr>
          <a:xfrm>
            <a:off x="182880" y="2694432"/>
            <a:ext cx="11643360" cy="755904"/>
          </a:xfrm>
          <a:prstGeom prst="rect">
            <a:avLst/>
          </a:prstGeom>
          <a:solidFill>
            <a:srgbClr val="FFFFFF"/>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75" name="Google Shape;75;p3"/>
          <p:cNvCxnSpPr/>
          <p:nvPr/>
        </p:nvCxnSpPr>
        <p:spPr>
          <a:xfrm>
            <a:off x="2438400" y="2694432"/>
            <a:ext cx="0" cy="755904"/>
          </a:xfrm>
          <a:prstGeom prst="straightConnector1">
            <a:avLst/>
          </a:prstGeom>
          <a:noFill/>
          <a:ln w="12700" cap="flat" cmpd="sng">
            <a:solidFill>
              <a:srgbClr val="E8EEF2"/>
            </a:solidFill>
            <a:prstDash val="solid"/>
            <a:round/>
            <a:headEnd type="none" w="sm" len="sm"/>
            <a:tailEnd type="none" w="sm" len="sm"/>
          </a:ln>
        </p:spPr>
      </p:cxnSp>
      <p:cxnSp>
        <p:nvCxnSpPr>
          <p:cNvPr id="76" name="Google Shape;76;p3"/>
          <p:cNvCxnSpPr/>
          <p:nvPr/>
        </p:nvCxnSpPr>
        <p:spPr>
          <a:xfrm>
            <a:off x="7315200" y="2694432"/>
            <a:ext cx="0" cy="755904"/>
          </a:xfrm>
          <a:prstGeom prst="straightConnector1">
            <a:avLst/>
          </a:prstGeom>
          <a:noFill/>
          <a:ln w="12700" cap="flat" cmpd="sng">
            <a:solidFill>
              <a:srgbClr val="E8EEF2"/>
            </a:solidFill>
            <a:prstDash val="solid"/>
            <a:round/>
            <a:headEnd type="none" w="sm" len="sm"/>
            <a:tailEnd type="none" w="sm" len="sm"/>
          </a:ln>
        </p:spPr>
      </p:cxnSp>
      <p:sp>
        <p:nvSpPr>
          <p:cNvPr id="77" name="Google Shape;77;p3"/>
          <p:cNvSpPr/>
          <p:nvPr/>
        </p:nvSpPr>
        <p:spPr>
          <a:xfrm>
            <a:off x="304800" y="2901696"/>
            <a:ext cx="341376" cy="341376"/>
          </a:xfrm>
          <a:prstGeom prst="ellipse">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78" name="Google Shape;78;p3" descr="preencoded.png"/>
          <p:cNvPicPr preferRelativeResize="0"/>
          <p:nvPr/>
        </p:nvPicPr>
        <p:blipFill rotWithShape="1">
          <a:blip r:embed="rId5">
            <a:alphaModFix/>
          </a:blip>
          <a:srcRect/>
          <a:stretch/>
        </p:blipFill>
        <p:spPr>
          <a:xfrm>
            <a:off x="365760" y="2962656"/>
            <a:ext cx="219456" cy="219456"/>
          </a:xfrm>
          <a:prstGeom prst="rect">
            <a:avLst/>
          </a:prstGeom>
          <a:noFill/>
          <a:ln>
            <a:noFill/>
          </a:ln>
        </p:spPr>
      </p:pic>
      <p:sp>
        <p:nvSpPr>
          <p:cNvPr id="79" name="Google Shape;79;p3"/>
          <p:cNvSpPr/>
          <p:nvPr/>
        </p:nvSpPr>
        <p:spPr>
          <a:xfrm>
            <a:off x="743712" y="2694432"/>
            <a:ext cx="1645920" cy="75590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Role of GenAI</a:t>
            </a:r>
            <a:endParaRPr sz="1133" b="0" i="0" u="none" strike="noStrike" cap="none">
              <a:solidFill>
                <a:schemeClr val="dk1"/>
              </a:solidFill>
              <a:latin typeface="Calibri"/>
              <a:ea typeface="Calibri"/>
              <a:cs typeface="Calibri"/>
              <a:sym typeface="Calibri"/>
            </a:endParaRPr>
          </a:p>
        </p:txBody>
      </p:sp>
      <p:sp>
        <p:nvSpPr>
          <p:cNvPr id="80" name="Google Shape;80;p3"/>
          <p:cNvSpPr/>
          <p:nvPr/>
        </p:nvSpPr>
        <p:spPr>
          <a:xfrm>
            <a:off x="2560320" y="2755392"/>
            <a:ext cx="4657344" cy="6339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80"/>
              <a:buFont typeface="Calibri"/>
              <a:buNone/>
            </a:pPr>
            <a:r>
              <a:rPr lang="en-US" sz="1173" b="0" i="0" u="none" strike="noStrike" cap="none">
                <a:solidFill>
                  <a:srgbClr val="1E2A38"/>
                </a:solidFill>
                <a:latin typeface="Calibri"/>
                <a:ea typeface="Calibri"/>
                <a:cs typeface="Calibri"/>
                <a:sym typeface="Calibri"/>
              </a:rPr>
              <a:t>ChatGPT provides feedback ONLY on argument structure and transitions — students decide whether to accept or reject each suggestion.</a:t>
            </a:r>
            <a:endParaRPr sz="1173" b="0" i="0" u="none" strike="noStrike" cap="none">
              <a:solidFill>
                <a:schemeClr val="dk1"/>
              </a:solidFill>
              <a:latin typeface="Calibri"/>
              <a:ea typeface="Calibri"/>
              <a:cs typeface="Calibri"/>
              <a:sym typeface="Calibri"/>
            </a:endParaRPr>
          </a:p>
        </p:txBody>
      </p:sp>
      <p:sp>
        <p:nvSpPr>
          <p:cNvPr id="81" name="Google Shape;81;p3"/>
          <p:cNvSpPr/>
          <p:nvPr/>
        </p:nvSpPr>
        <p:spPr>
          <a:xfrm>
            <a:off x="7437120" y="2755392"/>
            <a:ext cx="4291584" cy="6339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2E6B27"/>
              </a:buClr>
              <a:buSzPts val="850"/>
              <a:buFont typeface="Calibri"/>
              <a:buNone/>
            </a:pPr>
            <a:r>
              <a:rPr lang="en-US" sz="1133" b="0" i="1" u="none" strike="noStrike" cap="none">
                <a:solidFill>
                  <a:srgbClr val="2E6B27"/>
                </a:solidFill>
                <a:latin typeface="Calibri"/>
                <a:ea typeface="Calibri"/>
                <a:cs typeface="Calibri"/>
                <a:sym typeface="Calibri"/>
              </a:rPr>
              <a:t>Good constraint — but 'argument structure' may still encode dominant academic English norms (see Layer 3).</a:t>
            </a:r>
            <a:endParaRPr sz="1133" b="0" i="0" u="none" strike="noStrike" cap="none">
              <a:solidFill>
                <a:schemeClr val="dk1"/>
              </a:solidFill>
              <a:latin typeface="Calibri"/>
              <a:ea typeface="Calibri"/>
              <a:cs typeface="Calibri"/>
              <a:sym typeface="Calibri"/>
            </a:endParaRPr>
          </a:p>
        </p:txBody>
      </p:sp>
      <p:sp>
        <p:nvSpPr>
          <p:cNvPr id="82" name="Google Shape;82;p3"/>
          <p:cNvSpPr/>
          <p:nvPr/>
        </p:nvSpPr>
        <p:spPr>
          <a:xfrm>
            <a:off x="182880" y="3450336"/>
            <a:ext cx="11643360" cy="950976"/>
          </a:xfrm>
          <a:prstGeom prst="rect">
            <a:avLst/>
          </a:prstGeom>
          <a:solidFill>
            <a:srgbClr val="F4F8F8"/>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83" name="Google Shape;83;p3"/>
          <p:cNvCxnSpPr/>
          <p:nvPr/>
        </p:nvCxnSpPr>
        <p:spPr>
          <a:xfrm>
            <a:off x="2438400" y="3450336"/>
            <a:ext cx="0" cy="950976"/>
          </a:xfrm>
          <a:prstGeom prst="straightConnector1">
            <a:avLst/>
          </a:prstGeom>
          <a:noFill/>
          <a:ln w="12700" cap="flat" cmpd="sng">
            <a:solidFill>
              <a:srgbClr val="E8EEF2"/>
            </a:solidFill>
            <a:prstDash val="solid"/>
            <a:round/>
            <a:headEnd type="none" w="sm" len="sm"/>
            <a:tailEnd type="none" w="sm" len="sm"/>
          </a:ln>
        </p:spPr>
      </p:cxnSp>
      <p:cxnSp>
        <p:nvCxnSpPr>
          <p:cNvPr id="84" name="Google Shape;84;p3"/>
          <p:cNvCxnSpPr/>
          <p:nvPr/>
        </p:nvCxnSpPr>
        <p:spPr>
          <a:xfrm>
            <a:off x="7315200" y="3450336"/>
            <a:ext cx="0" cy="950976"/>
          </a:xfrm>
          <a:prstGeom prst="straightConnector1">
            <a:avLst/>
          </a:prstGeom>
          <a:noFill/>
          <a:ln w="12700" cap="flat" cmpd="sng">
            <a:solidFill>
              <a:srgbClr val="E8EEF2"/>
            </a:solidFill>
            <a:prstDash val="solid"/>
            <a:round/>
            <a:headEnd type="none" w="sm" len="sm"/>
            <a:tailEnd type="none" w="sm" len="sm"/>
          </a:ln>
        </p:spPr>
      </p:cxnSp>
      <p:sp>
        <p:nvSpPr>
          <p:cNvPr id="85" name="Google Shape;85;p3"/>
          <p:cNvSpPr/>
          <p:nvPr/>
        </p:nvSpPr>
        <p:spPr>
          <a:xfrm>
            <a:off x="304800" y="3755136"/>
            <a:ext cx="341376" cy="341376"/>
          </a:xfrm>
          <a:prstGeom prst="ellipse">
            <a:avLst/>
          </a:prstGeom>
          <a:solidFill>
            <a:srgbClr val="0D7C7C"/>
          </a:solidFill>
          <a:ln w="12700" cap="flat" cmpd="sng">
            <a:solidFill>
              <a:srgbClr val="0D7C7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86" name="Google Shape;86;p3" descr="preencoded.png"/>
          <p:cNvPicPr preferRelativeResize="0"/>
          <p:nvPr/>
        </p:nvPicPr>
        <p:blipFill rotWithShape="1">
          <a:blip r:embed="rId6">
            <a:alphaModFix/>
          </a:blip>
          <a:srcRect/>
          <a:stretch/>
        </p:blipFill>
        <p:spPr>
          <a:xfrm>
            <a:off x="365760" y="3816096"/>
            <a:ext cx="219456" cy="219456"/>
          </a:xfrm>
          <a:prstGeom prst="rect">
            <a:avLst/>
          </a:prstGeom>
          <a:noFill/>
          <a:ln>
            <a:noFill/>
          </a:ln>
        </p:spPr>
      </p:pic>
      <p:sp>
        <p:nvSpPr>
          <p:cNvPr id="87" name="Google Shape;87;p3"/>
          <p:cNvSpPr/>
          <p:nvPr/>
        </p:nvSpPr>
        <p:spPr>
          <a:xfrm>
            <a:off x="743712" y="3450336"/>
            <a:ext cx="1645920" cy="95097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ML equity safeguard</a:t>
            </a:r>
            <a:endParaRPr sz="1133" b="0" i="0" u="none" strike="noStrike" cap="none">
              <a:solidFill>
                <a:schemeClr val="dk1"/>
              </a:solidFill>
              <a:latin typeface="Calibri"/>
              <a:ea typeface="Calibri"/>
              <a:cs typeface="Calibri"/>
              <a:sym typeface="Calibri"/>
            </a:endParaRPr>
          </a:p>
        </p:txBody>
      </p:sp>
      <p:sp>
        <p:nvSpPr>
          <p:cNvPr id="88" name="Google Shape;88;p3"/>
          <p:cNvSpPr/>
          <p:nvPr/>
        </p:nvSpPr>
        <p:spPr>
          <a:xfrm>
            <a:off x="2560320" y="3511296"/>
            <a:ext cx="4657344" cy="82905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80"/>
              <a:buFont typeface="Calibri"/>
              <a:buNone/>
            </a:pPr>
            <a:r>
              <a:rPr lang="en-US" sz="1173" b="0" i="0" u="none" strike="noStrike" cap="none">
                <a:solidFill>
                  <a:srgbClr val="1E2A38"/>
                </a:solidFill>
                <a:latin typeface="Calibri"/>
                <a:ea typeface="Calibri"/>
                <a:cs typeface="Calibri"/>
                <a:sym typeface="Calibri"/>
              </a:rPr>
              <a:t>Risk addressed: AI reinforcing Standard Academic English norms.</a:t>
            </a:r>
            <a:endParaRPr sz="1173"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A38"/>
              </a:buClr>
              <a:buSzPts val="880"/>
              <a:buFont typeface="Calibri"/>
              <a:buNone/>
            </a:pPr>
            <a:r>
              <a:rPr lang="en-US" sz="1173" b="0" i="0" u="none" strike="noStrike" cap="none">
                <a:solidFill>
                  <a:srgbClr val="1E2A38"/>
                </a:solidFill>
                <a:latin typeface="Calibri"/>
                <a:ea typeface="Calibri"/>
                <a:cs typeface="Calibri"/>
                <a:sym typeface="Calibri"/>
              </a:rPr>
              <a:t>Safeguard: Students annotate one choice they intentionally kept despite AI suggestion, with a one-sentence rationale.</a:t>
            </a:r>
            <a:endParaRPr sz="1173" b="0" i="0" u="none" strike="noStrike" cap="none">
              <a:solidFill>
                <a:schemeClr val="dk1"/>
              </a:solidFill>
              <a:latin typeface="Calibri"/>
              <a:ea typeface="Calibri"/>
              <a:cs typeface="Calibri"/>
              <a:sym typeface="Calibri"/>
            </a:endParaRPr>
          </a:p>
        </p:txBody>
      </p:sp>
      <p:sp>
        <p:nvSpPr>
          <p:cNvPr id="89" name="Google Shape;89;p3"/>
          <p:cNvSpPr/>
          <p:nvPr/>
        </p:nvSpPr>
        <p:spPr>
          <a:xfrm>
            <a:off x="7437120" y="3511296"/>
            <a:ext cx="4291584" cy="82905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2E6B27"/>
              </a:buClr>
              <a:buSzPts val="850"/>
              <a:buFont typeface="Calibri"/>
              <a:buNone/>
            </a:pPr>
            <a:r>
              <a:rPr lang="en-US" sz="1133" b="0" i="1" u="none" strike="noStrike" cap="none">
                <a:solidFill>
                  <a:srgbClr val="2E6B27"/>
                </a:solidFill>
                <a:latin typeface="Calibri"/>
                <a:ea typeface="Calibri"/>
                <a:cs typeface="Calibri"/>
                <a:sym typeface="Calibri"/>
              </a:rPr>
              <a:t>Strong — directly addresses Layer 3. Consider: does the annotation task add cognitive load for lower-proficiency writers?</a:t>
            </a:r>
            <a:endParaRPr sz="1133" b="0" i="0" u="none" strike="noStrike" cap="none">
              <a:solidFill>
                <a:schemeClr val="dk1"/>
              </a:solidFill>
              <a:latin typeface="Calibri"/>
              <a:ea typeface="Calibri"/>
              <a:cs typeface="Calibri"/>
              <a:sym typeface="Calibri"/>
            </a:endParaRPr>
          </a:p>
        </p:txBody>
      </p:sp>
      <p:sp>
        <p:nvSpPr>
          <p:cNvPr id="90" name="Google Shape;90;p3"/>
          <p:cNvSpPr/>
          <p:nvPr/>
        </p:nvSpPr>
        <p:spPr>
          <a:xfrm>
            <a:off x="182880" y="4401312"/>
            <a:ext cx="11643360" cy="755904"/>
          </a:xfrm>
          <a:prstGeom prst="rect">
            <a:avLst/>
          </a:prstGeom>
          <a:solidFill>
            <a:srgbClr val="FFFFFF"/>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91" name="Google Shape;91;p3"/>
          <p:cNvCxnSpPr/>
          <p:nvPr/>
        </p:nvCxnSpPr>
        <p:spPr>
          <a:xfrm>
            <a:off x="2438400" y="4401312"/>
            <a:ext cx="0" cy="755904"/>
          </a:xfrm>
          <a:prstGeom prst="straightConnector1">
            <a:avLst/>
          </a:prstGeom>
          <a:noFill/>
          <a:ln w="12700" cap="flat" cmpd="sng">
            <a:solidFill>
              <a:srgbClr val="E8EEF2"/>
            </a:solidFill>
            <a:prstDash val="solid"/>
            <a:round/>
            <a:headEnd type="none" w="sm" len="sm"/>
            <a:tailEnd type="none" w="sm" len="sm"/>
          </a:ln>
        </p:spPr>
      </p:cxnSp>
      <p:cxnSp>
        <p:nvCxnSpPr>
          <p:cNvPr id="92" name="Google Shape;92;p3"/>
          <p:cNvCxnSpPr/>
          <p:nvPr/>
        </p:nvCxnSpPr>
        <p:spPr>
          <a:xfrm>
            <a:off x="7315200" y="4401312"/>
            <a:ext cx="0" cy="755904"/>
          </a:xfrm>
          <a:prstGeom prst="straightConnector1">
            <a:avLst/>
          </a:prstGeom>
          <a:noFill/>
          <a:ln w="12700" cap="flat" cmpd="sng">
            <a:solidFill>
              <a:srgbClr val="E8EEF2"/>
            </a:solidFill>
            <a:prstDash val="solid"/>
            <a:round/>
            <a:headEnd type="none" w="sm" len="sm"/>
            <a:tailEnd type="none" w="sm" len="sm"/>
          </a:ln>
        </p:spPr>
      </p:cxnSp>
      <p:sp>
        <p:nvSpPr>
          <p:cNvPr id="93" name="Google Shape;93;p3"/>
          <p:cNvSpPr/>
          <p:nvPr/>
        </p:nvSpPr>
        <p:spPr>
          <a:xfrm>
            <a:off x="304800" y="4608576"/>
            <a:ext cx="341376" cy="341376"/>
          </a:xfrm>
          <a:prstGeom prst="ellipse">
            <a:avLst/>
          </a:prstGeom>
          <a:solidFill>
            <a:srgbClr val="1A3A5C"/>
          </a:solidFill>
          <a:ln w="12700" cap="flat" cmpd="sng">
            <a:solidFill>
              <a:srgbClr val="1A3A5C"/>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94" name="Google Shape;94;p3" descr="preencoded.png"/>
          <p:cNvPicPr preferRelativeResize="0"/>
          <p:nvPr/>
        </p:nvPicPr>
        <p:blipFill rotWithShape="1">
          <a:blip r:embed="rId7">
            <a:alphaModFix/>
          </a:blip>
          <a:srcRect/>
          <a:stretch/>
        </p:blipFill>
        <p:spPr>
          <a:xfrm>
            <a:off x="365760" y="4669536"/>
            <a:ext cx="219456" cy="219456"/>
          </a:xfrm>
          <a:prstGeom prst="rect">
            <a:avLst/>
          </a:prstGeom>
          <a:noFill/>
          <a:ln>
            <a:noFill/>
          </a:ln>
        </p:spPr>
      </p:pic>
      <p:sp>
        <p:nvSpPr>
          <p:cNvPr id="95" name="Google Shape;95;p3"/>
          <p:cNvSpPr/>
          <p:nvPr/>
        </p:nvSpPr>
        <p:spPr>
          <a:xfrm>
            <a:off x="743712" y="4401312"/>
            <a:ext cx="1645920" cy="75590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Human-centered checkpoint</a:t>
            </a:r>
            <a:endParaRPr sz="1133" b="0" i="0" u="none" strike="noStrike" cap="none">
              <a:solidFill>
                <a:schemeClr val="dk1"/>
              </a:solidFill>
              <a:latin typeface="Calibri"/>
              <a:ea typeface="Calibri"/>
              <a:cs typeface="Calibri"/>
              <a:sym typeface="Calibri"/>
            </a:endParaRPr>
          </a:p>
        </p:txBody>
      </p:sp>
      <p:sp>
        <p:nvSpPr>
          <p:cNvPr id="96" name="Google Shape;96;p3"/>
          <p:cNvSpPr/>
          <p:nvPr/>
        </p:nvSpPr>
        <p:spPr>
          <a:xfrm>
            <a:off x="2560320" y="4462272"/>
            <a:ext cx="4657344" cy="6339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80"/>
              <a:buFont typeface="Calibri"/>
              <a:buNone/>
            </a:pPr>
            <a:r>
              <a:rPr lang="en-US" sz="1173" b="0" i="0" u="none" strike="noStrike" cap="none">
                <a:solidFill>
                  <a:srgbClr val="1E2A38"/>
                </a:solidFill>
                <a:latin typeface="Calibri"/>
                <a:ea typeface="Calibri"/>
                <a:cs typeface="Calibri"/>
                <a:sym typeface="Calibri"/>
              </a:rPr>
              <a:t>Pairs share their annotation with a classmate and discuss: 'What did you keep? Why?' (5-min peer exchange before final submission.)</a:t>
            </a:r>
            <a:endParaRPr sz="1173" b="0" i="0" u="none" strike="noStrike" cap="none">
              <a:solidFill>
                <a:schemeClr val="dk1"/>
              </a:solidFill>
              <a:latin typeface="Calibri"/>
              <a:ea typeface="Calibri"/>
              <a:cs typeface="Calibri"/>
              <a:sym typeface="Calibri"/>
            </a:endParaRPr>
          </a:p>
        </p:txBody>
      </p:sp>
      <p:sp>
        <p:nvSpPr>
          <p:cNvPr id="97" name="Google Shape;97;p3"/>
          <p:cNvSpPr/>
          <p:nvPr/>
        </p:nvSpPr>
        <p:spPr>
          <a:xfrm>
            <a:off x="7437120" y="4462272"/>
            <a:ext cx="4291584" cy="63398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2E6B27"/>
              </a:buClr>
              <a:buSzPts val="850"/>
              <a:buFont typeface="Calibri"/>
              <a:buNone/>
            </a:pPr>
            <a:r>
              <a:rPr lang="en-US" sz="1133" b="0" i="1" u="none" strike="noStrike" cap="none">
                <a:solidFill>
                  <a:srgbClr val="2E6B27"/>
                </a:solidFill>
                <a:latin typeface="Calibri"/>
                <a:ea typeface="Calibri"/>
                <a:cs typeface="Calibri"/>
                <a:sym typeface="Calibri"/>
              </a:rPr>
              <a:t>Peer interaction checkpoint is well-grounded — activates Layer 2 (metalinguistic awareness).</a:t>
            </a:r>
            <a:endParaRPr sz="1133" b="0" i="0" u="none" strike="noStrike" cap="none">
              <a:solidFill>
                <a:schemeClr val="dk1"/>
              </a:solidFill>
              <a:latin typeface="Calibri"/>
              <a:ea typeface="Calibri"/>
              <a:cs typeface="Calibri"/>
              <a:sym typeface="Calibri"/>
            </a:endParaRPr>
          </a:p>
        </p:txBody>
      </p:sp>
      <p:sp>
        <p:nvSpPr>
          <p:cNvPr id="98" name="Google Shape;98;p3"/>
          <p:cNvSpPr/>
          <p:nvPr/>
        </p:nvSpPr>
        <p:spPr>
          <a:xfrm>
            <a:off x="182880" y="5157216"/>
            <a:ext cx="11643360" cy="609600"/>
          </a:xfrm>
          <a:prstGeom prst="rect">
            <a:avLst/>
          </a:prstGeom>
          <a:solidFill>
            <a:srgbClr val="FFF8EC"/>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99" name="Google Shape;99;p3"/>
          <p:cNvCxnSpPr/>
          <p:nvPr/>
        </p:nvCxnSpPr>
        <p:spPr>
          <a:xfrm>
            <a:off x="2438400" y="5157216"/>
            <a:ext cx="0" cy="609600"/>
          </a:xfrm>
          <a:prstGeom prst="straightConnector1">
            <a:avLst/>
          </a:prstGeom>
          <a:noFill/>
          <a:ln w="12700" cap="flat" cmpd="sng">
            <a:solidFill>
              <a:srgbClr val="E8EEF2"/>
            </a:solidFill>
            <a:prstDash val="solid"/>
            <a:round/>
            <a:headEnd type="none" w="sm" len="sm"/>
            <a:tailEnd type="none" w="sm" len="sm"/>
          </a:ln>
        </p:spPr>
      </p:cxnSp>
      <p:cxnSp>
        <p:nvCxnSpPr>
          <p:cNvPr id="100" name="Google Shape;100;p3"/>
          <p:cNvCxnSpPr/>
          <p:nvPr/>
        </p:nvCxnSpPr>
        <p:spPr>
          <a:xfrm>
            <a:off x="7315200" y="5157216"/>
            <a:ext cx="0" cy="609600"/>
          </a:xfrm>
          <a:prstGeom prst="straightConnector1">
            <a:avLst/>
          </a:prstGeom>
          <a:noFill/>
          <a:ln w="12700" cap="flat" cmpd="sng">
            <a:solidFill>
              <a:srgbClr val="E8EEF2"/>
            </a:solidFill>
            <a:prstDash val="solid"/>
            <a:round/>
            <a:headEnd type="none" w="sm" len="sm"/>
            <a:tailEnd type="none" w="sm" len="sm"/>
          </a:ln>
        </p:spPr>
      </p:cxnSp>
      <p:sp>
        <p:nvSpPr>
          <p:cNvPr id="101" name="Google Shape;101;p3"/>
          <p:cNvSpPr/>
          <p:nvPr/>
        </p:nvSpPr>
        <p:spPr>
          <a:xfrm>
            <a:off x="304800" y="5291328"/>
            <a:ext cx="341376" cy="341376"/>
          </a:xfrm>
          <a:prstGeom prst="ellipse">
            <a:avLst/>
          </a:prstGeom>
          <a:solidFill>
            <a:srgbClr val="D4820A"/>
          </a:solidFill>
          <a:ln w="12700" cap="flat" cmpd="sng">
            <a:solidFill>
              <a:srgbClr val="D4820A"/>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102" name="Google Shape;102;p3" descr="preencoded.png"/>
          <p:cNvPicPr preferRelativeResize="0"/>
          <p:nvPr/>
        </p:nvPicPr>
        <p:blipFill rotWithShape="1">
          <a:blip r:embed="rId4">
            <a:alphaModFix/>
          </a:blip>
          <a:srcRect/>
          <a:stretch/>
        </p:blipFill>
        <p:spPr>
          <a:xfrm>
            <a:off x="365760" y="5352288"/>
            <a:ext cx="219456" cy="219456"/>
          </a:xfrm>
          <a:prstGeom prst="rect">
            <a:avLst/>
          </a:prstGeom>
          <a:noFill/>
          <a:ln>
            <a:noFill/>
          </a:ln>
        </p:spPr>
      </p:pic>
      <p:sp>
        <p:nvSpPr>
          <p:cNvPr id="103" name="Google Shape;103;p3"/>
          <p:cNvSpPr/>
          <p:nvPr/>
        </p:nvSpPr>
        <p:spPr>
          <a:xfrm>
            <a:off x="743712" y="5157216"/>
            <a:ext cx="1645920" cy="6096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 Your key design principle</a:t>
            </a:r>
            <a:endParaRPr sz="1133" b="0" i="0" u="none" strike="noStrike" cap="none">
              <a:solidFill>
                <a:schemeClr val="dk1"/>
              </a:solidFill>
              <a:latin typeface="Calibri"/>
              <a:ea typeface="Calibri"/>
              <a:cs typeface="Calibri"/>
              <a:sym typeface="Calibri"/>
            </a:endParaRPr>
          </a:p>
        </p:txBody>
      </p:sp>
      <p:sp>
        <p:nvSpPr>
          <p:cNvPr id="104" name="Google Shape;104;p3"/>
          <p:cNvSpPr/>
          <p:nvPr/>
        </p:nvSpPr>
        <p:spPr>
          <a:xfrm>
            <a:off x="2560320" y="5218176"/>
            <a:ext cx="4657344" cy="4876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7B4F00"/>
              </a:buClr>
              <a:buSzPts val="880"/>
              <a:buFont typeface="Calibri"/>
              <a:buNone/>
            </a:pPr>
            <a:r>
              <a:rPr lang="en-US" sz="1173" b="1" i="0" u="none" strike="noStrike" cap="none">
                <a:solidFill>
                  <a:srgbClr val="7B4F00"/>
                </a:solidFill>
                <a:latin typeface="Calibri"/>
                <a:ea typeface="Calibri"/>
                <a:cs typeface="Calibri"/>
                <a:sym typeface="Calibri"/>
              </a:rPr>
              <a:t>"GenAI should expand a multilingual writer's choices — not replace their voice."</a:t>
            </a:r>
            <a:endParaRPr sz="1173" b="0" i="0" u="none" strike="noStrike" cap="none">
              <a:solidFill>
                <a:schemeClr val="dk1"/>
              </a:solidFill>
              <a:latin typeface="Calibri"/>
              <a:ea typeface="Calibri"/>
              <a:cs typeface="Calibri"/>
              <a:sym typeface="Calibri"/>
            </a:endParaRPr>
          </a:p>
        </p:txBody>
      </p:sp>
      <p:sp>
        <p:nvSpPr>
          <p:cNvPr id="105" name="Google Shape;105;p3"/>
          <p:cNvSpPr/>
          <p:nvPr/>
        </p:nvSpPr>
        <p:spPr>
          <a:xfrm>
            <a:off x="182880" y="5766816"/>
            <a:ext cx="11643360" cy="682752"/>
          </a:xfrm>
          <a:prstGeom prst="rect">
            <a:avLst/>
          </a:prstGeom>
          <a:solidFill>
            <a:srgbClr val="FFF2F2"/>
          </a:solidFill>
          <a:ln w="12700" cap="flat" cmpd="sng">
            <a:solidFill>
              <a:srgbClr val="E8EEF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106" name="Google Shape;106;p3"/>
          <p:cNvCxnSpPr/>
          <p:nvPr/>
        </p:nvCxnSpPr>
        <p:spPr>
          <a:xfrm>
            <a:off x="2438400" y="5766816"/>
            <a:ext cx="0" cy="682752"/>
          </a:xfrm>
          <a:prstGeom prst="straightConnector1">
            <a:avLst/>
          </a:prstGeom>
          <a:noFill/>
          <a:ln w="12700" cap="flat" cmpd="sng">
            <a:solidFill>
              <a:srgbClr val="E8EEF2"/>
            </a:solidFill>
            <a:prstDash val="solid"/>
            <a:round/>
            <a:headEnd type="none" w="sm" len="sm"/>
            <a:tailEnd type="none" w="sm" len="sm"/>
          </a:ln>
        </p:spPr>
      </p:cxnSp>
      <p:cxnSp>
        <p:nvCxnSpPr>
          <p:cNvPr id="107" name="Google Shape;107;p3"/>
          <p:cNvCxnSpPr/>
          <p:nvPr/>
        </p:nvCxnSpPr>
        <p:spPr>
          <a:xfrm>
            <a:off x="7315200" y="5766816"/>
            <a:ext cx="0" cy="682752"/>
          </a:xfrm>
          <a:prstGeom prst="straightConnector1">
            <a:avLst/>
          </a:prstGeom>
          <a:noFill/>
          <a:ln w="12700" cap="flat" cmpd="sng">
            <a:solidFill>
              <a:srgbClr val="E8EEF2"/>
            </a:solidFill>
            <a:prstDash val="solid"/>
            <a:round/>
            <a:headEnd type="none" w="sm" len="sm"/>
            <a:tailEnd type="none" w="sm" len="sm"/>
          </a:ln>
        </p:spPr>
      </p:cxnSp>
      <p:sp>
        <p:nvSpPr>
          <p:cNvPr id="108" name="Google Shape;108;p3"/>
          <p:cNvSpPr/>
          <p:nvPr/>
        </p:nvSpPr>
        <p:spPr>
          <a:xfrm>
            <a:off x="304800" y="5937504"/>
            <a:ext cx="341376" cy="341376"/>
          </a:xfrm>
          <a:prstGeom prst="ellipse">
            <a:avLst/>
          </a:prstGeom>
          <a:solidFill>
            <a:srgbClr val="B85000"/>
          </a:solidFill>
          <a:ln w="12700" cap="flat" cmpd="sng">
            <a:solidFill>
              <a:srgbClr val="B85000"/>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pic>
        <p:nvPicPr>
          <p:cNvPr id="109" name="Google Shape;109;p3" descr="preencoded.png"/>
          <p:cNvPicPr preferRelativeResize="0"/>
          <p:nvPr/>
        </p:nvPicPr>
        <p:blipFill rotWithShape="1">
          <a:blip r:embed="rId8">
            <a:alphaModFix/>
          </a:blip>
          <a:srcRect/>
          <a:stretch/>
        </p:blipFill>
        <p:spPr>
          <a:xfrm>
            <a:off x="365760" y="5998464"/>
            <a:ext cx="219456" cy="219456"/>
          </a:xfrm>
          <a:prstGeom prst="rect">
            <a:avLst/>
          </a:prstGeom>
          <a:noFill/>
          <a:ln>
            <a:noFill/>
          </a:ln>
        </p:spPr>
      </p:pic>
      <p:sp>
        <p:nvSpPr>
          <p:cNvPr id="110" name="Google Shape;110;p3"/>
          <p:cNvSpPr/>
          <p:nvPr/>
        </p:nvSpPr>
        <p:spPr>
          <a:xfrm>
            <a:off x="743712" y="5766816"/>
            <a:ext cx="1645920" cy="68275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1E2A38"/>
              </a:buClr>
              <a:buSzPts val="850"/>
              <a:buFont typeface="Calibri"/>
              <a:buNone/>
            </a:pPr>
            <a:r>
              <a:rPr lang="en-US" sz="1133" b="1" i="0" u="none" strike="noStrike" cap="none">
                <a:solidFill>
                  <a:srgbClr val="1E2A38"/>
                </a:solidFill>
                <a:latin typeface="Calibri"/>
                <a:ea typeface="Calibri"/>
                <a:cs typeface="Calibri"/>
                <a:sym typeface="Calibri"/>
              </a:rPr>
              <a:t>⚠ Your biggest concern</a:t>
            </a:r>
            <a:endParaRPr sz="1133" b="0" i="0" u="none" strike="noStrike" cap="none">
              <a:solidFill>
                <a:schemeClr val="dk1"/>
              </a:solidFill>
              <a:latin typeface="Calibri"/>
              <a:ea typeface="Calibri"/>
              <a:cs typeface="Calibri"/>
              <a:sym typeface="Calibri"/>
            </a:endParaRPr>
          </a:p>
        </p:txBody>
      </p:sp>
      <p:sp>
        <p:nvSpPr>
          <p:cNvPr id="111" name="Google Shape;111;p3"/>
          <p:cNvSpPr/>
          <p:nvPr/>
        </p:nvSpPr>
        <p:spPr>
          <a:xfrm>
            <a:off x="2560320" y="5827776"/>
            <a:ext cx="4657344" cy="56083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Clr>
                <a:srgbClr val="8B2020"/>
              </a:buClr>
              <a:buSzPts val="880"/>
              <a:buFont typeface="Calibri"/>
              <a:buNone/>
            </a:pPr>
            <a:r>
              <a:rPr lang="en-US" sz="1173" b="0" i="0" u="none" strike="noStrike" cap="none">
                <a:solidFill>
                  <a:srgbClr val="8B2020"/>
                </a:solidFill>
                <a:latin typeface="Calibri"/>
                <a:ea typeface="Calibri"/>
                <a:cs typeface="Calibri"/>
                <a:sym typeface="Calibri"/>
              </a:rPr>
              <a:t>"Students with lower proficiency may defer to all AI suggestions rather than exercising critical judgment — the annotation task may not be enough."</a:t>
            </a:r>
            <a:endParaRPr sz="1173" b="0" i="0" u="none" strike="noStrike" cap="none">
              <a:solidFill>
                <a:schemeClr val="dk1"/>
              </a:solidFill>
              <a:latin typeface="Calibri"/>
              <a:ea typeface="Calibri"/>
              <a:cs typeface="Calibri"/>
              <a:sym typeface="Calibri"/>
            </a:endParaRPr>
          </a:p>
        </p:txBody>
      </p:sp>
      <p:sp>
        <p:nvSpPr>
          <p:cNvPr id="112" name="Google Shape;112;p3"/>
          <p:cNvSpPr/>
          <p:nvPr/>
        </p:nvSpPr>
        <p:spPr>
          <a:xfrm>
            <a:off x="182880" y="6522720"/>
            <a:ext cx="11643360" cy="304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rgbClr val="6B7C93"/>
              </a:buClr>
              <a:buSzPts val="850"/>
              <a:buFont typeface="Calibri"/>
            </a:pPr>
            <a:r>
              <a:rPr lang="en-US" sz="1100" b="0" i="1" u="none" strike="noStrike" cap="none" dirty="0">
                <a:solidFill>
                  <a:srgbClr val="6B7C93"/>
                </a:solidFill>
                <a:latin typeface="Calibri"/>
                <a:ea typeface="Calibri"/>
                <a:cs typeface="Calibri"/>
                <a:sym typeface="Calibri"/>
              </a:rPr>
              <a:t>The ★ and ⚠ </a:t>
            </a:r>
            <a:r>
              <a:rPr lang="en-US" sz="1100" i="1" dirty="0" err="1">
                <a:solidFill>
                  <a:srgbClr val="6B7C93"/>
                </a:solidFill>
                <a:latin typeface="Calibri"/>
                <a:ea typeface="Calibri"/>
                <a:cs typeface="Calibri"/>
                <a:sym typeface="Calibri"/>
              </a:rPr>
              <a:t>drows</a:t>
            </a:r>
            <a:r>
              <a:rPr lang="en-US" sz="1100" i="1" dirty="0">
                <a:solidFill>
                  <a:srgbClr val="6B7C93"/>
                </a:solidFill>
                <a:latin typeface="Calibri"/>
                <a:ea typeface="Calibri"/>
                <a:cs typeface="Calibri"/>
                <a:sym typeface="Calibri"/>
              </a:rPr>
              <a:t> are</a:t>
            </a:r>
            <a:r>
              <a:rPr lang="en-US" sz="1100" b="0" i="1" u="none" strike="noStrike" cap="none" dirty="0">
                <a:solidFill>
                  <a:srgbClr val="6B7C93"/>
                </a:solidFill>
                <a:latin typeface="Calibri"/>
                <a:ea typeface="Calibri"/>
                <a:cs typeface="Calibri"/>
                <a:sym typeface="Calibri"/>
              </a:rPr>
              <a:t> the most important — write these as clear, arguable statements.</a:t>
            </a:r>
            <a:endParaRPr lang="en-US" sz="1133" b="0" i="0" u="none" strike="noStrike" cap="none" dirty="0">
              <a:solidFill>
                <a:schemeClr val="dk1"/>
              </a:solidFill>
              <a:latin typeface="Calibri"/>
              <a:ea typeface="Calibri"/>
              <a:cs typeface="Calibri"/>
            </a:endParaRPr>
          </a:p>
        </p:txBody>
      </p:sp>
    </p:spTree>
    <p:extLst>
      <p:ext uri="{BB962C8B-B14F-4D97-AF65-F5344CB8AC3E}">
        <p14:creationId xmlns:p14="http://schemas.microsoft.com/office/powerpoint/2010/main" val="2891671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F9DD9-06FC-5131-B154-CD280A261553}"/>
              </a:ext>
            </a:extLst>
          </p:cNvPr>
          <p:cNvSpPr>
            <a:spLocks noGrp="1"/>
          </p:cNvSpPr>
          <p:nvPr>
            <p:ph type="title"/>
          </p:nvPr>
        </p:nvSpPr>
        <p:spPr/>
        <p:txBody>
          <a:bodyPr/>
          <a:lstStyle/>
          <a:p>
            <a:r>
              <a:rPr lang="en-US" sz="2400">
                <a:latin typeface="Calibri"/>
                <a:ea typeface="Calibri"/>
                <a:cs typeface="Calibri"/>
              </a:rPr>
              <a:t>Wrap-up – What should We Be Cautious About &amp; Looking Forward</a:t>
            </a:r>
            <a:endParaRPr lang="en-US" dirty="0"/>
          </a:p>
        </p:txBody>
      </p:sp>
      <p:sp>
        <p:nvSpPr>
          <p:cNvPr id="3" name="Text Placeholder 2">
            <a:extLst>
              <a:ext uri="{FF2B5EF4-FFF2-40B4-BE49-F238E27FC236}">
                <a16:creationId xmlns:a16="http://schemas.microsoft.com/office/drawing/2014/main" id="{B6964AC0-4410-50EB-2EB8-D2D05093D8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561196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0CB5-A69B-AA97-F2DD-4A61BF2C9055}"/>
              </a:ext>
            </a:extLst>
          </p:cNvPr>
          <p:cNvSpPr>
            <a:spLocks noGrp="1"/>
          </p:cNvSpPr>
          <p:nvPr>
            <p:ph type="title"/>
          </p:nvPr>
        </p:nvSpPr>
        <p:spPr/>
        <p:txBody>
          <a:bodyPr/>
          <a:lstStyle/>
          <a:p>
            <a:r>
              <a:rPr lang="en-US" dirty="0"/>
              <a:t>Final Discussion Questions</a:t>
            </a:r>
          </a:p>
        </p:txBody>
      </p:sp>
      <p:sp>
        <p:nvSpPr>
          <p:cNvPr id="3" name="Content Placeholder 2">
            <a:extLst>
              <a:ext uri="{FF2B5EF4-FFF2-40B4-BE49-F238E27FC236}">
                <a16:creationId xmlns:a16="http://schemas.microsoft.com/office/drawing/2014/main" id="{3DD61ED3-B45E-851E-7A08-AAFD612E2CD5}"/>
              </a:ext>
            </a:extLst>
          </p:cNvPr>
          <p:cNvSpPr>
            <a:spLocks noGrp="1"/>
          </p:cNvSpPr>
          <p:nvPr>
            <p:ph idx="1"/>
          </p:nvPr>
        </p:nvSpPr>
        <p:spPr/>
        <p:txBody>
          <a:bodyPr vert="horz" lIns="91440" tIns="45720" rIns="91440" bIns="45720" rtlCol="0" anchor="t">
            <a:normAutofit/>
          </a:bodyPr>
          <a:lstStyle/>
          <a:p>
            <a:pPr marL="457200" indent="-457200">
              <a:lnSpc>
                <a:spcPct val="150000"/>
              </a:lnSpc>
            </a:pPr>
            <a:r>
              <a:rPr lang="en-US" sz="1900" dirty="0">
                <a:solidFill>
                  <a:schemeClr val="tx1"/>
                </a:solidFill>
                <a:highlight>
                  <a:srgbClr val="FFFFFF"/>
                </a:highlight>
                <a:latin typeface="Aptos"/>
                <a:ea typeface="Calibri"/>
                <a:cs typeface="Calibri"/>
              </a:rPr>
              <a:t>Where is the research strongest, and where is it still speculative?</a:t>
            </a:r>
          </a:p>
          <a:p>
            <a:pPr marL="457200" indent="-457200">
              <a:lnSpc>
                <a:spcPct val="150000"/>
              </a:lnSpc>
            </a:pPr>
            <a:r>
              <a:rPr lang="en-US" sz="1900" dirty="0">
                <a:solidFill>
                  <a:schemeClr val="tx1"/>
                </a:solidFill>
                <a:highlight>
                  <a:srgbClr val="FFFFFF"/>
                </a:highlight>
                <a:latin typeface="Aptos"/>
                <a:ea typeface="Calibri"/>
                <a:cs typeface="Calibri"/>
              </a:rPr>
              <a:t>If you were writing policy tomorrow, what claims could you responsibly make?</a:t>
            </a:r>
          </a:p>
          <a:p>
            <a:pPr marL="457200" indent="-457200">
              <a:lnSpc>
                <a:spcPct val="150000"/>
              </a:lnSpc>
            </a:pPr>
            <a:r>
              <a:rPr lang="en-US" sz="1900" dirty="0">
                <a:solidFill>
                  <a:schemeClr val="tx1"/>
                </a:solidFill>
                <a:highlight>
                  <a:srgbClr val="FFFFFF"/>
                </a:highlight>
                <a:latin typeface="Aptos"/>
                <a:ea typeface="Calibri"/>
                <a:cs typeface="Calibri"/>
              </a:rPr>
              <a:t>What assumptions about language, intelligence, or “good writing” does GenAI reinforce?</a:t>
            </a:r>
          </a:p>
          <a:p>
            <a:pPr marL="457200" indent="-457200">
              <a:lnSpc>
                <a:spcPct val="150000"/>
              </a:lnSpc>
            </a:pPr>
            <a:r>
              <a:rPr lang="en-US" sz="1900" dirty="0">
                <a:solidFill>
                  <a:schemeClr val="tx1"/>
                </a:solidFill>
                <a:highlight>
                  <a:srgbClr val="FFFFFF"/>
                </a:highlight>
                <a:latin typeface="Aptos"/>
                <a:ea typeface="Calibri"/>
                <a:cs typeface="Calibri"/>
              </a:rPr>
              <a:t>What research questions remain most urgent for multilingual literacy?</a:t>
            </a:r>
            <a:endParaRPr lang="en-US" dirty="0">
              <a:solidFill>
                <a:schemeClr val="tx1"/>
              </a:solidFill>
            </a:endParaRPr>
          </a:p>
        </p:txBody>
      </p:sp>
    </p:spTree>
    <p:extLst>
      <p:ext uri="{BB962C8B-B14F-4D97-AF65-F5344CB8AC3E}">
        <p14:creationId xmlns:p14="http://schemas.microsoft.com/office/powerpoint/2010/main" val="1684925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77AA0-E1DC-4030-95EC-333C5EB1E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45867-2EE6-0891-6FC1-B8BD47639296}"/>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46D16D21-75D5-D5A8-2EB8-FA63D22ABFE7}"/>
              </a:ext>
            </a:extLst>
          </p:cNvPr>
          <p:cNvSpPr>
            <a:spLocks noGrp="1"/>
          </p:cNvSpPr>
          <p:nvPr>
            <p:ph idx="1"/>
          </p:nvPr>
        </p:nvSpPr>
        <p:spPr/>
        <p:txBody>
          <a:bodyPr vert="horz" lIns="91440" tIns="45720" rIns="91440" bIns="45720" rtlCol="0" anchor="t">
            <a:normAutofit/>
          </a:bodyPr>
          <a:lstStyle/>
          <a:p>
            <a:pPr marL="514350" indent="-514350">
              <a:lnSpc>
                <a:spcPct val="150000"/>
              </a:lnSpc>
              <a:buAutoNum type="arabicPeriod"/>
            </a:pPr>
            <a:r>
              <a:rPr lang="en-US" dirty="0">
                <a:solidFill>
                  <a:schemeClr val="tx1"/>
                </a:solidFill>
                <a:highlight>
                  <a:srgbClr val="FFFFFF"/>
                </a:highlight>
                <a:latin typeface="Aptos"/>
                <a:ea typeface="Calibri"/>
                <a:cs typeface="Calibri"/>
              </a:rPr>
              <a:t>Generative AI changes literacy environments, not just tools.</a:t>
            </a:r>
            <a:endParaRPr lang="en-US" dirty="0">
              <a:solidFill>
                <a:schemeClr val="tx1"/>
              </a:solidFill>
              <a:latin typeface="Aptos"/>
              <a:ea typeface="Calibri"/>
              <a:cs typeface="Calibri"/>
            </a:endParaRPr>
          </a:p>
          <a:p>
            <a:pPr marL="514350" indent="-514350">
              <a:lnSpc>
                <a:spcPct val="150000"/>
              </a:lnSpc>
              <a:buAutoNum type="arabicPeriod"/>
            </a:pPr>
            <a:r>
              <a:rPr lang="en-US" dirty="0">
                <a:solidFill>
                  <a:schemeClr val="tx1"/>
                </a:solidFill>
                <a:highlight>
                  <a:srgbClr val="FFFFFF"/>
                </a:highlight>
                <a:latin typeface="Aptos"/>
                <a:ea typeface="Calibri"/>
                <a:cs typeface="Calibri"/>
              </a:rPr>
              <a:t>Short-term textual gains do not equal long-term literacy development.</a:t>
            </a:r>
            <a:endParaRPr lang="en-US" dirty="0">
              <a:solidFill>
                <a:schemeClr val="tx1"/>
              </a:solidFill>
              <a:latin typeface="Aptos"/>
              <a:ea typeface="Calibri"/>
              <a:cs typeface="Calibri"/>
            </a:endParaRPr>
          </a:p>
          <a:p>
            <a:pPr marL="514350" indent="-514350">
              <a:lnSpc>
                <a:spcPct val="150000"/>
              </a:lnSpc>
              <a:buAutoNum type="arabicPeriod"/>
            </a:pPr>
            <a:r>
              <a:rPr lang="en-US" dirty="0">
                <a:solidFill>
                  <a:schemeClr val="tx1"/>
                </a:solidFill>
                <a:highlight>
                  <a:srgbClr val="FFFFFF"/>
                </a:highlight>
                <a:latin typeface="Aptos"/>
                <a:ea typeface="Calibri"/>
                <a:cs typeface="Calibri"/>
              </a:rPr>
              <a:t>Multilingual learners benefit most when AI use is mediated, transparent, and critically examined.</a:t>
            </a:r>
            <a:endParaRPr lang="en-US" dirty="0">
              <a:solidFill>
                <a:schemeClr val="tx1"/>
              </a:solidFill>
              <a:latin typeface="Aptos"/>
            </a:endParaRPr>
          </a:p>
        </p:txBody>
      </p:sp>
    </p:spTree>
    <p:extLst>
      <p:ext uri="{BB962C8B-B14F-4D97-AF65-F5344CB8AC3E}">
        <p14:creationId xmlns:p14="http://schemas.microsoft.com/office/powerpoint/2010/main" val="1365537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TotalTime>
  <Words>1036</Words>
  <Application>Microsoft Office PowerPoint</Application>
  <PresentationFormat>Widescreen</PresentationFormat>
  <Paragraphs>135</Paragraphs>
  <Slides>32</Slides>
  <Notes>28</Notes>
  <HiddenSlides>1</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What the Research Says About ChatGPT and Language Education: Implications for Multilingual Learners</vt:lpstr>
      <vt:lpstr>Speakers</vt:lpstr>
      <vt:lpstr>Session Agenda</vt:lpstr>
      <vt:lpstr>From Using GenAI to Evaluating Its Impact</vt:lpstr>
      <vt:lpstr>Evidence Check</vt:lpstr>
      <vt:lpstr>What the Evidence Tells Us (So Far)</vt:lpstr>
      <vt:lpstr>Today’s Shift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 – What should We Be Cautious About &amp; Looking Forward</vt:lpstr>
      <vt:lpstr>Final Discussion Questions</vt:lpstr>
      <vt:lpstr>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Victoria L Lowell</dc:creator>
  <cp:lastModifiedBy>anon</cp:lastModifiedBy>
  <cp:revision>155</cp:revision>
  <dcterms:created xsi:type="dcterms:W3CDTF">2026-02-24T20:13:56Z</dcterms:created>
  <dcterms:modified xsi:type="dcterms:W3CDTF">2026-02-25T17:53:11Z</dcterms:modified>
</cp:coreProperties>
</file>